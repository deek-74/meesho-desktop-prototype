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7" r:id="rId12"/>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29" y="-3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5B0F4E"/>
                </a:solidFill>
                <a:latin typeface="Arial"/>
              </a:defRPr>
            </a:pPr>
            <a:r>
              <a:rPr lang="en-US" sz="1300" b="0" i="0" u="none" strike="noStrike">
                <a:solidFill>
                  <a:srgbClr val="5B0F4E"/>
                </a:solidFill>
                <a:latin typeface="Arial"/>
              </a:rPr>
              <a:t>Reach × Impact score (out of 25)</a:t>
            </a:r>
          </a:p>
        </c:rich>
      </c:tx>
      <c:overlay val="0"/>
    </c:title>
    <c:autoTitleDeleted val="0"/>
    <c:plotArea>
      <c:layout/>
      <c:barChart>
        <c:barDir val="bar"/>
        <c:grouping val="stacked"/>
        <c:varyColors val="0"/>
        <c:ser>
          <c:idx val="0"/>
          <c:order val="0"/>
          <c:tx>
            <c:strRef>
              <c:f>Sheet1!$B$1</c:f>
              <c:strCache>
                <c:ptCount val="1"/>
                <c:pt idx="0">
                  <c:v>Core</c:v>
                </c:pt>
              </c:strCache>
            </c:strRef>
          </c:tx>
          <c:spPr>
            <a:solidFill>
              <a:srgbClr val="F29A1F"/>
            </a:solidFill>
            <a:effectLst/>
          </c:spPr>
          <c:invertIfNegative val="0"/>
          <c:dLbls>
            <c:numFmt formatCode="0.0;;" sourceLinked="0"/>
            <c:spPr>
              <a:noFill/>
              <a:ln>
                <a:noFill/>
              </a:ln>
              <a:effectLst/>
            </c:spPr>
            <c:txPr>
              <a:bodyPr/>
              <a:lstStyle/>
              <a:p>
                <a:pPr>
                  <a:defRPr sz="1000" b="1"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P4</c:v>
                </c:pt>
                <c:pt idx="1">
                  <c:v>P1</c:v>
                </c:pt>
                <c:pt idx="2">
                  <c:v>P3</c:v>
                </c:pt>
                <c:pt idx="3">
                  <c:v>P2</c:v>
                </c:pt>
                <c:pt idx="4">
                  <c:v>P5</c:v>
                </c:pt>
                <c:pt idx="5">
                  <c:v>P7</c:v>
                </c:pt>
                <c:pt idx="6">
                  <c:v>P6</c:v>
                </c:pt>
                <c:pt idx="7">
                  <c:v>P10</c:v>
                </c:pt>
                <c:pt idx="8">
                  <c:v>P9</c:v>
                </c:pt>
                <c:pt idx="9">
                  <c:v>P8</c:v>
                </c:pt>
                <c:pt idx="10">
                  <c:v>P11</c:v>
                </c:pt>
              </c:strCache>
            </c:strRef>
          </c:cat>
          <c:val>
            <c:numRef>
              <c:f>Sheet1!$B$2:$B$12</c:f>
              <c:numCache>
                <c:formatCode>General</c:formatCode>
                <c:ptCount val="11"/>
                <c:pt idx="0">
                  <c:v>21</c:v>
                </c:pt>
                <c:pt idx="1">
                  <c:v>19.5</c:v>
                </c:pt>
                <c:pt idx="2">
                  <c:v>18</c:v>
                </c:pt>
                <c:pt idx="3">
                  <c:v>16</c:v>
                </c:pt>
                <c:pt idx="4">
                  <c:v>0</c:v>
                </c:pt>
                <c:pt idx="5">
                  <c:v>0</c:v>
                </c:pt>
                <c:pt idx="6">
                  <c:v>0</c:v>
                </c:pt>
                <c:pt idx="7">
                  <c:v>0</c:v>
                </c:pt>
                <c:pt idx="8">
                  <c:v>0</c:v>
                </c:pt>
                <c:pt idx="9">
                  <c:v>0</c:v>
                </c:pt>
                <c:pt idx="10">
                  <c:v>0</c:v>
                </c:pt>
              </c:numCache>
            </c:numRef>
          </c:val>
          <c:extLst>
            <c:ext xmlns:c16="http://schemas.microsoft.com/office/drawing/2014/chart" uri="{C3380CC4-5D6E-409C-BE32-E72D297353CC}">
              <c16:uniqueId val="{00000000-A327-4C3D-B376-7B887E0A16EA}"/>
            </c:ext>
          </c:extLst>
        </c:ser>
        <c:ser>
          <c:idx val="1"/>
          <c:order val="1"/>
          <c:tx>
            <c:strRef>
              <c:f>Sheet1!$C$1</c:f>
              <c:strCache>
                <c:ptCount val="1"/>
                <c:pt idx="0">
                  <c:v>Additional</c:v>
                </c:pt>
              </c:strCache>
            </c:strRef>
          </c:tx>
          <c:spPr>
            <a:solidFill>
              <a:srgbClr val="8C5A80"/>
            </a:solidFill>
            <a:effectLst/>
          </c:spPr>
          <c:invertIfNegative val="0"/>
          <c:dLbls>
            <c:numFmt formatCode="0.0;;" sourceLinked="0"/>
            <c:spPr>
              <a:noFill/>
              <a:ln>
                <a:noFill/>
              </a:ln>
              <a:effectLst/>
            </c:spPr>
            <c:txPr>
              <a:bodyPr/>
              <a:lstStyle/>
              <a:p>
                <a:pPr>
                  <a:defRPr sz="1000" b="1"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P4</c:v>
                </c:pt>
                <c:pt idx="1">
                  <c:v>P1</c:v>
                </c:pt>
                <c:pt idx="2">
                  <c:v>P3</c:v>
                </c:pt>
                <c:pt idx="3">
                  <c:v>P2</c:v>
                </c:pt>
                <c:pt idx="4">
                  <c:v>P5</c:v>
                </c:pt>
                <c:pt idx="5">
                  <c:v>P7</c:v>
                </c:pt>
                <c:pt idx="6">
                  <c:v>P6</c:v>
                </c:pt>
                <c:pt idx="7">
                  <c:v>P10</c:v>
                </c:pt>
                <c:pt idx="8">
                  <c:v>P9</c:v>
                </c:pt>
                <c:pt idx="9">
                  <c:v>P8</c:v>
                </c:pt>
                <c:pt idx="10">
                  <c:v>P11</c:v>
                </c:pt>
              </c:strCache>
            </c:strRef>
          </c:cat>
          <c:val>
            <c:numRef>
              <c:f>Sheet1!$C$2:$C$12</c:f>
              <c:numCache>
                <c:formatCode>General</c:formatCode>
                <c:ptCount val="11"/>
                <c:pt idx="0">
                  <c:v>0</c:v>
                </c:pt>
                <c:pt idx="1">
                  <c:v>0</c:v>
                </c:pt>
                <c:pt idx="2">
                  <c:v>0</c:v>
                </c:pt>
                <c:pt idx="3">
                  <c:v>0</c:v>
                </c:pt>
                <c:pt idx="4">
                  <c:v>13</c:v>
                </c:pt>
                <c:pt idx="5">
                  <c:v>10.5</c:v>
                </c:pt>
                <c:pt idx="6">
                  <c:v>9</c:v>
                </c:pt>
                <c:pt idx="7">
                  <c:v>8</c:v>
                </c:pt>
                <c:pt idx="8">
                  <c:v>7.5</c:v>
                </c:pt>
                <c:pt idx="9">
                  <c:v>6.7</c:v>
                </c:pt>
                <c:pt idx="10">
                  <c:v>0</c:v>
                </c:pt>
              </c:numCache>
            </c:numRef>
          </c:val>
          <c:extLst>
            <c:ext xmlns:c16="http://schemas.microsoft.com/office/drawing/2014/chart" uri="{C3380CC4-5D6E-409C-BE32-E72D297353CC}">
              <c16:uniqueId val="{00000001-A327-4C3D-B376-7B887E0A16EA}"/>
            </c:ext>
          </c:extLst>
        </c:ser>
        <c:ser>
          <c:idx val="2"/>
          <c:order val="2"/>
          <c:tx>
            <c:strRef>
              <c:f>Sheet1!$D$1</c:f>
              <c:strCache>
                <c:ptCount val="1"/>
                <c:pt idx="0">
                  <c:v>Roadmap</c:v>
                </c:pt>
              </c:strCache>
            </c:strRef>
          </c:tx>
          <c:spPr>
            <a:solidFill>
              <a:srgbClr val="B0B0B0"/>
            </a:solidFill>
            <a:effectLst/>
          </c:spPr>
          <c:invertIfNegative val="0"/>
          <c:dLbls>
            <c:numFmt formatCode="0.0;;" sourceLinked="0"/>
            <c:spPr>
              <a:noFill/>
              <a:ln>
                <a:noFill/>
              </a:ln>
              <a:effectLst/>
            </c:spPr>
            <c:txPr>
              <a:bodyPr/>
              <a:lstStyle/>
              <a:p>
                <a:pPr>
                  <a:defRPr sz="1000" b="1"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P4</c:v>
                </c:pt>
                <c:pt idx="1">
                  <c:v>P1</c:v>
                </c:pt>
                <c:pt idx="2">
                  <c:v>P3</c:v>
                </c:pt>
                <c:pt idx="3">
                  <c:v>P2</c:v>
                </c:pt>
                <c:pt idx="4">
                  <c:v>P5</c:v>
                </c:pt>
                <c:pt idx="5">
                  <c:v>P7</c:v>
                </c:pt>
                <c:pt idx="6">
                  <c:v>P6</c:v>
                </c:pt>
                <c:pt idx="7">
                  <c:v>P10</c:v>
                </c:pt>
                <c:pt idx="8">
                  <c:v>P9</c:v>
                </c:pt>
                <c:pt idx="9">
                  <c:v>P8</c:v>
                </c:pt>
                <c:pt idx="10">
                  <c:v>P11</c:v>
                </c:pt>
              </c:strCache>
            </c:strRef>
          </c:cat>
          <c:val>
            <c:numRef>
              <c:f>Sheet1!$D$2:$D$12</c:f>
              <c:numCache>
                <c:formatCode>General</c:formatCode>
                <c:ptCount val="11"/>
                <c:pt idx="0">
                  <c:v>0</c:v>
                </c:pt>
                <c:pt idx="1">
                  <c:v>0</c:v>
                </c:pt>
                <c:pt idx="2">
                  <c:v>0</c:v>
                </c:pt>
                <c:pt idx="3">
                  <c:v>0</c:v>
                </c:pt>
                <c:pt idx="4">
                  <c:v>0</c:v>
                </c:pt>
                <c:pt idx="5">
                  <c:v>0</c:v>
                </c:pt>
                <c:pt idx="6">
                  <c:v>0</c:v>
                </c:pt>
                <c:pt idx="7">
                  <c:v>0</c:v>
                </c:pt>
                <c:pt idx="8">
                  <c:v>0</c:v>
                </c:pt>
                <c:pt idx="9">
                  <c:v>0</c:v>
                </c:pt>
                <c:pt idx="10">
                  <c:v>6.7</c:v>
                </c:pt>
              </c:numCache>
            </c:numRef>
          </c:val>
          <c:extLst>
            <c:ext xmlns:c16="http://schemas.microsoft.com/office/drawing/2014/chart" uri="{C3380CC4-5D6E-409C-BE32-E72D297353CC}">
              <c16:uniqueId val="{00000002-A327-4C3D-B376-7B887E0A16EA}"/>
            </c:ext>
          </c:extLst>
        </c:ser>
        <c:dLbls>
          <c:dLblPos val="inEnd"/>
          <c:showLegendKey val="0"/>
          <c:showVal val="1"/>
          <c:showCatName val="0"/>
          <c:showSerName val="0"/>
          <c:showPercent val="0"/>
          <c:showBubbleSize val="0"/>
        </c:dLbls>
        <c:gapWidth val="50"/>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B2B2B"/>
                </a:solidFill>
                <a:latin typeface="Arial"/>
              </a:defRPr>
            </a:pPr>
            <a:endParaRPr lang="en-US"/>
          </a:p>
        </c:txPr>
        <c:crossAx val="2094734552"/>
        <c:crosses val="autoZero"/>
        <c:auto val="1"/>
        <c:lblAlgn val="ctr"/>
        <c:lblOffset val="100"/>
        <c:noMultiLvlLbl val="1"/>
      </c:catAx>
      <c:valAx>
        <c:axId val="2094734552"/>
        <c:scaling>
          <c:orientation val="minMax"/>
          <c:max val="25"/>
          <c:min val="0"/>
        </c:scaling>
        <c:delete val="0"/>
        <c:axPos val="t"/>
        <c:majorGridlines>
          <c:spPr>
            <a:ln w="635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6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B0F4E"/>
                </a:solidFill>
                <a:latin typeface="Arial"/>
              </a:defRPr>
            </a:pPr>
            <a:r>
              <a:rPr lang="en-US" sz="1200" b="0" i="0" u="none" strike="noStrike">
                <a:solidFill>
                  <a:srgbClr val="5B0F4E"/>
                </a:solidFill>
                <a:latin typeface="Arial"/>
              </a:rPr>
              <a:t>Floor price (₹) · market price ₹299</a:t>
            </a:r>
          </a:p>
        </c:rich>
      </c:tx>
      <c:overlay val="0"/>
    </c:title>
    <c:autoTitleDeleted val="0"/>
    <c:plotArea>
      <c:layout/>
      <c:barChart>
        <c:barDir val="bar"/>
        <c:grouping val="clustered"/>
        <c:varyColors val="0"/>
        <c:ser>
          <c:idx val="0"/>
          <c:order val="0"/>
          <c:tx>
            <c:strRef>
              <c:f>Sheet1!$B$1</c:f>
              <c:strCache>
                <c:ptCount val="1"/>
                <c:pt idx="0">
                  <c:v>Floor</c:v>
                </c:pt>
              </c:strCache>
            </c:strRef>
          </c:tx>
          <c:spPr>
            <a:solidFill>
              <a:srgbClr val="5B0F4E"/>
            </a:solidFill>
            <a:effectLst/>
          </c:spPr>
          <c:invertIfNegative val="0"/>
          <c:dLbls>
            <c:numFmt formatCode="\₹0" sourceLinked="0"/>
            <c:spPr>
              <a:noFill/>
              <a:ln>
                <a:noFill/>
              </a:ln>
              <a:effectLst/>
            </c:spPr>
            <c:txPr>
              <a:bodyPr/>
              <a:lstStyle/>
              <a:p>
                <a:pPr>
                  <a:defRPr sz="1000" b="0" i="0" u="none" strike="noStrike">
                    <a:solidFill>
                      <a:srgbClr val="2B2B2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Base case</c:v>
                </c:pt>
                <c:pt idx="1">
                  <c:v>Defective-only returns</c:v>
                </c:pt>
                <c:pt idx="2">
                  <c:v>Size chart + real photos</c:v>
                </c:pt>
                <c:pt idx="3">
                  <c:v>Prepaid nudge (+10 pts)</c:v>
                </c:pt>
                <c:pt idx="4">
                  <c:v>Smaller box (−₹15)</c:v>
                </c:pt>
                <c:pt idx="5">
                  <c:v>Cheaper sourcing (−₹15)</c:v>
                </c:pt>
                <c:pt idx="6">
                  <c:v>Photos + prepaid + box</c:v>
                </c:pt>
              </c:strCache>
            </c:strRef>
          </c:cat>
          <c:val>
            <c:numRef>
              <c:f>Sheet1!$B$2:$B$8</c:f>
              <c:numCache>
                <c:formatCode>General</c:formatCode>
                <c:ptCount val="7"/>
                <c:pt idx="0">
                  <c:v>314.13</c:v>
                </c:pt>
                <c:pt idx="1">
                  <c:v>294.73</c:v>
                </c:pt>
                <c:pt idx="2">
                  <c:v>300.77</c:v>
                </c:pt>
                <c:pt idx="3">
                  <c:v>312.06</c:v>
                </c:pt>
                <c:pt idx="4">
                  <c:v>296.43</c:v>
                </c:pt>
                <c:pt idx="5">
                  <c:v>299.13</c:v>
                </c:pt>
                <c:pt idx="6">
                  <c:v>281.55</c:v>
                </c:pt>
              </c:numCache>
            </c:numRef>
          </c:val>
          <c:extLst>
            <c:ext xmlns:c16="http://schemas.microsoft.com/office/drawing/2014/chart" uri="{C3380CC4-5D6E-409C-BE32-E72D297353CC}">
              <c16:uniqueId val="{00000000-3B42-4ABF-8833-C424C122325C}"/>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330"/>
          <c:min val="250"/>
        </c:scaling>
        <c:delete val="0"/>
        <c:axPos val="t"/>
        <c:majorGridlines>
          <c:spPr>
            <a:ln w="635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55555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074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One line: Sahi Daam fixes the four pricing problems that hurt the most new sellers: wrong cost base, returns and RTO not priced in, copying the market, and setting a first price with no history.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asks how a new seller should price. Our research says the problem is a chain: wrong cost base and missing returns give a wrong floor, so sellers copy the market, and with no data nothing corrects them. The kurti example comes from Workbook 03.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personas are real conversations from Round 1. Tallies are small-n and update automatically in Workbook 02 as interviews are added. Launch segment: new-to-online, low pricing literacy sellers in fashion and home categories in Tier-2 supply hubs, served by the Guided tier.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 asked us to focus. Each problem is scored 1-5 on five factors: two for reach (breadth, frequency) and three for impact (loss per order, churn risk, Meesho impact). The top four score 16 or more; the next is 13. Founder's Handbook: about three features are enough to test product-market fit.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 only on the four needs we prioritised, plus lifecycle signals. Yes / Partial / No is based on public seller help pages and our Round 1 review; the rubric and links sit in the appendix. The key message is the empty 'floor from own cost' column.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Floor, ceiling, position stays as in Round 1. Founder's Handbook: the introductory price should be no profit, no loss, which is our floor. The next three slides go deep on each feature.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Wireframe is the desktop prototype. Numbers come from Workbooks 03 and 05. Does it solve P1 and P4: yes, because the seller sees the loss before listing and which lever fixes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band uses sample listings in the prototype; production would use Meesho's comparable-listing data. Numbers from Workbook 04.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Simulation in Workbook 06 uses illustrative demand. Triggers fire in weeks 1, 10 and 21.</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Seller level from Workbook 05, season from Workbook 06, Meesho level from Workbook 07. We deliberately report net benefit on contribution margin, not revenue, because Meesho's revenue carries logistics costs.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Attach the 8 Excel files alongside the deck, or hyperlink each card to a shared-drive copy.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png"/><Relationship Id="rId7" Type="http://schemas.openxmlformats.org/officeDocument/2006/relationships/image" Target="../media/image19.png"/><Relationship Id="rId12" Type="http://schemas.openxmlformats.org/officeDocument/2006/relationships/hyperlink" Target="https://drive.google.com/file/d/17u93X0631TjChCc1Fbg0HvpnWAB2qHkl/view?usp=sharing"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13.png"/><Relationship Id="rId5" Type="http://schemas.openxmlformats.org/officeDocument/2006/relationships/image" Target="../media/image17.png"/><Relationship Id="rId10" Type="http://schemas.openxmlformats.org/officeDocument/2006/relationships/image" Target="../media/image5.png"/><Relationship Id="rId4" Type="http://schemas.openxmlformats.org/officeDocument/2006/relationships/image" Target="../media/image16.png"/><Relationship Id="rId9"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drive.google.com/file/d/17u93X0631TjChCc1Fbg0HvpnWAB2qHkl/view?usp=sharing" TargetMode="External"/><Relationship Id="rId5" Type="http://schemas.openxmlformats.org/officeDocument/2006/relationships/image" Target="../media/image22.png"/><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hyperlink" Target="https://docs.google.com/spreadsheets/d/1vCXuHZ9pfYwaa5ab8PzH_oB2gRsz2IX0TM7K1WcqU6g/edit?usp=sharing" TargetMode="External"/><Relationship Id="rId18" Type="http://schemas.openxmlformats.org/officeDocument/2006/relationships/hyperlink" Target="https://docs.google.com/spreadsheets/d/1vnDKahzTJ7sQt4rlVVDBQ817VYg-Mbrf/edit?gid=1944912160#gid=1944912160" TargetMode="External"/><Relationship Id="rId3" Type="http://schemas.openxmlformats.org/officeDocument/2006/relationships/image" Target="../media/image2.png"/><Relationship Id="rId7" Type="http://schemas.openxmlformats.org/officeDocument/2006/relationships/image" Target="../media/image26.png"/><Relationship Id="rId12" Type="http://schemas.openxmlformats.org/officeDocument/2006/relationships/hyperlink" Target="https://drive.google.com/file/d/17u93X0631TjChCc1Fbg0HvpnWAB2qHkl/view?usp=sharing" TargetMode="External"/><Relationship Id="rId17" Type="http://schemas.openxmlformats.org/officeDocument/2006/relationships/hyperlink" Target="https://docs.google.com/spreadsheets/d/1NuZm-FC8SHlck8NYg3PNjiOqLAx639MO/edit?gid=243576074#gid=243576074" TargetMode="External"/><Relationship Id="rId2" Type="http://schemas.openxmlformats.org/officeDocument/2006/relationships/notesSlide" Target="../notesSlides/notesSlide11.xml"/><Relationship Id="rId16" Type="http://schemas.openxmlformats.org/officeDocument/2006/relationships/hyperlink" Target="https://docs.google.com/spreadsheets/d/1XC9wsjL4hg7h7z7w0TGX-OA-6ihZdf-U/edit?gid=1411002732#gid=1411002732" TargetMode="External"/><Relationship Id="rId20" Type="http://schemas.openxmlformats.org/officeDocument/2006/relationships/hyperlink" Target="https://docs.google.com/spreadsheets/d/1wFQYxnj9jYWxpvwpZlqxjhMKiNlDOaoa/edit?gid=392224250#gid=392224250" TargetMode="Externa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hyperlink" Target="https://drive.google.com/drive/folders/1q_5AnLlgQp4jQGbLFSIlKnrqhbQa5euM?usp=sharing" TargetMode="External"/><Relationship Id="rId5" Type="http://schemas.openxmlformats.org/officeDocument/2006/relationships/image" Target="../media/image24.png"/><Relationship Id="rId15" Type="http://schemas.openxmlformats.org/officeDocument/2006/relationships/hyperlink" Target="https://docs.google.com/spreadsheets/d/1yzvjiHD0EMFswlCxvsZp8SQIGkesGnnP/edit?gid=1058454531#gid=1058454531" TargetMode="External"/><Relationship Id="rId10" Type="http://schemas.openxmlformats.org/officeDocument/2006/relationships/image" Target="../media/image29.png"/><Relationship Id="rId19" Type="http://schemas.openxmlformats.org/officeDocument/2006/relationships/hyperlink" Target="https://docs.google.com/spreadsheets/d/1zsPQL23HhtHZIams7ZHM3naIAT5I-Xnh/edit?gid=1224825618#gid=1224825618" TargetMode="External"/><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hyperlink" Target="https://docs.google.com/spreadsheets/d/1vzxZNOOE486r3gDiPDJrFr5em2Dd_QcVnyPAfdO1sVk/edit?usp=shar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194560" y="6217920"/>
            <a:ext cx="13898880" cy="411480"/>
          </a:xfrm>
          <a:prstGeom prst="rect">
            <a:avLst/>
          </a:prstGeom>
          <a:noFill/>
          <a:ln/>
        </p:spPr>
        <p:txBody>
          <a:bodyPr wrap="square" lIns="762" tIns="762" rIns="762" bIns="762" rtlCol="0" anchor="t"/>
          <a:lstStyle/>
          <a:p>
            <a:pPr marL="0" indent="0" algn="ctr">
              <a:buNone/>
            </a:pPr>
            <a:r>
              <a:rPr lang="en-US" sz="1600" b="1" dirty="0">
                <a:solidFill>
                  <a:srgbClr val="C9660A"/>
                </a:solidFill>
                <a:latin typeface="Arial" pitchFamily="34" charset="0"/>
                <a:ea typeface="Arial" pitchFamily="34" charset="-122"/>
                <a:cs typeface="Arial" pitchFamily="34" charset="-120"/>
              </a:rPr>
              <a:t>B U S I N E S S   T R A C K   ·   P R I C I N G   C A S E</a:t>
            </a:r>
            <a:endParaRPr lang="en-US" sz="1600" dirty="0"/>
          </a:p>
        </p:txBody>
      </p:sp>
      <p:sp>
        <p:nvSpPr>
          <p:cNvPr id="3" name="Text 1"/>
          <p:cNvSpPr txBox="1"/>
          <p:nvPr/>
        </p:nvSpPr>
        <p:spPr>
          <a:xfrm>
            <a:off x="2194560" y="6675120"/>
            <a:ext cx="13898880" cy="777240"/>
          </a:xfrm>
          <a:prstGeom prst="rect">
            <a:avLst/>
          </a:prstGeom>
          <a:noFill/>
          <a:ln/>
        </p:spPr>
        <p:txBody>
          <a:bodyPr wrap="square" lIns="762" tIns="762" rIns="762" bIns="762" rtlCol="0" anchor="ctr"/>
          <a:lstStyle/>
          <a:p>
            <a:pPr marL="0" indent="0" algn="ctr">
              <a:buNone/>
            </a:pPr>
            <a:r>
              <a:rPr lang="en-US" sz="3800" b="1" dirty="0">
                <a:solidFill>
                  <a:srgbClr val="5B0F4E"/>
                </a:solidFill>
                <a:latin typeface="Arial" pitchFamily="34" charset="0"/>
                <a:ea typeface="Arial" pitchFamily="34" charset="-122"/>
                <a:cs typeface="Arial" pitchFamily="34" charset="-120"/>
              </a:rPr>
              <a:t>Sahi Daam: The Right Price, from Day One</a:t>
            </a:r>
            <a:endParaRPr lang="en-US" sz="3800" dirty="0"/>
          </a:p>
        </p:txBody>
      </p:sp>
      <p:sp>
        <p:nvSpPr>
          <p:cNvPr id="4" name="Text 2"/>
          <p:cNvSpPr txBox="1"/>
          <p:nvPr/>
        </p:nvSpPr>
        <p:spPr>
          <a:xfrm>
            <a:off x="4716534" y="7385992"/>
            <a:ext cx="8854932" cy="777240"/>
          </a:xfrm>
          <a:prstGeom prst="rect">
            <a:avLst/>
          </a:prstGeom>
          <a:noFill/>
          <a:ln/>
        </p:spPr>
        <p:txBody>
          <a:bodyPr wrap="square" lIns="762" tIns="762" rIns="762" bIns="762" rtlCol="0" anchor="ctr"/>
          <a:lstStyle/>
          <a:p>
            <a:pPr marL="0" indent="0" algn="ctr">
              <a:buNone/>
            </a:pPr>
            <a:r>
              <a:rPr lang="en-US" sz="2000" dirty="0">
                <a:solidFill>
                  <a:srgbClr val="2B2B2B"/>
                </a:solidFill>
                <a:latin typeface="Arial" pitchFamily="34" charset="0"/>
                <a:ea typeface="Arial" pitchFamily="34" charset="-122"/>
                <a:cs typeface="Arial" pitchFamily="34" charset="-120"/>
              </a:rPr>
              <a:t>A Pricing Co-Pilot that helps new-to-online Meesho sellers find their true floor, price inside the market band, and keep the price right across the product's life</a:t>
            </a:r>
            <a:endParaRPr lang="en-US" sz="2000" dirty="0"/>
          </a:p>
        </p:txBody>
      </p:sp>
      <p:sp>
        <p:nvSpPr>
          <p:cNvPr id="5" name="Shape 3"/>
          <p:cNvSpPr/>
          <p:nvPr/>
        </p:nvSpPr>
        <p:spPr>
          <a:xfrm>
            <a:off x="8412480" y="8412480"/>
            <a:ext cx="1463040" cy="45720"/>
          </a:xfrm>
          <a:prstGeom prst="rect">
            <a:avLst/>
          </a:prstGeom>
          <a:solidFill>
            <a:srgbClr val="F29A1F"/>
          </a:solidFill>
          <a:ln w="12700">
            <a:solidFill>
              <a:srgbClr val="F29A1F"/>
            </a:solidFill>
            <a:prstDash val="solid"/>
          </a:ln>
        </p:spPr>
        <p:txBody>
          <a:bodyPr/>
          <a:lstStyle/>
          <a:p>
            <a:endParaRPr lang="en-IN"/>
          </a:p>
        </p:txBody>
      </p:sp>
      <p:sp>
        <p:nvSpPr>
          <p:cNvPr id="6" name="Text 4"/>
          <p:cNvSpPr txBox="1"/>
          <p:nvPr/>
        </p:nvSpPr>
        <p:spPr>
          <a:xfrm>
            <a:off x="2194560" y="8651404"/>
            <a:ext cx="13898880" cy="457200"/>
          </a:xfrm>
          <a:prstGeom prst="rect">
            <a:avLst/>
          </a:prstGeom>
          <a:noFill/>
          <a:ln/>
        </p:spPr>
        <p:txBody>
          <a:bodyPr wrap="square" lIns="762" tIns="762" rIns="762" bIns="762" rtlCol="0" anchor="t"/>
          <a:lstStyle/>
          <a:p>
            <a:pPr marL="0" indent="0" algn="ctr">
              <a:buNone/>
            </a:pPr>
            <a:r>
              <a:rPr lang="en-US" sz="2000" b="1" dirty="0">
                <a:solidFill>
                  <a:srgbClr val="5B0F4E"/>
                </a:solidFill>
                <a:latin typeface="Arial" pitchFamily="34" charset="0"/>
                <a:ea typeface="Arial" pitchFamily="34" charset="-122"/>
                <a:cs typeface="Arial" pitchFamily="34" charset="-120"/>
              </a:rPr>
              <a:t>Team NoName   |   Deeksha Dey · Himanshi Vaidya · Aashish Gaurabh   |   IIT (ISM) Dhanbad</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480560" y="502920"/>
            <a:ext cx="8778240" cy="868680"/>
          </a:xfrm>
          <a:prstGeom prst="rect">
            <a:avLst/>
          </a:prstGeom>
          <a:noFill/>
          <a:ln/>
        </p:spPr>
        <p:txBody>
          <a:bodyPr wrap="square" lIns="0" tIns="0" rIns="0" bIns="0" rtlCol="0" anchor="ctr"/>
          <a:lstStyle/>
          <a:p>
            <a:pPr marL="0" indent="0">
              <a:buNone/>
            </a:pPr>
            <a:r>
              <a:rPr lang="en-US" sz="4000" b="1" dirty="0">
                <a:solidFill>
                  <a:srgbClr val="5B0F4E"/>
                </a:solidFill>
                <a:latin typeface="Arial" pitchFamily="34" charset="0"/>
                <a:ea typeface="Arial" pitchFamily="34" charset="-122"/>
                <a:cs typeface="Arial" pitchFamily="34" charset="-120"/>
              </a:rPr>
              <a:t>Problem Statement</a:t>
            </a:r>
            <a:endParaRPr lang="en-US" sz="4000" dirty="0"/>
          </a:p>
        </p:txBody>
      </p:sp>
      <p:sp>
        <p:nvSpPr>
          <p:cNvPr id="3" name="Text 1"/>
          <p:cNvSpPr txBox="1"/>
          <p:nvPr/>
        </p:nvSpPr>
        <p:spPr>
          <a:xfrm>
            <a:off x="4480560" y="1371600"/>
            <a:ext cx="8778240" cy="502920"/>
          </a:xfrm>
          <a:prstGeom prst="rect">
            <a:avLst/>
          </a:prstGeom>
          <a:noFill/>
          <a:ln/>
        </p:spPr>
        <p:txBody>
          <a:bodyPr wrap="square" lIns="0" tIns="0" rIns="0" bIns="0" rtlCol="0" anchor="ctr"/>
          <a:lstStyle/>
          <a:p>
            <a:pPr marL="0" indent="0">
              <a:buNone/>
            </a:pPr>
            <a:r>
              <a:rPr lang="en-US" sz="1700" i="1" dirty="0">
                <a:solidFill>
                  <a:srgbClr val="C9660A"/>
                </a:solidFill>
                <a:latin typeface="Arial" pitchFamily="34" charset="0"/>
                <a:ea typeface="Arial" pitchFamily="34" charset="-122"/>
                <a:cs typeface="Arial" pitchFamily="34" charset="-120"/>
              </a:rPr>
              <a:t>New sellers lose money on orders they think are profitable, and keep the wrong price for months</a:t>
            </a:r>
            <a:endParaRPr lang="en-US" sz="1700" dirty="0"/>
          </a:p>
        </p:txBody>
      </p:sp>
      <p:sp>
        <p:nvSpPr>
          <p:cNvPr id="4" name="Shape 2"/>
          <p:cNvSpPr/>
          <p:nvPr/>
        </p:nvSpPr>
        <p:spPr>
          <a:xfrm>
            <a:off x="457200" y="2542032"/>
            <a:ext cx="1700784" cy="420624"/>
          </a:xfrm>
          <a:prstGeom prst="rect">
            <a:avLst/>
          </a:prstGeom>
          <a:solidFill>
            <a:srgbClr val="F29A1F"/>
          </a:solidFill>
          <a:ln w="12700">
            <a:solidFill>
              <a:srgbClr val="F29A1F"/>
            </a:solidFill>
            <a:prstDash val="solid"/>
          </a:ln>
        </p:spPr>
        <p:txBody>
          <a:bodyPr/>
          <a:lstStyle/>
          <a:p>
            <a:endParaRPr lang="en-IN"/>
          </a:p>
        </p:txBody>
      </p:sp>
      <p:sp>
        <p:nvSpPr>
          <p:cNvPr id="5" name="Text 3"/>
          <p:cNvSpPr txBox="1"/>
          <p:nvPr/>
        </p:nvSpPr>
        <p:spPr>
          <a:xfrm>
            <a:off x="45720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PROBLEM</a:t>
            </a:r>
            <a:endParaRPr lang="en-US" sz="1250" dirty="0"/>
          </a:p>
        </p:txBody>
      </p:sp>
      <p:sp>
        <p:nvSpPr>
          <p:cNvPr id="6" name="Shape 4"/>
          <p:cNvSpPr/>
          <p:nvPr/>
        </p:nvSpPr>
        <p:spPr>
          <a:xfrm>
            <a:off x="219456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7" name="Text 5"/>
          <p:cNvSpPr txBox="1"/>
          <p:nvPr/>
        </p:nvSpPr>
        <p:spPr>
          <a:xfrm>
            <a:off x="219456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SEGMENTATION</a:t>
            </a:r>
            <a:endParaRPr lang="en-US" sz="1250" dirty="0"/>
          </a:p>
        </p:txBody>
      </p:sp>
      <p:sp>
        <p:nvSpPr>
          <p:cNvPr id="8" name="Shape 6"/>
          <p:cNvSpPr/>
          <p:nvPr/>
        </p:nvSpPr>
        <p:spPr>
          <a:xfrm>
            <a:off x="393192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9" name="Text 7"/>
          <p:cNvSpPr txBox="1"/>
          <p:nvPr/>
        </p:nvSpPr>
        <p:spPr>
          <a:xfrm>
            <a:off x="393192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PRIORITISATION</a:t>
            </a:r>
            <a:endParaRPr lang="en-US" sz="1250" dirty="0"/>
          </a:p>
        </p:txBody>
      </p:sp>
      <p:sp>
        <p:nvSpPr>
          <p:cNvPr id="10" name="Shape 8"/>
          <p:cNvSpPr/>
          <p:nvPr/>
        </p:nvSpPr>
        <p:spPr>
          <a:xfrm>
            <a:off x="566928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1" name="Text 9"/>
          <p:cNvSpPr txBox="1"/>
          <p:nvPr/>
        </p:nvSpPr>
        <p:spPr>
          <a:xfrm>
            <a:off x="566928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BENCHMARKING</a:t>
            </a:r>
            <a:endParaRPr lang="en-US" sz="1250" dirty="0"/>
          </a:p>
        </p:txBody>
      </p:sp>
      <p:sp>
        <p:nvSpPr>
          <p:cNvPr id="12" name="Shape 10"/>
          <p:cNvSpPr/>
          <p:nvPr/>
        </p:nvSpPr>
        <p:spPr>
          <a:xfrm>
            <a:off x="740664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3" name="Text 11"/>
          <p:cNvSpPr txBox="1"/>
          <p:nvPr/>
        </p:nvSpPr>
        <p:spPr>
          <a:xfrm>
            <a:off x="740664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SOLUTION</a:t>
            </a:r>
            <a:endParaRPr lang="en-US" sz="1250" dirty="0"/>
          </a:p>
        </p:txBody>
      </p:sp>
      <p:sp>
        <p:nvSpPr>
          <p:cNvPr id="14" name="Shape 12"/>
          <p:cNvSpPr/>
          <p:nvPr/>
        </p:nvSpPr>
        <p:spPr>
          <a:xfrm>
            <a:off x="914400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5" name="Text 13"/>
          <p:cNvSpPr txBox="1"/>
          <p:nvPr/>
        </p:nvSpPr>
        <p:spPr>
          <a:xfrm>
            <a:off x="914400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MUNAFA METER</a:t>
            </a:r>
            <a:endParaRPr lang="en-US" sz="1250" dirty="0"/>
          </a:p>
        </p:txBody>
      </p:sp>
      <p:sp>
        <p:nvSpPr>
          <p:cNvPr id="16" name="Shape 14"/>
          <p:cNvSpPr/>
          <p:nvPr/>
        </p:nvSpPr>
        <p:spPr>
          <a:xfrm>
            <a:off x="1088136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7" name="Text 15"/>
          <p:cNvSpPr txBox="1"/>
          <p:nvPr/>
        </p:nvSpPr>
        <p:spPr>
          <a:xfrm>
            <a:off x="1088136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SMART BAND</a:t>
            </a:r>
            <a:endParaRPr lang="en-US" sz="1250" dirty="0"/>
          </a:p>
        </p:txBody>
      </p:sp>
      <p:sp>
        <p:nvSpPr>
          <p:cNvPr id="18" name="Shape 16"/>
          <p:cNvSpPr/>
          <p:nvPr/>
        </p:nvSpPr>
        <p:spPr>
          <a:xfrm>
            <a:off x="1261872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9" name="Text 17"/>
          <p:cNvSpPr txBox="1"/>
          <p:nvPr/>
        </p:nvSpPr>
        <p:spPr>
          <a:xfrm>
            <a:off x="1261872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AUTOPILOT</a:t>
            </a:r>
            <a:endParaRPr lang="en-US" sz="1250" dirty="0"/>
          </a:p>
        </p:txBody>
      </p:sp>
      <p:sp>
        <p:nvSpPr>
          <p:cNvPr id="20" name="Shape 18"/>
          <p:cNvSpPr/>
          <p:nvPr/>
        </p:nvSpPr>
        <p:spPr>
          <a:xfrm>
            <a:off x="1435608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21" name="Text 19"/>
          <p:cNvSpPr txBox="1"/>
          <p:nvPr/>
        </p:nvSpPr>
        <p:spPr>
          <a:xfrm>
            <a:off x="1435608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IMPACT</a:t>
            </a:r>
            <a:endParaRPr lang="en-US" sz="1250" dirty="0"/>
          </a:p>
        </p:txBody>
      </p:sp>
      <p:sp>
        <p:nvSpPr>
          <p:cNvPr id="22" name="Shape 20"/>
          <p:cNvSpPr/>
          <p:nvPr/>
        </p:nvSpPr>
        <p:spPr>
          <a:xfrm>
            <a:off x="1609344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23" name="Text 21"/>
          <p:cNvSpPr txBox="1"/>
          <p:nvPr/>
        </p:nvSpPr>
        <p:spPr>
          <a:xfrm>
            <a:off x="1609344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PITFALLS</a:t>
            </a:r>
            <a:endParaRPr lang="en-US" sz="1250" dirty="0"/>
          </a:p>
        </p:txBody>
      </p:sp>
      <p:sp>
        <p:nvSpPr>
          <p:cNvPr id="24" name="Text 22"/>
          <p:cNvSpPr txBox="1"/>
          <p:nvPr/>
        </p:nvSpPr>
        <p:spPr>
          <a:xfrm>
            <a:off x="457200" y="3108960"/>
            <a:ext cx="11887200" cy="384048"/>
          </a:xfrm>
          <a:prstGeom prst="rect">
            <a:avLst/>
          </a:prstGeom>
          <a:noFill/>
          <a:ln/>
        </p:spPr>
        <p:txBody>
          <a:bodyPr wrap="square" lIns="762" tIns="762" rIns="762" bIns="762" rtlCol="0" anchor="t"/>
          <a:lstStyle/>
          <a:p>
            <a:pPr marL="0" indent="0">
              <a:buNone/>
            </a:pPr>
            <a:r>
              <a:rPr lang="en-US" sz="1700" b="1" dirty="0">
                <a:solidFill>
                  <a:srgbClr val="5B0F4E"/>
                </a:solidFill>
                <a:latin typeface="Arial" pitchFamily="34" charset="0"/>
                <a:ea typeface="Arial" pitchFamily="34" charset="-122"/>
                <a:cs typeface="Arial" pitchFamily="34" charset="-120"/>
              </a:rPr>
              <a:t>Why pricing breaks today: the price-to-bank journey of a new-to-online seller</a:t>
            </a:r>
            <a:endParaRPr lang="en-US" sz="1700" dirty="0"/>
          </a:p>
        </p:txBody>
      </p:sp>
      <p:sp>
        <p:nvSpPr>
          <p:cNvPr id="25" name="Shape 23"/>
          <p:cNvSpPr/>
          <p:nvPr/>
        </p:nvSpPr>
        <p:spPr>
          <a:xfrm>
            <a:off x="457200" y="3520440"/>
            <a:ext cx="3246120" cy="1463040"/>
          </a:xfrm>
          <a:prstGeom prst="roundRect">
            <a:avLst>
              <a:gd name="adj" fmla="val 7500"/>
            </a:avLst>
          </a:prstGeom>
          <a:solidFill>
            <a:srgbClr val="FFF1DC"/>
          </a:solidFill>
          <a:ln w="12700">
            <a:solidFill>
              <a:srgbClr val="FFF1DC"/>
            </a:solidFill>
            <a:prstDash val="solid"/>
          </a:ln>
        </p:spPr>
        <p:txBody>
          <a:bodyPr/>
          <a:lstStyle/>
          <a:p>
            <a:endParaRPr lang="en-IN"/>
          </a:p>
        </p:txBody>
      </p:sp>
      <p:sp>
        <p:nvSpPr>
          <p:cNvPr id="26" name="Shape 24"/>
          <p:cNvSpPr/>
          <p:nvPr/>
        </p:nvSpPr>
        <p:spPr>
          <a:xfrm>
            <a:off x="594360" y="3657600"/>
            <a:ext cx="566928" cy="566928"/>
          </a:xfrm>
          <a:prstGeom prst="ellipse">
            <a:avLst/>
          </a:prstGeom>
          <a:solidFill>
            <a:srgbClr val="5B0F4E"/>
          </a:solidFill>
          <a:ln w="12700">
            <a:solidFill>
              <a:srgbClr val="5B0F4E"/>
            </a:solidFill>
            <a:prstDash val="solid"/>
          </a:ln>
        </p:spPr>
        <p:txBody>
          <a:bodyPr/>
          <a:lstStyle/>
          <a:p>
            <a:endParaRPr lang="en-IN"/>
          </a:p>
        </p:txBody>
      </p:sp>
      <p:pic>
        <p:nvPicPr>
          <p:cNvPr id="27" name="Image 0" descr="preencoded.png"/>
          <p:cNvPicPr>
            <a:picLocks noChangeAspect="1"/>
          </p:cNvPicPr>
          <p:nvPr/>
        </p:nvPicPr>
        <p:blipFill>
          <a:blip r:embed="rId4"/>
          <a:stretch>
            <a:fillRect/>
          </a:stretch>
        </p:blipFill>
        <p:spPr>
          <a:xfrm>
            <a:off x="730423" y="3793663"/>
            <a:ext cx="294803" cy="294803"/>
          </a:xfrm>
          <a:prstGeom prst="rect">
            <a:avLst/>
          </a:prstGeom>
        </p:spPr>
      </p:pic>
      <p:sp>
        <p:nvSpPr>
          <p:cNvPr id="28" name="Text 25"/>
          <p:cNvSpPr txBox="1"/>
          <p:nvPr/>
        </p:nvSpPr>
        <p:spPr>
          <a:xfrm>
            <a:off x="1234440" y="3657600"/>
            <a:ext cx="2423160" cy="411480"/>
          </a:xfrm>
          <a:prstGeom prst="rect">
            <a:avLst/>
          </a:prstGeom>
          <a:noFill/>
          <a:ln/>
        </p:spPr>
        <p:txBody>
          <a:bodyPr wrap="square" lIns="762" tIns="762" rIns="762" bIns="762" rtlCol="0" anchor="ctr"/>
          <a:lstStyle/>
          <a:p>
            <a:pPr marL="0" indent="0">
              <a:buNone/>
            </a:pPr>
            <a:r>
              <a:rPr lang="en-US" sz="1550" b="1" dirty="0">
                <a:solidFill>
                  <a:srgbClr val="5B0F4E"/>
                </a:solidFill>
                <a:latin typeface="Arial" pitchFamily="34" charset="0"/>
                <a:ea typeface="Arial" pitchFamily="34" charset="-122"/>
                <a:cs typeface="Arial" pitchFamily="34" charset="-120"/>
              </a:rPr>
              <a:t>Seller sets price</a:t>
            </a:r>
            <a:endParaRPr lang="en-US" sz="1550" dirty="0"/>
          </a:p>
        </p:txBody>
      </p:sp>
      <p:sp>
        <p:nvSpPr>
          <p:cNvPr id="29" name="Text 26"/>
          <p:cNvSpPr txBox="1"/>
          <p:nvPr/>
        </p:nvSpPr>
        <p:spPr>
          <a:xfrm>
            <a:off x="594360" y="4251960"/>
            <a:ext cx="3017520" cy="713232"/>
          </a:xfrm>
          <a:prstGeom prst="rect">
            <a:avLst/>
          </a:prstGeom>
          <a:noFill/>
          <a:ln/>
        </p:spPr>
        <p:txBody>
          <a:bodyPr wrap="square" lIns="762" tIns="762" rIns="762" bIns="762" rtlCol="0" anchor="t"/>
          <a:lstStyle/>
          <a:p>
            <a:pPr marL="0" indent="0">
              <a:buNone/>
            </a:pPr>
            <a:r>
              <a:rPr lang="en-US" sz="1400" dirty="0">
                <a:solidFill>
                  <a:srgbClr val="2B2B2B"/>
                </a:solidFill>
                <a:latin typeface="Arial" pitchFamily="34" charset="0"/>
                <a:ea typeface="Arial" pitchFamily="34" charset="-122"/>
                <a:cs typeface="Arial" pitchFamily="34" charset="-120"/>
              </a:rPr>
              <a:t>Offline price carried over, or cheapest competitor copied; 'cost' = purchase rate only</a:t>
            </a:r>
            <a:endParaRPr lang="en-US" sz="1400" dirty="0"/>
          </a:p>
        </p:txBody>
      </p:sp>
      <p:sp>
        <p:nvSpPr>
          <p:cNvPr id="30" name="Shape 27"/>
          <p:cNvSpPr/>
          <p:nvPr/>
        </p:nvSpPr>
        <p:spPr>
          <a:xfrm>
            <a:off x="3730752" y="4114800"/>
            <a:ext cx="219456" cy="274320"/>
          </a:xfrm>
          <a:prstGeom prst="rightArrow">
            <a:avLst/>
          </a:prstGeom>
          <a:solidFill>
            <a:srgbClr val="F29A1F"/>
          </a:solidFill>
          <a:ln w="12700">
            <a:solidFill>
              <a:srgbClr val="F29A1F"/>
            </a:solidFill>
            <a:prstDash val="solid"/>
          </a:ln>
        </p:spPr>
        <p:txBody>
          <a:bodyPr/>
          <a:lstStyle/>
          <a:p>
            <a:endParaRPr lang="en-IN"/>
          </a:p>
        </p:txBody>
      </p:sp>
      <p:sp>
        <p:nvSpPr>
          <p:cNvPr id="31" name="Shape 28"/>
          <p:cNvSpPr/>
          <p:nvPr/>
        </p:nvSpPr>
        <p:spPr>
          <a:xfrm>
            <a:off x="3968496" y="3520440"/>
            <a:ext cx="3246120" cy="1463040"/>
          </a:xfrm>
          <a:prstGeom prst="roundRect">
            <a:avLst>
              <a:gd name="adj" fmla="val 7500"/>
            </a:avLst>
          </a:prstGeom>
          <a:solidFill>
            <a:srgbClr val="FFF1DC"/>
          </a:solidFill>
          <a:ln w="12700">
            <a:solidFill>
              <a:srgbClr val="FFF1DC"/>
            </a:solidFill>
            <a:prstDash val="solid"/>
          </a:ln>
        </p:spPr>
        <p:txBody>
          <a:bodyPr/>
          <a:lstStyle/>
          <a:p>
            <a:endParaRPr lang="en-IN"/>
          </a:p>
        </p:txBody>
      </p:sp>
      <p:sp>
        <p:nvSpPr>
          <p:cNvPr id="32" name="Shape 29"/>
          <p:cNvSpPr/>
          <p:nvPr/>
        </p:nvSpPr>
        <p:spPr>
          <a:xfrm>
            <a:off x="4105656" y="3657600"/>
            <a:ext cx="566928" cy="566928"/>
          </a:xfrm>
          <a:prstGeom prst="ellipse">
            <a:avLst/>
          </a:prstGeom>
          <a:solidFill>
            <a:srgbClr val="5B0F4E"/>
          </a:solidFill>
          <a:ln w="12700">
            <a:solidFill>
              <a:srgbClr val="5B0F4E"/>
            </a:solidFill>
            <a:prstDash val="solid"/>
          </a:ln>
        </p:spPr>
        <p:txBody>
          <a:bodyPr/>
          <a:lstStyle/>
          <a:p>
            <a:endParaRPr lang="en-IN"/>
          </a:p>
        </p:txBody>
      </p:sp>
      <p:pic>
        <p:nvPicPr>
          <p:cNvPr id="33" name="Image 1" descr="preencoded.png"/>
          <p:cNvPicPr>
            <a:picLocks noChangeAspect="1"/>
          </p:cNvPicPr>
          <p:nvPr/>
        </p:nvPicPr>
        <p:blipFill>
          <a:blip r:embed="rId5"/>
          <a:stretch>
            <a:fillRect/>
          </a:stretch>
        </p:blipFill>
        <p:spPr>
          <a:xfrm>
            <a:off x="4241719" y="3793663"/>
            <a:ext cx="294803" cy="294803"/>
          </a:xfrm>
          <a:prstGeom prst="rect">
            <a:avLst/>
          </a:prstGeom>
        </p:spPr>
      </p:pic>
      <p:sp>
        <p:nvSpPr>
          <p:cNvPr id="34" name="Text 30"/>
          <p:cNvSpPr txBox="1"/>
          <p:nvPr/>
        </p:nvSpPr>
        <p:spPr>
          <a:xfrm>
            <a:off x="4745736" y="3657600"/>
            <a:ext cx="2423160" cy="411480"/>
          </a:xfrm>
          <a:prstGeom prst="rect">
            <a:avLst/>
          </a:prstGeom>
          <a:noFill/>
          <a:ln/>
        </p:spPr>
        <p:txBody>
          <a:bodyPr wrap="square" lIns="762" tIns="762" rIns="762" bIns="762" rtlCol="0" anchor="ctr"/>
          <a:lstStyle/>
          <a:p>
            <a:pPr marL="0" indent="0">
              <a:buNone/>
            </a:pPr>
            <a:r>
              <a:rPr lang="en-US" sz="1550" b="1" dirty="0">
                <a:solidFill>
                  <a:srgbClr val="5B0F4E"/>
                </a:solidFill>
                <a:latin typeface="Arial" pitchFamily="34" charset="0"/>
                <a:ea typeface="Arial" pitchFamily="34" charset="-122"/>
                <a:cs typeface="Arial" pitchFamily="34" charset="-120"/>
              </a:rPr>
              <a:t>Listing data</a:t>
            </a:r>
            <a:endParaRPr lang="en-US" sz="1550" dirty="0"/>
          </a:p>
        </p:txBody>
      </p:sp>
      <p:sp>
        <p:nvSpPr>
          <p:cNvPr id="35" name="Text 31"/>
          <p:cNvSpPr txBox="1"/>
          <p:nvPr/>
        </p:nvSpPr>
        <p:spPr>
          <a:xfrm>
            <a:off x="4105656" y="4293108"/>
            <a:ext cx="3017520" cy="713232"/>
          </a:xfrm>
          <a:prstGeom prst="rect">
            <a:avLst/>
          </a:prstGeom>
          <a:noFill/>
          <a:ln/>
        </p:spPr>
        <p:txBody>
          <a:bodyPr wrap="square" lIns="762" tIns="762" rIns="762" bIns="762" rtlCol="0" anchor="t"/>
          <a:lstStyle/>
          <a:p>
            <a:pPr marL="0" indent="0">
              <a:buNone/>
            </a:pPr>
            <a:r>
              <a:rPr lang="en-US" sz="1400" dirty="0">
                <a:solidFill>
                  <a:srgbClr val="2B2B2B"/>
                </a:solidFill>
                <a:latin typeface="Arial" pitchFamily="34" charset="0"/>
                <a:ea typeface="Arial" pitchFamily="34" charset="-122"/>
                <a:cs typeface="Arial" pitchFamily="34" charset="-120"/>
              </a:rPr>
              <a:t>Weight and box size set the shipping slab; return option picked blindly</a:t>
            </a:r>
            <a:endParaRPr lang="en-US" sz="1400" dirty="0"/>
          </a:p>
        </p:txBody>
      </p:sp>
      <p:sp>
        <p:nvSpPr>
          <p:cNvPr id="36" name="Shape 32"/>
          <p:cNvSpPr/>
          <p:nvPr/>
        </p:nvSpPr>
        <p:spPr>
          <a:xfrm>
            <a:off x="7242048" y="4114800"/>
            <a:ext cx="219456" cy="274320"/>
          </a:xfrm>
          <a:prstGeom prst="rightArrow">
            <a:avLst/>
          </a:prstGeom>
          <a:solidFill>
            <a:srgbClr val="F29A1F"/>
          </a:solidFill>
          <a:ln w="12700">
            <a:solidFill>
              <a:srgbClr val="F29A1F"/>
            </a:solidFill>
            <a:prstDash val="solid"/>
          </a:ln>
        </p:spPr>
        <p:txBody>
          <a:bodyPr/>
          <a:lstStyle/>
          <a:p>
            <a:endParaRPr lang="en-IN"/>
          </a:p>
        </p:txBody>
      </p:sp>
      <p:sp>
        <p:nvSpPr>
          <p:cNvPr id="37" name="Shape 33"/>
          <p:cNvSpPr/>
          <p:nvPr/>
        </p:nvSpPr>
        <p:spPr>
          <a:xfrm>
            <a:off x="7479792" y="3520440"/>
            <a:ext cx="3246120" cy="1463040"/>
          </a:xfrm>
          <a:prstGeom prst="roundRect">
            <a:avLst>
              <a:gd name="adj" fmla="val 7500"/>
            </a:avLst>
          </a:prstGeom>
          <a:solidFill>
            <a:srgbClr val="FFF1DC"/>
          </a:solidFill>
          <a:ln w="12700">
            <a:solidFill>
              <a:srgbClr val="FFF1DC"/>
            </a:solidFill>
            <a:prstDash val="solid"/>
          </a:ln>
        </p:spPr>
        <p:txBody>
          <a:bodyPr/>
          <a:lstStyle/>
          <a:p>
            <a:endParaRPr lang="en-IN"/>
          </a:p>
        </p:txBody>
      </p:sp>
      <p:sp>
        <p:nvSpPr>
          <p:cNvPr id="38" name="Shape 34"/>
          <p:cNvSpPr/>
          <p:nvPr/>
        </p:nvSpPr>
        <p:spPr>
          <a:xfrm>
            <a:off x="7616952" y="3657600"/>
            <a:ext cx="566928" cy="566928"/>
          </a:xfrm>
          <a:prstGeom prst="ellipse">
            <a:avLst/>
          </a:prstGeom>
          <a:solidFill>
            <a:srgbClr val="5B0F4E"/>
          </a:solidFill>
          <a:ln w="12700">
            <a:solidFill>
              <a:srgbClr val="5B0F4E"/>
            </a:solidFill>
            <a:prstDash val="solid"/>
          </a:ln>
        </p:spPr>
        <p:txBody>
          <a:bodyPr/>
          <a:lstStyle/>
          <a:p>
            <a:endParaRPr lang="en-IN"/>
          </a:p>
        </p:txBody>
      </p:sp>
      <p:pic>
        <p:nvPicPr>
          <p:cNvPr id="39" name="Image 2" descr="preencoded.png"/>
          <p:cNvPicPr>
            <a:picLocks noChangeAspect="1"/>
          </p:cNvPicPr>
          <p:nvPr/>
        </p:nvPicPr>
        <p:blipFill>
          <a:blip r:embed="rId6"/>
          <a:stretch>
            <a:fillRect/>
          </a:stretch>
        </p:blipFill>
        <p:spPr>
          <a:xfrm>
            <a:off x="7753015" y="3793663"/>
            <a:ext cx="294803" cy="294803"/>
          </a:xfrm>
          <a:prstGeom prst="rect">
            <a:avLst/>
          </a:prstGeom>
        </p:spPr>
      </p:pic>
      <p:sp>
        <p:nvSpPr>
          <p:cNvPr id="40" name="Text 35"/>
          <p:cNvSpPr txBox="1"/>
          <p:nvPr/>
        </p:nvSpPr>
        <p:spPr>
          <a:xfrm>
            <a:off x="8257032" y="3657600"/>
            <a:ext cx="2423160" cy="411480"/>
          </a:xfrm>
          <a:prstGeom prst="rect">
            <a:avLst/>
          </a:prstGeom>
          <a:noFill/>
          <a:ln/>
        </p:spPr>
        <p:txBody>
          <a:bodyPr wrap="square" lIns="762" tIns="762" rIns="762" bIns="762" rtlCol="0" anchor="ctr"/>
          <a:lstStyle/>
          <a:p>
            <a:pPr marL="0" indent="0">
              <a:buNone/>
            </a:pPr>
            <a:r>
              <a:rPr lang="en-US" sz="1550" b="1" dirty="0">
                <a:solidFill>
                  <a:srgbClr val="5B0F4E"/>
                </a:solidFill>
                <a:latin typeface="Arial" pitchFamily="34" charset="0"/>
                <a:ea typeface="Arial" pitchFamily="34" charset="-122"/>
                <a:cs typeface="Arial" pitchFamily="34" charset="-120"/>
              </a:rPr>
              <a:t>Buyer compares</a:t>
            </a:r>
            <a:endParaRPr lang="en-US" sz="1550" dirty="0"/>
          </a:p>
        </p:txBody>
      </p:sp>
      <p:sp>
        <p:nvSpPr>
          <p:cNvPr id="41" name="Text 36"/>
          <p:cNvSpPr txBox="1"/>
          <p:nvPr/>
        </p:nvSpPr>
        <p:spPr>
          <a:xfrm>
            <a:off x="7616952" y="4344442"/>
            <a:ext cx="3017520" cy="713232"/>
          </a:xfrm>
          <a:prstGeom prst="rect">
            <a:avLst/>
          </a:prstGeom>
          <a:noFill/>
          <a:ln/>
        </p:spPr>
        <p:txBody>
          <a:bodyPr wrap="square" lIns="762" tIns="762" rIns="762" bIns="762" rtlCol="0" anchor="t"/>
          <a:lstStyle/>
          <a:p>
            <a:pPr marL="0" indent="0">
              <a:buNone/>
            </a:pPr>
            <a:r>
              <a:rPr lang="en-US" sz="1400" dirty="0">
                <a:solidFill>
                  <a:srgbClr val="2B2B2B"/>
                </a:solidFill>
                <a:latin typeface="Arial" pitchFamily="34" charset="0"/>
                <a:ea typeface="Arial" pitchFamily="34" charset="-122"/>
                <a:cs typeface="Arial" pitchFamily="34" charset="-120"/>
              </a:rPr>
              <a:t>Near-identical listings side by side; a wrong slab inflates the price</a:t>
            </a:r>
            <a:endParaRPr lang="en-US" sz="1400" dirty="0"/>
          </a:p>
        </p:txBody>
      </p:sp>
      <p:sp>
        <p:nvSpPr>
          <p:cNvPr id="42" name="Shape 37"/>
          <p:cNvSpPr/>
          <p:nvPr/>
        </p:nvSpPr>
        <p:spPr>
          <a:xfrm>
            <a:off x="10753344" y="4114800"/>
            <a:ext cx="219456" cy="274320"/>
          </a:xfrm>
          <a:prstGeom prst="rightArrow">
            <a:avLst/>
          </a:prstGeom>
          <a:solidFill>
            <a:srgbClr val="F29A1F"/>
          </a:solidFill>
          <a:ln w="12700">
            <a:solidFill>
              <a:srgbClr val="F29A1F"/>
            </a:solidFill>
            <a:prstDash val="solid"/>
          </a:ln>
        </p:spPr>
        <p:txBody>
          <a:bodyPr/>
          <a:lstStyle/>
          <a:p>
            <a:endParaRPr lang="en-IN"/>
          </a:p>
        </p:txBody>
      </p:sp>
      <p:sp>
        <p:nvSpPr>
          <p:cNvPr id="43" name="Shape 38"/>
          <p:cNvSpPr/>
          <p:nvPr/>
        </p:nvSpPr>
        <p:spPr>
          <a:xfrm>
            <a:off x="10991088" y="3520440"/>
            <a:ext cx="3246120" cy="1463040"/>
          </a:xfrm>
          <a:prstGeom prst="roundRect">
            <a:avLst>
              <a:gd name="adj" fmla="val 7500"/>
            </a:avLst>
          </a:prstGeom>
          <a:solidFill>
            <a:srgbClr val="FFF1DC"/>
          </a:solidFill>
          <a:ln w="12700">
            <a:solidFill>
              <a:srgbClr val="FFF1DC"/>
            </a:solidFill>
            <a:prstDash val="solid"/>
          </a:ln>
        </p:spPr>
        <p:txBody>
          <a:bodyPr/>
          <a:lstStyle/>
          <a:p>
            <a:endParaRPr lang="en-IN"/>
          </a:p>
        </p:txBody>
      </p:sp>
      <p:sp>
        <p:nvSpPr>
          <p:cNvPr id="44" name="Shape 39"/>
          <p:cNvSpPr/>
          <p:nvPr/>
        </p:nvSpPr>
        <p:spPr>
          <a:xfrm>
            <a:off x="11128248" y="3657600"/>
            <a:ext cx="566928" cy="566928"/>
          </a:xfrm>
          <a:prstGeom prst="ellipse">
            <a:avLst/>
          </a:prstGeom>
          <a:solidFill>
            <a:srgbClr val="5B0F4E"/>
          </a:solidFill>
          <a:ln w="12700">
            <a:solidFill>
              <a:srgbClr val="5B0F4E"/>
            </a:solidFill>
            <a:prstDash val="solid"/>
          </a:ln>
        </p:spPr>
        <p:txBody>
          <a:bodyPr/>
          <a:lstStyle/>
          <a:p>
            <a:endParaRPr lang="en-IN"/>
          </a:p>
        </p:txBody>
      </p:sp>
      <p:pic>
        <p:nvPicPr>
          <p:cNvPr id="45" name="Image 3" descr="preencoded.png"/>
          <p:cNvPicPr>
            <a:picLocks noChangeAspect="1"/>
          </p:cNvPicPr>
          <p:nvPr/>
        </p:nvPicPr>
        <p:blipFill>
          <a:blip r:embed="rId7"/>
          <a:stretch>
            <a:fillRect/>
          </a:stretch>
        </p:blipFill>
        <p:spPr>
          <a:xfrm>
            <a:off x="11264311" y="3793663"/>
            <a:ext cx="294803" cy="294803"/>
          </a:xfrm>
          <a:prstGeom prst="rect">
            <a:avLst/>
          </a:prstGeom>
        </p:spPr>
      </p:pic>
      <p:sp>
        <p:nvSpPr>
          <p:cNvPr id="46" name="Text 40"/>
          <p:cNvSpPr txBox="1"/>
          <p:nvPr/>
        </p:nvSpPr>
        <p:spPr>
          <a:xfrm>
            <a:off x="11768328" y="3657600"/>
            <a:ext cx="2423160" cy="411480"/>
          </a:xfrm>
          <a:prstGeom prst="rect">
            <a:avLst/>
          </a:prstGeom>
          <a:noFill/>
          <a:ln/>
        </p:spPr>
        <p:txBody>
          <a:bodyPr wrap="square" lIns="762" tIns="762" rIns="762" bIns="762" rtlCol="0" anchor="ctr"/>
          <a:lstStyle/>
          <a:p>
            <a:pPr marL="0" indent="0">
              <a:buNone/>
            </a:pPr>
            <a:r>
              <a:rPr lang="en-US" sz="1550" b="1" dirty="0">
                <a:solidFill>
                  <a:srgbClr val="5B0F4E"/>
                </a:solidFill>
                <a:latin typeface="Arial" pitchFamily="34" charset="0"/>
                <a:ea typeface="Arial" pitchFamily="34" charset="-122"/>
                <a:cs typeface="Arial" pitchFamily="34" charset="-120"/>
              </a:rPr>
              <a:t>Delivery outcome</a:t>
            </a:r>
            <a:endParaRPr lang="en-US" sz="1550" dirty="0"/>
          </a:p>
        </p:txBody>
      </p:sp>
      <p:sp>
        <p:nvSpPr>
          <p:cNvPr id="47" name="Text 41"/>
          <p:cNvSpPr txBox="1"/>
          <p:nvPr/>
        </p:nvSpPr>
        <p:spPr>
          <a:xfrm>
            <a:off x="11128248" y="4360591"/>
            <a:ext cx="3017520" cy="713232"/>
          </a:xfrm>
          <a:prstGeom prst="rect">
            <a:avLst/>
          </a:prstGeom>
          <a:noFill/>
          <a:ln/>
        </p:spPr>
        <p:txBody>
          <a:bodyPr wrap="square" lIns="762" tIns="762" rIns="762" bIns="762" rtlCol="0" anchor="t"/>
          <a:lstStyle/>
          <a:p>
            <a:pPr marL="0" indent="0">
              <a:buNone/>
            </a:pPr>
            <a:r>
              <a:rPr lang="en-US" sz="1400" dirty="0">
                <a:solidFill>
                  <a:srgbClr val="2B2B2B"/>
                </a:solidFill>
                <a:latin typeface="Arial" pitchFamily="34" charset="0"/>
                <a:ea typeface="Arial" pitchFamily="34" charset="-122"/>
                <a:cs typeface="Arial" pitchFamily="34" charset="-120"/>
              </a:rPr>
              <a:t>72% COD; some parcels refused (RTO), some returned after delivery</a:t>
            </a:r>
            <a:endParaRPr lang="en-US" sz="1400" dirty="0"/>
          </a:p>
        </p:txBody>
      </p:sp>
      <p:sp>
        <p:nvSpPr>
          <p:cNvPr id="48" name="Shape 42"/>
          <p:cNvSpPr/>
          <p:nvPr/>
        </p:nvSpPr>
        <p:spPr>
          <a:xfrm>
            <a:off x="14264640" y="4114800"/>
            <a:ext cx="219456" cy="274320"/>
          </a:xfrm>
          <a:prstGeom prst="rightArrow">
            <a:avLst/>
          </a:prstGeom>
          <a:solidFill>
            <a:srgbClr val="F29A1F"/>
          </a:solidFill>
          <a:ln w="12700">
            <a:solidFill>
              <a:srgbClr val="F29A1F"/>
            </a:solidFill>
            <a:prstDash val="solid"/>
          </a:ln>
        </p:spPr>
        <p:txBody>
          <a:bodyPr/>
          <a:lstStyle/>
          <a:p>
            <a:endParaRPr lang="en-IN"/>
          </a:p>
        </p:txBody>
      </p:sp>
      <p:sp>
        <p:nvSpPr>
          <p:cNvPr id="49" name="Shape 43"/>
          <p:cNvSpPr/>
          <p:nvPr/>
        </p:nvSpPr>
        <p:spPr>
          <a:xfrm>
            <a:off x="14502384" y="3520440"/>
            <a:ext cx="3246120" cy="1463040"/>
          </a:xfrm>
          <a:prstGeom prst="roundRect">
            <a:avLst>
              <a:gd name="adj" fmla="val 7500"/>
            </a:avLst>
          </a:prstGeom>
          <a:solidFill>
            <a:srgbClr val="FFF1DC"/>
          </a:solidFill>
          <a:ln w="12700">
            <a:solidFill>
              <a:srgbClr val="FFF1DC"/>
            </a:solidFill>
            <a:prstDash val="solid"/>
          </a:ln>
        </p:spPr>
        <p:txBody>
          <a:bodyPr/>
          <a:lstStyle/>
          <a:p>
            <a:endParaRPr lang="en-IN"/>
          </a:p>
        </p:txBody>
      </p:sp>
      <p:sp>
        <p:nvSpPr>
          <p:cNvPr id="50" name="Shape 44"/>
          <p:cNvSpPr/>
          <p:nvPr/>
        </p:nvSpPr>
        <p:spPr>
          <a:xfrm>
            <a:off x="14639544" y="3657600"/>
            <a:ext cx="566928" cy="566928"/>
          </a:xfrm>
          <a:prstGeom prst="ellipse">
            <a:avLst/>
          </a:prstGeom>
          <a:solidFill>
            <a:srgbClr val="5B0F4E"/>
          </a:solidFill>
          <a:ln w="12700">
            <a:solidFill>
              <a:srgbClr val="5B0F4E"/>
            </a:solidFill>
            <a:prstDash val="solid"/>
          </a:ln>
        </p:spPr>
        <p:txBody>
          <a:bodyPr/>
          <a:lstStyle/>
          <a:p>
            <a:endParaRPr lang="en-IN"/>
          </a:p>
        </p:txBody>
      </p:sp>
      <p:pic>
        <p:nvPicPr>
          <p:cNvPr id="51" name="Image 4" descr="preencoded.png"/>
          <p:cNvPicPr>
            <a:picLocks noChangeAspect="1"/>
          </p:cNvPicPr>
          <p:nvPr/>
        </p:nvPicPr>
        <p:blipFill>
          <a:blip r:embed="rId8"/>
          <a:stretch>
            <a:fillRect/>
          </a:stretch>
        </p:blipFill>
        <p:spPr>
          <a:xfrm>
            <a:off x="14775607" y="3793663"/>
            <a:ext cx="294803" cy="294803"/>
          </a:xfrm>
          <a:prstGeom prst="rect">
            <a:avLst/>
          </a:prstGeom>
        </p:spPr>
      </p:pic>
      <p:sp>
        <p:nvSpPr>
          <p:cNvPr id="52" name="Text 45"/>
          <p:cNvSpPr txBox="1"/>
          <p:nvPr/>
        </p:nvSpPr>
        <p:spPr>
          <a:xfrm>
            <a:off x="15279624" y="3657600"/>
            <a:ext cx="2423160" cy="411480"/>
          </a:xfrm>
          <a:prstGeom prst="rect">
            <a:avLst/>
          </a:prstGeom>
          <a:noFill/>
          <a:ln/>
        </p:spPr>
        <p:txBody>
          <a:bodyPr wrap="square" lIns="762" tIns="762" rIns="762" bIns="762" rtlCol="0" anchor="ctr"/>
          <a:lstStyle/>
          <a:p>
            <a:pPr marL="0" indent="0">
              <a:buNone/>
            </a:pPr>
            <a:r>
              <a:rPr lang="en-US" sz="1550" b="1" dirty="0">
                <a:solidFill>
                  <a:srgbClr val="5B0F4E"/>
                </a:solidFill>
                <a:latin typeface="Arial" pitchFamily="34" charset="0"/>
                <a:ea typeface="Arial" pitchFamily="34" charset="-122"/>
                <a:cs typeface="Arial" pitchFamily="34" charset="-120"/>
              </a:rPr>
              <a:t>Settlement</a:t>
            </a:r>
            <a:endParaRPr lang="en-US" sz="1550" dirty="0"/>
          </a:p>
        </p:txBody>
      </p:sp>
      <p:sp>
        <p:nvSpPr>
          <p:cNvPr id="53" name="Text 46"/>
          <p:cNvSpPr txBox="1"/>
          <p:nvPr/>
        </p:nvSpPr>
        <p:spPr>
          <a:xfrm>
            <a:off x="14639544" y="4297680"/>
            <a:ext cx="3017520" cy="713232"/>
          </a:xfrm>
          <a:prstGeom prst="rect">
            <a:avLst/>
          </a:prstGeom>
          <a:noFill/>
          <a:ln/>
        </p:spPr>
        <p:txBody>
          <a:bodyPr wrap="square" lIns="762" tIns="762" rIns="762" bIns="762" rtlCol="0" anchor="t"/>
          <a:lstStyle/>
          <a:p>
            <a:pPr marL="0" indent="0">
              <a:buNone/>
            </a:pPr>
            <a:r>
              <a:rPr lang="en-US" sz="1400" dirty="0">
                <a:solidFill>
                  <a:srgbClr val="2B2B2B"/>
                </a:solidFill>
                <a:latin typeface="Arial" pitchFamily="34" charset="0"/>
                <a:ea typeface="Arial" pitchFamily="34" charset="-122"/>
                <a:cs typeface="Arial" pitchFamily="34" charset="-120"/>
              </a:rPr>
              <a:t>Shipping + 18% GST on fees deducted: 'Meesho transfers less than I listed'</a:t>
            </a:r>
            <a:endParaRPr lang="en-US" sz="1400" dirty="0"/>
          </a:p>
        </p:txBody>
      </p:sp>
      <p:sp>
        <p:nvSpPr>
          <p:cNvPr id="54" name="Text 47"/>
          <p:cNvSpPr txBox="1"/>
          <p:nvPr/>
        </p:nvSpPr>
        <p:spPr>
          <a:xfrm>
            <a:off x="457200" y="5368570"/>
            <a:ext cx="10058400" cy="384048"/>
          </a:xfrm>
          <a:prstGeom prst="rect">
            <a:avLst/>
          </a:prstGeom>
          <a:noFill/>
          <a:ln/>
        </p:spPr>
        <p:txBody>
          <a:bodyPr wrap="square" lIns="762" tIns="762" rIns="762" bIns="762" rtlCol="0" anchor="t"/>
          <a:lstStyle/>
          <a:p>
            <a:pPr marL="0" indent="0">
              <a:buNone/>
            </a:pPr>
            <a:r>
              <a:rPr lang="en-US" sz="1700" b="1" dirty="0">
                <a:solidFill>
                  <a:srgbClr val="5B0F4E"/>
                </a:solidFill>
                <a:latin typeface="Arial" pitchFamily="34" charset="0"/>
                <a:ea typeface="Arial" pitchFamily="34" charset="-122"/>
                <a:cs typeface="Arial" pitchFamily="34" charset="-120"/>
              </a:rPr>
              <a:t>The root cause is one chain: four problems feed each other</a:t>
            </a:r>
            <a:endParaRPr lang="en-US" sz="1700" dirty="0"/>
          </a:p>
        </p:txBody>
      </p:sp>
      <p:sp>
        <p:nvSpPr>
          <p:cNvPr id="55" name="Shape 48"/>
          <p:cNvSpPr/>
          <p:nvPr/>
        </p:nvSpPr>
        <p:spPr>
          <a:xfrm>
            <a:off x="457200" y="5780050"/>
            <a:ext cx="2331720" cy="2148840"/>
          </a:xfrm>
          <a:prstGeom prst="roundRect">
            <a:avLst>
              <a:gd name="adj" fmla="val 5106"/>
            </a:avLst>
          </a:prstGeom>
          <a:solidFill>
            <a:srgbClr val="F3E8F1"/>
          </a:solidFill>
          <a:ln w="12700">
            <a:solidFill>
              <a:srgbClr val="F3E8F1"/>
            </a:solidFill>
            <a:prstDash val="solid"/>
          </a:ln>
        </p:spPr>
        <p:txBody>
          <a:bodyPr/>
          <a:lstStyle/>
          <a:p>
            <a:endParaRPr lang="en-IN"/>
          </a:p>
        </p:txBody>
      </p:sp>
      <p:sp>
        <p:nvSpPr>
          <p:cNvPr id="56" name="Text 49"/>
          <p:cNvSpPr txBox="1"/>
          <p:nvPr/>
        </p:nvSpPr>
        <p:spPr>
          <a:xfrm>
            <a:off x="548640" y="5844058"/>
            <a:ext cx="731520" cy="411480"/>
          </a:xfrm>
          <a:prstGeom prst="rect">
            <a:avLst/>
          </a:prstGeom>
          <a:noFill/>
          <a:ln/>
        </p:spPr>
        <p:txBody>
          <a:bodyPr wrap="square" lIns="762" tIns="762" rIns="762" bIns="762" rtlCol="0" anchor="t"/>
          <a:lstStyle/>
          <a:p>
            <a:pPr marL="0" indent="0">
              <a:buNone/>
            </a:pPr>
            <a:r>
              <a:rPr lang="en-US" sz="2000" b="1" dirty="0">
                <a:solidFill>
                  <a:srgbClr val="5B0F4E"/>
                </a:solidFill>
                <a:latin typeface="Arial" pitchFamily="34" charset="0"/>
                <a:ea typeface="Arial" pitchFamily="34" charset="-122"/>
                <a:cs typeface="Arial" pitchFamily="34" charset="-120"/>
              </a:rPr>
              <a:t>P1</a:t>
            </a:r>
            <a:endParaRPr lang="en-US" sz="2000" dirty="0"/>
          </a:p>
        </p:txBody>
      </p:sp>
      <p:sp>
        <p:nvSpPr>
          <p:cNvPr id="57" name="Text 50"/>
          <p:cNvSpPr txBox="1"/>
          <p:nvPr/>
        </p:nvSpPr>
        <p:spPr>
          <a:xfrm>
            <a:off x="548640" y="6237250"/>
            <a:ext cx="2148840" cy="548640"/>
          </a:xfrm>
          <a:prstGeom prst="rect">
            <a:avLst/>
          </a:prstGeom>
          <a:noFill/>
          <a:ln/>
        </p:spPr>
        <p:txBody>
          <a:bodyPr wrap="square" lIns="762" tIns="762" rIns="762" bIns="762" rtlCol="0" anchor="t"/>
          <a:lstStyle/>
          <a:p>
            <a:pPr marL="0" indent="0">
              <a:buNone/>
            </a:pPr>
            <a:r>
              <a:rPr lang="en-US" sz="1400" b="1" dirty="0">
                <a:solidFill>
                  <a:srgbClr val="2B2B2B"/>
                </a:solidFill>
                <a:latin typeface="Arial" pitchFamily="34" charset="0"/>
                <a:ea typeface="Arial" pitchFamily="34" charset="-122"/>
                <a:cs typeface="Arial" pitchFamily="34" charset="-120"/>
              </a:rPr>
              <a:t>Wrong cost base</a:t>
            </a:r>
            <a:endParaRPr lang="en-US" sz="1400" dirty="0"/>
          </a:p>
        </p:txBody>
      </p:sp>
      <p:sp>
        <p:nvSpPr>
          <p:cNvPr id="58" name="Text 51"/>
          <p:cNvSpPr txBox="1"/>
          <p:nvPr/>
        </p:nvSpPr>
        <p:spPr>
          <a:xfrm>
            <a:off x="548640" y="6785890"/>
            <a:ext cx="2148840" cy="548640"/>
          </a:xfrm>
          <a:prstGeom prst="rect">
            <a:avLst/>
          </a:prstGeom>
          <a:noFill/>
          <a:ln/>
        </p:spPr>
        <p:txBody>
          <a:bodyPr wrap="square" lIns="762" tIns="762" rIns="762" bIns="762" rtlCol="0" anchor="t"/>
          <a:lstStyle/>
          <a:p>
            <a:pPr marL="0" indent="0">
              <a:buNone/>
            </a:pPr>
            <a:r>
              <a:rPr lang="en-US" sz="1400" dirty="0">
                <a:solidFill>
                  <a:srgbClr val="2B2B2B"/>
                </a:solidFill>
                <a:latin typeface="Arial" pitchFamily="34" charset="0"/>
                <a:ea typeface="Arial" pitchFamily="34" charset="-122"/>
                <a:cs typeface="Arial" pitchFamily="34" charset="-120"/>
              </a:rPr>
              <a:t>Shipping, GST on fees, packing ignored</a:t>
            </a:r>
            <a:endParaRPr lang="en-US" sz="1400" dirty="0"/>
          </a:p>
        </p:txBody>
      </p:sp>
      <p:sp>
        <p:nvSpPr>
          <p:cNvPr id="59" name="Text 52"/>
          <p:cNvSpPr txBox="1"/>
          <p:nvPr/>
        </p:nvSpPr>
        <p:spPr>
          <a:xfrm>
            <a:off x="548640" y="7486595"/>
            <a:ext cx="2148840" cy="502920"/>
          </a:xfrm>
          <a:prstGeom prst="rect">
            <a:avLst/>
          </a:prstGeom>
          <a:noFill/>
          <a:ln/>
        </p:spPr>
        <p:txBody>
          <a:bodyPr wrap="square" lIns="762" tIns="762" rIns="762" bIns="762" rtlCol="0" anchor="t"/>
          <a:lstStyle/>
          <a:p>
            <a:pPr marL="0" indent="0">
              <a:buNone/>
            </a:pPr>
            <a:r>
              <a:rPr lang="en-US" sz="1400" i="1" dirty="0">
                <a:solidFill>
                  <a:srgbClr val="555555"/>
                </a:solidFill>
                <a:latin typeface="Arial" pitchFamily="34" charset="0"/>
                <a:ea typeface="Arial" pitchFamily="34" charset="-122"/>
                <a:cs typeface="Arial" pitchFamily="34" charset="-120"/>
              </a:rPr>
              <a:t>“Cost = purchase rate”</a:t>
            </a:r>
            <a:endParaRPr lang="en-US" sz="1400" dirty="0"/>
          </a:p>
        </p:txBody>
      </p:sp>
      <p:sp>
        <p:nvSpPr>
          <p:cNvPr id="60" name="Shape 53"/>
          <p:cNvSpPr/>
          <p:nvPr/>
        </p:nvSpPr>
        <p:spPr>
          <a:xfrm>
            <a:off x="2807208" y="6694450"/>
            <a:ext cx="182880" cy="274320"/>
          </a:xfrm>
          <a:prstGeom prst="rightArrow">
            <a:avLst/>
          </a:prstGeom>
          <a:solidFill>
            <a:srgbClr val="5B0F4E"/>
          </a:solidFill>
          <a:ln w="12700">
            <a:solidFill>
              <a:srgbClr val="5B0F4E"/>
            </a:solidFill>
            <a:prstDash val="solid"/>
          </a:ln>
        </p:spPr>
        <p:txBody>
          <a:bodyPr/>
          <a:lstStyle/>
          <a:p>
            <a:endParaRPr lang="en-IN"/>
          </a:p>
        </p:txBody>
      </p:sp>
      <p:sp>
        <p:nvSpPr>
          <p:cNvPr id="61" name="Shape 54"/>
          <p:cNvSpPr/>
          <p:nvPr/>
        </p:nvSpPr>
        <p:spPr>
          <a:xfrm>
            <a:off x="2999232" y="5780050"/>
            <a:ext cx="2331720" cy="2148840"/>
          </a:xfrm>
          <a:prstGeom prst="roundRect">
            <a:avLst>
              <a:gd name="adj" fmla="val 5106"/>
            </a:avLst>
          </a:prstGeom>
          <a:solidFill>
            <a:srgbClr val="F3E8F1"/>
          </a:solidFill>
          <a:ln w="12700">
            <a:solidFill>
              <a:srgbClr val="F3E8F1"/>
            </a:solidFill>
            <a:prstDash val="solid"/>
          </a:ln>
        </p:spPr>
        <p:txBody>
          <a:bodyPr/>
          <a:lstStyle/>
          <a:p>
            <a:endParaRPr lang="en-IN"/>
          </a:p>
        </p:txBody>
      </p:sp>
      <p:sp>
        <p:nvSpPr>
          <p:cNvPr id="62" name="Text 55"/>
          <p:cNvSpPr txBox="1"/>
          <p:nvPr/>
        </p:nvSpPr>
        <p:spPr>
          <a:xfrm>
            <a:off x="3090672" y="5844058"/>
            <a:ext cx="731520" cy="411480"/>
          </a:xfrm>
          <a:prstGeom prst="rect">
            <a:avLst/>
          </a:prstGeom>
          <a:noFill/>
          <a:ln/>
        </p:spPr>
        <p:txBody>
          <a:bodyPr wrap="square" lIns="762" tIns="762" rIns="762" bIns="762" rtlCol="0" anchor="t"/>
          <a:lstStyle/>
          <a:p>
            <a:pPr marL="0" indent="0">
              <a:buNone/>
            </a:pPr>
            <a:r>
              <a:rPr lang="en-US" sz="2000" b="1" dirty="0">
                <a:solidFill>
                  <a:srgbClr val="5B0F4E"/>
                </a:solidFill>
                <a:latin typeface="Arial" pitchFamily="34" charset="0"/>
                <a:ea typeface="Arial" pitchFamily="34" charset="-122"/>
                <a:cs typeface="Arial" pitchFamily="34" charset="-120"/>
              </a:rPr>
              <a:t>P4</a:t>
            </a:r>
            <a:endParaRPr lang="en-US" sz="2000" dirty="0"/>
          </a:p>
        </p:txBody>
      </p:sp>
      <p:sp>
        <p:nvSpPr>
          <p:cNvPr id="63" name="Text 56"/>
          <p:cNvSpPr txBox="1"/>
          <p:nvPr/>
        </p:nvSpPr>
        <p:spPr>
          <a:xfrm>
            <a:off x="3090672" y="6237250"/>
            <a:ext cx="2148840" cy="548640"/>
          </a:xfrm>
          <a:prstGeom prst="rect">
            <a:avLst/>
          </a:prstGeom>
          <a:noFill/>
          <a:ln/>
        </p:spPr>
        <p:txBody>
          <a:bodyPr wrap="square" lIns="762" tIns="762" rIns="762" bIns="762" rtlCol="0" anchor="t"/>
          <a:lstStyle/>
          <a:p>
            <a:pPr marL="0" indent="0">
              <a:buNone/>
            </a:pPr>
            <a:r>
              <a:rPr lang="en-US" sz="1400" b="1" dirty="0">
                <a:solidFill>
                  <a:srgbClr val="2B2B2B"/>
                </a:solidFill>
                <a:latin typeface="Arial" pitchFamily="34" charset="0"/>
                <a:ea typeface="Arial" pitchFamily="34" charset="-122"/>
                <a:cs typeface="Arial" pitchFamily="34" charset="-120"/>
              </a:rPr>
              <a:t>Returns &amp; RTO not priced in</a:t>
            </a:r>
            <a:endParaRPr lang="en-US" sz="1400" dirty="0"/>
          </a:p>
        </p:txBody>
      </p:sp>
      <p:sp>
        <p:nvSpPr>
          <p:cNvPr id="64" name="Text 57"/>
          <p:cNvSpPr txBox="1"/>
          <p:nvPr/>
        </p:nvSpPr>
        <p:spPr>
          <a:xfrm>
            <a:off x="3090672" y="6785890"/>
            <a:ext cx="2148840" cy="548640"/>
          </a:xfrm>
          <a:prstGeom prst="rect">
            <a:avLst/>
          </a:prstGeom>
          <a:noFill/>
          <a:ln/>
        </p:spPr>
        <p:txBody>
          <a:bodyPr wrap="square" lIns="762" tIns="762" rIns="762" bIns="762" rtlCol="0" anchor="t"/>
          <a:lstStyle/>
          <a:p>
            <a:pPr marL="0" indent="0">
              <a:buNone/>
            </a:pPr>
            <a:r>
              <a:rPr lang="en-US" sz="1400" dirty="0">
                <a:solidFill>
                  <a:srgbClr val="2B2B2B"/>
                </a:solidFill>
                <a:latin typeface="Arial" pitchFamily="34" charset="0"/>
                <a:ea typeface="Arial" pitchFamily="34" charset="-122"/>
                <a:cs typeface="Arial" pitchFamily="34" charset="-120"/>
              </a:rPr>
              <a:t>Failed orders never enter the price</a:t>
            </a:r>
            <a:endParaRPr lang="en-US" sz="1400" dirty="0"/>
          </a:p>
        </p:txBody>
      </p:sp>
      <p:sp>
        <p:nvSpPr>
          <p:cNvPr id="65" name="Text 58"/>
          <p:cNvSpPr txBox="1"/>
          <p:nvPr/>
        </p:nvSpPr>
        <p:spPr>
          <a:xfrm>
            <a:off x="3090672" y="7361962"/>
            <a:ext cx="2148840" cy="502920"/>
          </a:xfrm>
          <a:prstGeom prst="rect">
            <a:avLst/>
          </a:prstGeom>
          <a:noFill/>
          <a:ln/>
        </p:spPr>
        <p:txBody>
          <a:bodyPr wrap="square" lIns="762" tIns="762" rIns="762" bIns="762" rtlCol="0" anchor="t"/>
          <a:lstStyle/>
          <a:p>
            <a:pPr marL="0" indent="0">
              <a:buNone/>
            </a:pPr>
            <a:r>
              <a:rPr lang="en-US" sz="1400" i="1" dirty="0">
                <a:solidFill>
                  <a:srgbClr val="555555"/>
                </a:solidFill>
                <a:latin typeface="Arial" pitchFamily="34" charset="0"/>
                <a:ea typeface="Arial" pitchFamily="34" charset="-122"/>
                <a:cs typeface="Arial" pitchFamily="34" charset="-120"/>
              </a:rPr>
              <a:t>“~8–9 of 30 orders come back”</a:t>
            </a:r>
            <a:endParaRPr lang="en-US" sz="1400" dirty="0"/>
          </a:p>
        </p:txBody>
      </p:sp>
      <p:sp>
        <p:nvSpPr>
          <p:cNvPr id="66" name="Shape 59"/>
          <p:cNvSpPr/>
          <p:nvPr/>
        </p:nvSpPr>
        <p:spPr>
          <a:xfrm>
            <a:off x="5349240" y="6694450"/>
            <a:ext cx="182880" cy="274320"/>
          </a:xfrm>
          <a:prstGeom prst="rightArrow">
            <a:avLst/>
          </a:prstGeom>
          <a:solidFill>
            <a:srgbClr val="5B0F4E"/>
          </a:solidFill>
          <a:ln w="12700">
            <a:solidFill>
              <a:srgbClr val="5B0F4E"/>
            </a:solidFill>
            <a:prstDash val="solid"/>
          </a:ln>
        </p:spPr>
        <p:txBody>
          <a:bodyPr/>
          <a:lstStyle/>
          <a:p>
            <a:endParaRPr lang="en-IN"/>
          </a:p>
        </p:txBody>
      </p:sp>
      <p:sp>
        <p:nvSpPr>
          <p:cNvPr id="67" name="Shape 60"/>
          <p:cNvSpPr/>
          <p:nvPr/>
        </p:nvSpPr>
        <p:spPr>
          <a:xfrm>
            <a:off x="5541264" y="5780050"/>
            <a:ext cx="2331720" cy="2148840"/>
          </a:xfrm>
          <a:prstGeom prst="roundRect">
            <a:avLst>
              <a:gd name="adj" fmla="val 5106"/>
            </a:avLst>
          </a:prstGeom>
          <a:solidFill>
            <a:srgbClr val="FFF1DC"/>
          </a:solidFill>
          <a:ln w="12700">
            <a:solidFill>
              <a:srgbClr val="FFF1DC"/>
            </a:solidFill>
            <a:prstDash val="solid"/>
          </a:ln>
        </p:spPr>
        <p:txBody>
          <a:bodyPr/>
          <a:lstStyle/>
          <a:p>
            <a:endParaRPr lang="en-IN"/>
          </a:p>
        </p:txBody>
      </p:sp>
      <p:sp>
        <p:nvSpPr>
          <p:cNvPr id="68" name="Text 61"/>
          <p:cNvSpPr txBox="1"/>
          <p:nvPr/>
        </p:nvSpPr>
        <p:spPr>
          <a:xfrm>
            <a:off x="5632704" y="5844058"/>
            <a:ext cx="731520" cy="411480"/>
          </a:xfrm>
          <a:prstGeom prst="rect">
            <a:avLst/>
          </a:prstGeom>
          <a:noFill/>
          <a:ln/>
        </p:spPr>
        <p:txBody>
          <a:bodyPr wrap="square" lIns="762" tIns="762" rIns="762" bIns="762" rtlCol="0" anchor="t"/>
          <a:lstStyle/>
          <a:p>
            <a:pPr marL="0" indent="0">
              <a:buNone/>
            </a:pPr>
            <a:r>
              <a:rPr lang="en-US" sz="2000" b="1" dirty="0">
                <a:solidFill>
                  <a:srgbClr val="C9660A"/>
                </a:solidFill>
                <a:latin typeface="Arial" pitchFamily="34" charset="0"/>
                <a:ea typeface="Arial" pitchFamily="34" charset="-122"/>
                <a:cs typeface="Arial" pitchFamily="34" charset="-120"/>
              </a:rPr>
              <a:t>P2</a:t>
            </a:r>
            <a:endParaRPr lang="en-US" sz="2000" dirty="0"/>
          </a:p>
        </p:txBody>
      </p:sp>
      <p:sp>
        <p:nvSpPr>
          <p:cNvPr id="69" name="Text 62"/>
          <p:cNvSpPr txBox="1"/>
          <p:nvPr/>
        </p:nvSpPr>
        <p:spPr>
          <a:xfrm>
            <a:off x="5632704" y="6237250"/>
            <a:ext cx="2148840" cy="548640"/>
          </a:xfrm>
          <a:prstGeom prst="rect">
            <a:avLst/>
          </a:prstGeom>
          <a:noFill/>
          <a:ln/>
        </p:spPr>
        <p:txBody>
          <a:bodyPr wrap="square" lIns="762" tIns="762" rIns="762" bIns="762" rtlCol="0" anchor="t"/>
          <a:lstStyle/>
          <a:p>
            <a:pPr marL="0" indent="0">
              <a:buNone/>
            </a:pPr>
            <a:r>
              <a:rPr lang="en-US" sz="1400" b="1" dirty="0">
                <a:solidFill>
                  <a:srgbClr val="2B2B2B"/>
                </a:solidFill>
                <a:latin typeface="Arial" pitchFamily="34" charset="0"/>
                <a:ea typeface="Arial" pitchFamily="34" charset="-122"/>
                <a:cs typeface="Arial" pitchFamily="34" charset="-120"/>
              </a:rPr>
              <a:t>Copies the market</a:t>
            </a:r>
            <a:endParaRPr lang="en-US" sz="1400" dirty="0"/>
          </a:p>
        </p:txBody>
      </p:sp>
      <p:sp>
        <p:nvSpPr>
          <p:cNvPr id="70" name="Text 63"/>
          <p:cNvSpPr txBox="1"/>
          <p:nvPr/>
        </p:nvSpPr>
        <p:spPr>
          <a:xfrm>
            <a:off x="5650992" y="6657874"/>
            <a:ext cx="2148840" cy="548640"/>
          </a:xfrm>
          <a:prstGeom prst="rect">
            <a:avLst/>
          </a:prstGeom>
          <a:noFill/>
          <a:ln/>
        </p:spPr>
        <p:txBody>
          <a:bodyPr wrap="square" lIns="762" tIns="762" rIns="762" bIns="762" rtlCol="0" anchor="t"/>
          <a:lstStyle/>
          <a:p>
            <a:pPr marL="0" indent="0">
              <a:buNone/>
            </a:pPr>
            <a:r>
              <a:rPr lang="en-US" sz="1400" dirty="0">
                <a:solidFill>
                  <a:srgbClr val="2B2B2B"/>
                </a:solidFill>
                <a:latin typeface="Arial" pitchFamily="34" charset="0"/>
                <a:ea typeface="Arial" pitchFamily="34" charset="-122"/>
                <a:cs typeface="Arial" pitchFamily="34" charset="-120"/>
              </a:rPr>
              <a:t>Anchors on cheapest or median price, below own floor</a:t>
            </a:r>
            <a:endParaRPr lang="en-US" sz="1400" dirty="0"/>
          </a:p>
        </p:txBody>
      </p:sp>
      <p:sp>
        <p:nvSpPr>
          <p:cNvPr id="71" name="Text 64"/>
          <p:cNvSpPr txBox="1"/>
          <p:nvPr/>
        </p:nvSpPr>
        <p:spPr>
          <a:xfrm>
            <a:off x="5632704" y="7361962"/>
            <a:ext cx="2148840" cy="502920"/>
          </a:xfrm>
          <a:prstGeom prst="rect">
            <a:avLst/>
          </a:prstGeom>
          <a:noFill/>
          <a:ln/>
        </p:spPr>
        <p:txBody>
          <a:bodyPr wrap="square" lIns="762" tIns="762" rIns="762" bIns="762" rtlCol="0" anchor="t"/>
          <a:lstStyle/>
          <a:p>
            <a:pPr marL="0" indent="0">
              <a:buNone/>
            </a:pPr>
            <a:r>
              <a:rPr lang="en-US" sz="1400" i="1" dirty="0">
                <a:solidFill>
                  <a:srgbClr val="555555"/>
                </a:solidFill>
                <a:latin typeface="Arial" pitchFamily="34" charset="0"/>
                <a:ea typeface="Arial" pitchFamily="34" charset="-122"/>
                <a:cs typeface="Arial" pitchFamily="34" charset="-120"/>
              </a:rPr>
              <a:t>“If I increase ₹20, orders stop”</a:t>
            </a:r>
            <a:endParaRPr lang="en-US" sz="1400" dirty="0"/>
          </a:p>
        </p:txBody>
      </p:sp>
      <p:sp>
        <p:nvSpPr>
          <p:cNvPr id="72" name="Shape 65"/>
          <p:cNvSpPr/>
          <p:nvPr/>
        </p:nvSpPr>
        <p:spPr>
          <a:xfrm>
            <a:off x="7891272" y="6694450"/>
            <a:ext cx="182880" cy="274320"/>
          </a:xfrm>
          <a:prstGeom prst="rightArrow">
            <a:avLst/>
          </a:prstGeom>
          <a:solidFill>
            <a:srgbClr val="5B0F4E"/>
          </a:solidFill>
          <a:ln w="12700">
            <a:solidFill>
              <a:srgbClr val="5B0F4E"/>
            </a:solidFill>
            <a:prstDash val="solid"/>
          </a:ln>
        </p:spPr>
        <p:txBody>
          <a:bodyPr/>
          <a:lstStyle/>
          <a:p>
            <a:endParaRPr lang="en-IN"/>
          </a:p>
        </p:txBody>
      </p:sp>
      <p:sp>
        <p:nvSpPr>
          <p:cNvPr id="73" name="Shape 66"/>
          <p:cNvSpPr/>
          <p:nvPr/>
        </p:nvSpPr>
        <p:spPr>
          <a:xfrm>
            <a:off x="8083296" y="5780050"/>
            <a:ext cx="2331720" cy="2148840"/>
          </a:xfrm>
          <a:prstGeom prst="roundRect">
            <a:avLst>
              <a:gd name="adj" fmla="val 5106"/>
            </a:avLst>
          </a:prstGeom>
          <a:solidFill>
            <a:srgbClr val="FFF1DC"/>
          </a:solidFill>
          <a:ln w="12700">
            <a:solidFill>
              <a:srgbClr val="FFF1DC"/>
            </a:solidFill>
            <a:prstDash val="solid"/>
          </a:ln>
        </p:spPr>
        <p:txBody>
          <a:bodyPr/>
          <a:lstStyle/>
          <a:p>
            <a:endParaRPr lang="en-IN"/>
          </a:p>
        </p:txBody>
      </p:sp>
      <p:sp>
        <p:nvSpPr>
          <p:cNvPr id="74" name="Text 67"/>
          <p:cNvSpPr txBox="1"/>
          <p:nvPr/>
        </p:nvSpPr>
        <p:spPr>
          <a:xfrm>
            <a:off x="8174736" y="5844058"/>
            <a:ext cx="731520" cy="411480"/>
          </a:xfrm>
          <a:prstGeom prst="rect">
            <a:avLst/>
          </a:prstGeom>
          <a:noFill/>
          <a:ln/>
        </p:spPr>
        <p:txBody>
          <a:bodyPr wrap="square" lIns="762" tIns="762" rIns="762" bIns="762" rtlCol="0" anchor="t"/>
          <a:lstStyle/>
          <a:p>
            <a:pPr marL="0" indent="0">
              <a:buNone/>
            </a:pPr>
            <a:r>
              <a:rPr lang="en-US" sz="2000" b="1" dirty="0">
                <a:solidFill>
                  <a:srgbClr val="C9660A"/>
                </a:solidFill>
                <a:latin typeface="Arial" pitchFamily="34" charset="0"/>
                <a:ea typeface="Arial" pitchFamily="34" charset="-122"/>
                <a:cs typeface="Arial" pitchFamily="34" charset="-120"/>
              </a:rPr>
              <a:t>P3</a:t>
            </a:r>
            <a:endParaRPr lang="en-US" sz="2000" dirty="0"/>
          </a:p>
        </p:txBody>
      </p:sp>
      <p:sp>
        <p:nvSpPr>
          <p:cNvPr id="75" name="Text 68"/>
          <p:cNvSpPr txBox="1"/>
          <p:nvPr/>
        </p:nvSpPr>
        <p:spPr>
          <a:xfrm>
            <a:off x="8174736" y="6237250"/>
            <a:ext cx="2148840" cy="548640"/>
          </a:xfrm>
          <a:prstGeom prst="rect">
            <a:avLst/>
          </a:prstGeom>
          <a:noFill/>
          <a:ln/>
        </p:spPr>
        <p:txBody>
          <a:bodyPr wrap="square" lIns="762" tIns="762" rIns="762" bIns="762" rtlCol="0" anchor="t"/>
          <a:lstStyle/>
          <a:p>
            <a:pPr marL="0" indent="0">
              <a:buNone/>
            </a:pPr>
            <a:r>
              <a:rPr lang="en-US" sz="1400" b="1" dirty="0">
                <a:solidFill>
                  <a:srgbClr val="2B2B2B"/>
                </a:solidFill>
                <a:latin typeface="Arial" pitchFamily="34" charset="0"/>
                <a:ea typeface="Arial" pitchFamily="34" charset="-122"/>
                <a:cs typeface="Arial" pitchFamily="34" charset="-120"/>
              </a:rPr>
              <a:t>No data to correct it</a:t>
            </a:r>
            <a:endParaRPr lang="en-US" sz="1400" dirty="0"/>
          </a:p>
        </p:txBody>
      </p:sp>
      <p:sp>
        <p:nvSpPr>
          <p:cNvPr id="76" name="Text 69"/>
          <p:cNvSpPr txBox="1"/>
          <p:nvPr/>
        </p:nvSpPr>
        <p:spPr>
          <a:xfrm>
            <a:off x="8174736" y="6695925"/>
            <a:ext cx="2148840" cy="548640"/>
          </a:xfrm>
          <a:prstGeom prst="rect">
            <a:avLst/>
          </a:prstGeom>
          <a:noFill/>
          <a:ln/>
        </p:spPr>
        <p:txBody>
          <a:bodyPr wrap="square" lIns="762" tIns="762" rIns="762" bIns="762" rtlCol="0" anchor="t"/>
          <a:lstStyle/>
          <a:p>
            <a:pPr marL="0" indent="0">
              <a:buNone/>
            </a:pPr>
            <a:r>
              <a:rPr lang="en-US" sz="1400" dirty="0">
                <a:solidFill>
                  <a:srgbClr val="2B2B2B"/>
                </a:solidFill>
                <a:latin typeface="Arial" pitchFamily="34" charset="0"/>
                <a:ea typeface="Arial" pitchFamily="34" charset="-122"/>
                <a:cs typeface="Arial" pitchFamily="34" charset="-120"/>
              </a:rPr>
              <a:t>First price set blind; nothing tells the seller it is wrong</a:t>
            </a:r>
            <a:endParaRPr lang="en-US" sz="1400" dirty="0"/>
          </a:p>
        </p:txBody>
      </p:sp>
      <p:sp>
        <p:nvSpPr>
          <p:cNvPr id="77" name="Text 70"/>
          <p:cNvSpPr txBox="1"/>
          <p:nvPr/>
        </p:nvSpPr>
        <p:spPr>
          <a:xfrm>
            <a:off x="8193614" y="7493508"/>
            <a:ext cx="2148840" cy="502920"/>
          </a:xfrm>
          <a:prstGeom prst="rect">
            <a:avLst/>
          </a:prstGeom>
          <a:noFill/>
          <a:ln/>
        </p:spPr>
        <p:txBody>
          <a:bodyPr wrap="square" lIns="762" tIns="762" rIns="762" bIns="762" rtlCol="0" anchor="t"/>
          <a:lstStyle/>
          <a:p>
            <a:pPr marL="0" indent="0">
              <a:buNone/>
            </a:pPr>
            <a:r>
              <a:rPr lang="en-US" sz="1400" i="1" dirty="0">
                <a:solidFill>
                  <a:srgbClr val="555555"/>
                </a:solidFill>
                <a:latin typeface="Arial" pitchFamily="34" charset="0"/>
                <a:ea typeface="Arial" pitchFamily="34" charset="-122"/>
                <a:cs typeface="Arial" pitchFamily="34" charset="-120"/>
              </a:rPr>
              <a:t>“Sheet price is useless”</a:t>
            </a:r>
            <a:endParaRPr lang="en-US" sz="1400" dirty="0"/>
          </a:p>
        </p:txBody>
      </p:sp>
      <p:sp>
        <p:nvSpPr>
          <p:cNvPr id="78" name="Text 71"/>
          <p:cNvSpPr txBox="1"/>
          <p:nvPr/>
        </p:nvSpPr>
        <p:spPr>
          <a:xfrm>
            <a:off x="457200" y="8111770"/>
            <a:ext cx="2377440" cy="566928"/>
          </a:xfrm>
          <a:prstGeom prst="rect">
            <a:avLst/>
          </a:prstGeom>
          <a:noFill/>
          <a:ln/>
        </p:spPr>
        <p:txBody>
          <a:bodyPr wrap="square" lIns="0" tIns="0" rIns="0" bIns="0" rtlCol="0" anchor="t"/>
          <a:lstStyle/>
          <a:p>
            <a:pPr marL="0" indent="0">
              <a:buNone/>
            </a:pPr>
            <a:r>
              <a:rPr lang="en-US" sz="2600" b="1" dirty="0">
                <a:solidFill>
                  <a:srgbClr val="5B0F4E"/>
                </a:solidFill>
                <a:latin typeface="Arial" pitchFamily="34" charset="0"/>
                <a:ea typeface="Arial" pitchFamily="34" charset="-122"/>
                <a:cs typeface="Arial" pitchFamily="34" charset="-120"/>
              </a:rPr>
              <a:t>4.47 lakh</a:t>
            </a:r>
            <a:endParaRPr lang="en-US" sz="2600" dirty="0"/>
          </a:p>
        </p:txBody>
      </p:sp>
      <p:sp>
        <p:nvSpPr>
          <p:cNvPr id="79" name="Text 72"/>
          <p:cNvSpPr txBox="1"/>
          <p:nvPr/>
        </p:nvSpPr>
        <p:spPr>
          <a:xfrm>
            <a:off x="457200" y="8678698"/>
            <a:ext cx="2240280" cy="685800"/>
          </a:xfrm>
          <a:prstGeom prst="rect">
            <a:avLst/>
          </a:prstGeom>
          <a:noFill/>
          <a:ln/>
        </p:spPr>
        <p:txBody>
          <a:bodyPr wrap="square" lIns="0" tIns="0" rIns="0" bIns="0" rtlCol="0" anchor="t"/>
          <a:lstStyle/>
          <a:p>
            <a:pPr marL="0" indent="0">
              <a:buNone/>
            </a:pPr>
            <a:r>
              <a:rPr lang="en-US" sz="1600" dirty="0">
                <a:solidFill>
                  <a:srgbClr val="555555"/>
                </a:solidFill>
                <a:latin typeface="Arial" pitchFamily="34" charset="0"/>
                <a:ea typeface="Arial" pitchFamily="34" charset="-122"/>
                <a:cs typeface="Arial" pitchFamily="34" charset="-120"/>
              </a:rPr>
              <a:t>net new transacting sellers a year (961k ATS, +87%)</a:t>
            </a:r>
            <a:endParaRPr lang="en-US" sz="1600" dirty="0"/>
          </a:p>
        </p:txBody>
      </p:sp>
      <p:sp>
        <p:nvSpPr>
          <p:cNvPr id="80" name="Text 73"/>
          <p:cNvSpPr txBox="1"/>
          <p:nvPr/>
        </p:nvSpPr>
        <p:spPr>
          <a:xfrm>
            <a:off x="2999232" y="8111770"/>
            <a:ext cx="2377440" cy="566928"/>
          </a:xfrm>
          <a:prstGeom prst="rect">
            <a:avLst/>
          </a:prstGeom>
          <a:noFill/>
          <a:ln/>
        </p:spPr>
        <p:txBody>
          <a:bodyPr wrap="square" lIns="0" tIns="0" rIns="0" bIns="0" rtlCol="0" anchor="t"/>
          <a:lstStyle/>
          <a:p>
            <a:pPr marL="0" indent="0">
              <a:buNone/>
            </a:pPr>
            <a:r>
              <a:rPr lang="en-US" sz="2600" b="1" dirty="0">
                <a:solidFill>
                  <a:srgbClr val="5B0F4E"/>
                </a:solidFill>
                <a:latin typeface="Arial" pitchFamily="34" charset="0"/>
                <a:ea typeface="Arial" pitchFamily="34" charset="-122"/>
                <a:cs typeface="Arial" pitchFamily="34" charset="-120"/>
              </a:rPr>
              <a:t>~15 days</a:t>
            </a:r>
            <a:endParaRPr lang="en-US" sz="2600" dirty="0"/>
          </a:p>
        </p:txBody>
      </p:sp>
      <p:sp>
        <p:nvSpPr>
          <p:cNvPr id="81" name="Text 74"/>
          <p:cNvSpPr txBox="1"/>
          <p:nvPr/>
        </p:nvSpPr>
        <p:spPr>
          <a:xfrm>
            <a:off x="2999232" y="8678698"/>
            <a:ext cx="1673352" cy="685800"/>
          </a:xfrm>
          <a:prstGeom prst="rect">
            <a:avLst/>
          </a:prstGeom>
          <a:noFill/>
          <a:ln/>
        </p:spPr>
        <p:txBody>
          <a:bodyPr wrap="square" lIns="0" tIns="0" rIns="0" bIns="0" rtlCol="0" anchor="t"/>
          <a:lstStyle/>
          <a:p>
            <a:pPr marL="0" indent="0">
              <a:buNone/>
            </a:pPr>
            <a:r>
              <a:rPr lang="en-US" sz="1600" dirty="0">
                <a:solidFill>
                  <a:srgbClr val="555555"/>
                </a:solidFill>
                <a:latin typeface="Arial" pitchFamily="34" charset="0"/>
                <a:ea typeface="Arial" pitchFamily="34" charset="-122"/>
                <a:cs typeface="Arial" pitchFamily="34" charset="-120"/>
              </a:rPr>
              <a:t>for a new seller to get the first order</a:t>
            </a:r>
            <a:endParaRPr lang="en-US" sz="1600" dirty="0"/>
          </a:p>
        </p:txBody>
      </p:sp>
      <p:sp>
        <p:nvSpPr>
          <p:cNvPr id="82" name="Text 75"/>
          <p:cNvSpPr txBox="1"/>
          <p:nvPr/>
        </p:nvSpPr>
        <p:spPr>
          <a:xfrm>
            <a:off x="5541264" y="8111770"/>
            <a:ext cx="2377440" cy="566928"/>
          </a:xfrm>
          <a:prstGeom prst="rect">
            <a:avLst/>
          </a:prstGeom>
          <a:noFill/>
          <a:ln/>
        </p:spPr>
        <p:txBody>
          <a:bodyPr wrap="square" lIns="0" tIns="0" rIns="0" bIns="0" rtlCol="0" anchor="t"/>
          <a:lstStyle/>
          <a:p>
            <a:pPr marL="0" indent="0">
              <a:buNone/>
            </a:pPr>
            <a:r>
              <a:rPr lang="en-US" sz="2600" b="1" dirty="0">
                <a:solidFill>
                  <a:srgbClr val="5B0F4E"/>
                </a:solidFill>
                <a:latin typeface="Arial" pitchFamily="34" charset="0"/>
                <a:ea typeface="Arial" pitchFamily="34" charset="-122"/>
                <a:cs typeface="Arial" pitchFamily="34" charset="-120"/>
              </a:rPr>
              <a:t>72%</a:t>
            </a:r>
            <a:endParaRPr lang="en-US" sz="2600" dirty="0"/>
          </a:p>
        </p:txBody>
      </p:sp>
      <p:sp>
        <p:nvSpPr>
          <p:cNvPr id="83" name="Text 76"/>
          <p:cNvSpPr txBox="1"/>
          <p:nvPr/>
        </p:nvSpPr>
        <p:spPr>
          <a:xfrm>
            <a:off x="5541264" y="8678698"/>
            <a:ext cx="1700784" cy="685800"/>
          </a:xfrm>
          <a:prstGeom prst="rect">
            <a:avLst/>
          </a:prstGeom>
          <a:noFill/>
          <a:ln/>
        </p:spPr>
        <p:txBody>
          <a:bodyPr wrap="square" lIns="0" tIns="0" rIns="0" bIns="0" rtlCol="0" anchor="t"/>
          <a:lstStyle/>
          <a:p>
            <a:pPr marL="0" indent="0">
              <a:buNone/>
            </a:pPr>
            <a:r>
              <a:rPr lang="en-US" sz="1600" dirty="0">
                <a:solidFill>
                  <a:srgbClr val="555555"/>
                </a:solidFill>
                <a:latin typeface="Arial" pitchFamily="34" charset="0"/>
                <a:ea typeface="Arial" pitchFamily="34" charset="-122"/>
                <a:cs typeface="Arial" pitchFamily="34" charset="-120"/>
              </a:rPr>
              <a:t>of Meesho's shipped orders are cash on delivery</a:t>
            </a:r>
            <a:endParaRPr lang="en-US" sz="1600" dirty="0"/>
          </a:p>
        </p:txBody>
      </p:sp>
      <p:sp>
        <p:nvSpPr>
          <p:cNvPr id="84" name="Text 77"/>
          <p:cNvSpPr txBox="1"/>
          <p:nvPr/>
        </p:nvSpPr>
        <p:spPr>
          <a:xfrm>
            <a:off x="8083296" y="8111770"/>
            <a:ext cx="2377440" cy="566928"/>
          </a:xfrm>
          <a:prstGeom prst="rect">
            <a:avLst/>
          </a:prstGeom>
          <a:noFill/>
          <a:ln/>
        </p:spPr>
        <p:txBody>
          <a:bodyPr wrap="square" lIns="0" tIns="0" rIns="0" bIns="0" rtlCol="0" anchor="t"/>
          <a:lstStyle/>
          <a:p>
            <a:pPr marL="0" indent="0">
              <a:buNone/>
            </a:pPr>
            <a:r>
              <a:rPr lang="en-US" sz="2600" b="1" dirty="0">
                <a:solidFill>
                  <a:srgbClr val="5B0F4E"/>
                </a:solidFill>
                <a:latin typeface="Arial" pitchFamily="34" charset="0"/>
                <a:ea typeface="Arial" pitchFamily="34" charset="-122"/>
                <a:cs typeface="Arial" pitchFamily="34" charset="-120"/>
              </a:rPr>
              <a:t>15–20%</a:t>
            </a:r>
            <a:endParaRPr lang="en-US" sz="2600" dirty="0"/>
          </a:p>
        </p:txBody>
      </p:sp>
      <p:sp>
        <p:nvSpPr>
          <p:cNvPr id="85" name="Text 78"/>
          <p:cNvSpPr txBox="1"/>
          <p:nvPr/>
        </p:nvSpPr>
        <p:spPr>
          <a:xfrm>
            <a:off x="8083296" y="8678698"/>
            <a:ext cx="2377440" cy="685800"/>
          </a:xfrm>
          <a:prstGeom prst="rect">
            <a:avLst/>
          </a:prstGeom>
          <a:noFill/>
          <a:ln/>
        </p:spPr>
        <p:txBody>
          <a:bodyPr wrap="square" lIns="0" tIns="0" rIns="0" bIns="0" rtlCol="0" anchor="t"/>
          <a:lstStyle/>
          <a:p>
            <a:pPr marL="0" indent="0">
              <a:buNone/>
            </a:pPr>
            <a:r>
              <a:rPr lang="en-US" sz="1600" dirty="0">
                <a:solidFill>
                  <a:srgbClr val="555555"/>
                </a:solidFill>
                <a:latin typeface="Arial" pitchFamily="34" charset="0"/>
                <a:ea typeface="Arial" pitchFamily="34" charset="-122"/>
                <a:cs typeface="Arial" pitchFamily="34" charset="-120"/>
              </a:rPr>
              <a:t>industry return rate; fashion 25–40%</a:t>
            </a:r>
            <a:endParaRPr lang="en-US" sz="1600" dirty="0"/>
          </a:p>
        </p:txBody>
      </p:sp>
      <p:sp>
        <p:nvSpPr>
          <p:cNvPr id="86" name="Shape 79"/>
          <p:cNvSpPr/>
          <p:nvPr/>
        </p:nvSpPr>
        <p:spPr>
          <a:xfrm>
            <a:off x="10835640" y="5212080"/>
            <a:ext cx="6995160" cy="4160520"/>
          </a:xfrm>
          <a:prstGeom prst="roundRect">
            <a:avLst>
              <a:gd name="adj" fmla="val 2637"/>
            </a:avLst>
          </a:prstGeom>
          <a:solidFill>
            <a:srgbClr val="F3E8F1"/>
          </a:solidFill>
          <a:ln w="12700">
            <a:solidFill>
              <a:srgbClr val="F3E8F1"/>
            </a:solidFill>
            <a:prstDash val="solid"/>
          </a:ln>
        </p:spPr>
        <p:txBody>
          <a:bodyPr/>
          <a:lstStyle/>
          <a:p>
            <a:endParaRPr lang="en-IN"/>
          </a:p>
        </p:txBody>
      </p:sp>
      <p:sp>
        <p:nvSpPr>
          <p:cNvPr id="87" name="Text 80"/>
          <p:cNvSpPr txBox="1"/>
          <p:nvPr/>
        </p:nvSpPr>
        <p:spPr>
          <a:xfrm>
            <a:off x="11018520" y="5303520"/>
            <a:ext cx="6675120" cy="411480"/>
          </a:xfrm>
          <a:prstGeom prst="rect">
            <a:avLst/>
          </a:prstGeom>
          <a:noFill/>
          <a:ln/>
        </p:spPr>
        <p:txBody>
          <a:bodyPr wrap="square" lIns="762" tIns="762" rIns="762" bIns="762" rtlCol="0" anchor="t"/>
          <a:lstStyle/>
          <a:p>
            <a:pPr marL="0" indent="0">
              <a:buNone/>
            </a:pPr>
            <a:r>
              <a:rPr lang="en-US" sz="1500" b="1" dirty="0">
                <a:solidFill>
                  <a:srgbClr val="5B0F4E"/>
                </a:solidFill>
                <a:latin typeface="Arial" pitchFamily="34" charset="0"/>
                <a:ea typeface="Arial" pitchFamily="34" charset="-122"/>
                <a:cs typeface="Arial" pitchFamily="34" charset="-120"/>
              </a:rPr>
              <a:t>Worked example: kurti set copying the ₹299 market price</a:t>
            </a:r>
            <a:endParaRPr lang="en-US" sz="1500" dirty="0"/>
          </a:p>
        </p:txBody>
      </p:sp>
      <p:sp>
        <p:nvSpPr>
          <p:cNvPr id="88" name="Text 81"/>
          <p:cNvSpPr txBox="1"/>
          <p:nvPr/>
        </p:nvSpPr>
        <p:spPr>
          <a:xfrm>
            <a:off x="11018520" y="5715000"/>
            <a:ext cx="3108960" cy="822960"/>
          </a:xfrm>
          <a:prstGeom prst="rect">
            <a:avLst/>
          </a:prstGeom>
          <a:noFill/>
          <a:ln/>
        </p:spPr>
        <p:txBody>
          <a:bodyPr wrap="square" lIns="0" tIns="0" rIns="0" bIns="0" rtlCol="0" anchor="t"/>
          <a:lstStyle/>
          <a:p>
            <a:pPr marL="0" indent="0">
              <a:buNone/>
            </a:pPr>
            <a:r>
              <a:rPr lang="en-US" sz="4400" b="1" dirty="0">
                <a:solidFill>
                  <a:srgbClr val="C62828"/>
                </a:solidFill>
                <a:latin typeface="Arial" pitchFamily="34" charset="0"/>
                <a:ea typeface="Arial" pitchFamily="34" charset="-122"/>
                <a:cs typeface="Arial" pitchFamily="34" charset="-120"/>
              </a:rPr>
              <a:t>−₹10.59</a:t>
            </a:r>
            <a:endParaRPr lang="en-US" sz="4400" dirty="0"/>
          </a:p>
        </p:txBody>
      </p:sp>
      <p:sp>
        <p:nvSpPr>
          <p:cNvPr id="89" name="Text 82"/>
          <p:cNvSpPr txBox="1"/>
          <p:nvPr/>
        </p:nvSpPr>
        <p:spPr>
          <a:xfrm>
            <a:off x="11018520" y="6537960"/>
            <a:ext cx="3108960" cy="731520"/>
          </a:xfrm>
          <a:prstGeom prst="rect">
            <a:avLst/>
          </a:prstGeom>
          <a:noFill/>
          <a:ln/>
        </p:spPr>
        <p:txBody>
          <a:bodyPr wrap="square" lIns="0" tIns="0" rIns="0" bIns="0" rtlCol="0" anchor="t"/>
          <a:lstStyle/>
          <a:p>
            <a:pPr marL="0" indent="0">
              <a:buNone/>
            </a:pPr>
            <a:r>
              <a:rPr lang="en-US" sz="1600" dirty="0">
                <a:solidFill>
                  <a:srgbClr val="2B2B2B"/>
                </a:solidFill>
                <a:latin typeface="Arial" pitchFamily="34" charset="0"/>
                <a:ea typeface="Arial" pitchFamily="34" charset="-122"/>
                <a:cs typeface="Arial" pitchFamily="34" charset="-120"/>
              </a:rPr>
              <a:t>lost on every dispatched order</a:t>
            </a:r>
            <a:endParaRPr lang="en-US" sz="1600" dirty="0"/>
          </a:p>
          <a:p>
            <a:pPr marL="0" indent="0">
              <a:buNone/>
            </a:pPr>
            <a:r>
              <a:rPr lang="en-US" sz="1600" dirty="0">
                <a:solidFill>
                  <a:srgbClr val="2B2B2B"/>
                </a:solidFill>
                <a:latin typeface="Arial" pitchFamily="34" charset="0"/>
                <a:ea typeface="Arial" pitchFamily="34" charset="-122"/>
                <a:cs typeface="Arial" pitchFamily="34" charset="-120"/>
              </a:rPr>
              <a:t>true floor ₹314 vs market ₹299</a:t>
            </a:r>
            <a:endParaRPr lang="en-US" sz="1600" dirty="0"/>
          </a:p>
        </p:txBody>
      </p:sp>
      <p:graphicFrame>
        <p:nvGraphicFramePr>
          <p:cNvPr id="90" name="Table 0"/>
          <p:cNvGraphicFramePr>
            <a:graphicFrameLocks noGrp="1"/>
          </p:cNvGraphicFramePr>
          <p:nvPr>
            <p:extLst>
              <p:ext uri="{D42A27DB-BD31-4B8C-83A1-F6EECF244321}">
                <p14:modId xmlns:p14="http://schemas.microsoft.com/office/powerpoint/2010/main" val="1579011935"/>
              </p:ext>
            </p:extLst>
          </p:nvPr>
        </p:nvGraphicFramePr>
        <p:xfrm>
          <a:off x="14264640" y="5760720"/>
          <a:ext cx="3429000" cy="2633472"/>
        </p:xfrm>
        <a:graphic>
          <a:graphicData uri="http://schemas.openxmlformats.org/drawingml/2006/table">
            <a:tbl>
              <a:tblPr/>
              <a:tblGrid>
                <a:gridCol w="24231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tblGrid>
              <a:tr h="329184">
                <a:tc>
                  <a:txBody>
                    <a:bodyPr/>
                    <a:lstStyle/>
                    <a:p>
                      <a:pPr marL="0" indent="0" algn="l">
                        <a:buNone/>
                      </a:pPr>
                      <a:r>
                        <a:rPr lang="en-US" sz="1150" b="1" dirty="0">
                          <a:solidFill>
                            <a:srgbClr val="FFFFFF"/>
                          </a:solidFill>
                          <a:latin typeface="Arial" pitchFamily="34" charset="0"/>
                          <a:ea typeface="Arial" pitchFamily="34" charset="-122"/>
                          <a:cs typeface="Arial" pitchFamily="34" charset="-120"/>
                        </a:rPr>
                        <a:t>Per 100 dispatched orders</a:t>
                      </a:r>
                      <a:endParaRPr lang="en-US" sz="1150" dirty="0">
                        <a:latin typeface="Arial" charset="0"/>
                        <a:ea typeface="Arial" charset="0"/>
                        <a:cs typeface="Arial" charset="0"/>
                      </a:endParaRPr>
                    </a:p>
                  </a:txBody>
                  <a:tcPr marL="36576" marR="36576" marT="36576" marB="36576">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lgn="r">
                        <a:buNone/>
                      </a:pPr>
                      <a:r>
                        <a:rPr lang="en-US" sz="1150" b="1" dirty="0">
                          <a:solidFill>
                            <a:srgbClr val="FFFFFF"/>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36576" marR="36576" marT="36576" marB="36576">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extLst>
                  <a:ext uri="{0D108BD9-81ED-4DB2-BD59-A6C34878D82A}">
                    <a16:rowId xmlns:a16="http://schemas.microsoft.com/office/drawing/2014/main" val="10000"/>
                  </a:ext>
                </a:extLst>
              </a:tr>
              <a:tr h="329184">
                <a:tc>
                  <a:txBody>
                    <a:bodyPr/>
                    <a:lstStyle/>
                    <a:p>
                      <a:pPr marL="0" indent="0" algn="l">
                        <a:buNone/>
                      </a:pPr>
                      <a:r>
                        <a:rPr lang="en-US" sz="1150" dirty="0">
                          <a:solidFill>
                            <a:srgbClr val="2B2B2B"/>
                          </a:solidFill>
                          <a:latin typeface="Arial" pitchFamily="34" charset="0"/>
                          <a:ea typeface="Arial" pitchFamily="34" charset="-122"/>
                          <a:cs typeface="Arial" pitchFamily="34" charset="-120"/>
                        </a:rPr>
                        <a:t>70 kept × ₹299</a:t>
                      </a:r>
                      <a:endParaRPr lang="en-US" sz="1150" dirty="0">
                        <a:latin typeface="Arial" charset="0"/>
                        <a:ea typeface="Arial" charset="0"/>
                        <a:cs typeface="Arial" charset="0"/>
                      </a:endParaRPr>
                    </a:p>
                  </a:txBody>
                  <a:tcPr marL="36576" marR="36576" marT="36576" marB="36576">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r">
                        <a:buNone/>
                      </a:pPr>
                      <a:r>
                        <a:rPr lang="en-US" sz="1150" dirty="0">
                          <a:solidFill>
                            <a:srgbClr val="2B2B2B"/>
                          </a:solidFill>
                          <a:latin typeface="Arial" pitchFamily="34" charset="0"/>
                          <a:ea typeface="Arial" pitchFamily="34" charset="-122"/>
                          <a:cs typeface="Arial" pitchFamily="34" charset="-120"/>
                        </a:rPr>
                        <a:t>+20,930</a:t>
                      </a:r>
                      <a:endParaRPr lang="en-US" sz="1150" dirty="0">
                        <a:latin typeface="Arial" charset="0"/>
                        <a:ea typeface="Arial" charset="0"/>
                        <a:cs typeface="Arial" charset="0"/>
                      </a:endParaRPr>
                    </a:p>
                  </a:txBody>
                  <a:tcPr marL="36576" marR="36576" marT="36576" marB="36576">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150" dirty="0">
                          <a:solidFill>
                            <a:srgbClr val="2B2B2B"/>
                          </a:solidFill>
                          <a:latin typeface="Arial" pitchFamily="34" charset="0"/>
                          <a:ea typeface="Arial" pitchFamily="34" charset="-122"/>
                          <a:cs typeface="Arial" pitchFamily="34" charset="-120"/>
                        </a:rPr>
                        <a:t>Product cost (kept)</a:t>
                      </a:r>
                      <a:endParaRPr lang="en-US" sz="1150" dirty="0">
                        <a:latin typeface="Arial" charset="0"/>
                        <a:ea typeface="Arial" charset="0"/>
                        <a:cs typeface="Arial" charset="0"/>
                      </a:endParaRPr>
                    </a:p>
                  </a:txBody>
                  <a:tcPr marL="36576" marR="36576" marT="36576" marB="36576">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r">
                        <a:buNone/>
                      </a:pPr>
                      <a:r>
                        <a:rPr lang="en-US" sz="1150" dirty="0">
                          <a:solidFill>
                            <a:srgbClr val="2B2B2B"/>
                          </a:solidFill>
                          <a:latin typeface="Arial" pitchFamily="34" charset="0"/>
                          <a:ea typeface="Arial" pitchFamily="34" charset="-122"/>
                          <a:cs typeface="Arial" pitchFamily="34" charset="-120"/>
                        </a:rPr>
                        <a:t>−13,300</a:t>
                      </a:r>
                      <a:endParaRPr lang="en-US" sz="1150" dirty="0">
                        <a:latin typeface="Arial" charset="0"/>
                        <a:ea typeface="Arial" charset="0"/>
                        <a:cs typeface="Arial" charset="0"/>
                      </a:endParaRPr>
                    </a:p>
                  </a:txBody>
                  <a:tcPr marL="36576" marR="36576" marT="36576" marB="36576">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lgn="l">
                        <a:buNone/>
                      </a:pPr>
                      <a:r>
                        <a:rPr lang="en-US" sz="1150" dirty="0">
                          <a:solidFill>
                            <a:srgbClr val="2B2B2B"/>
                          </a:solidFill>
                          <a:latin typeface="Arial" pitchFamily="34" charset="0"/>
                          <a:ea typeface="Arial" pitchFamily="34" charset="-122"/>
                          <a:cs typeface="Arial" pitchFamily="34" charset="-120"/>
                        </a:rPr>
                        <a:t>Shipping + GST (kept)</a:t>
                      </a:r>
                      <a:endParaRPr lang="en-US" sz="1150" dirty="0">
                        <a:latin typeface="Arial" charset="0"/>
                        <a:ea typeface="Arial" charset="0"/>
                        <a:cs typeface="Arial" charset="0"/>
                      </a:endParaRPr>
                    </a:p>
                  </a:txBody>
                  <a:tcPr marL="36576" marR="36576" marT="36576" marB="36576">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r">
                        <a:buNone/>
                      </a:pPr>
                      <a:r>
                        <a:rPr lang="en-US" sz="1150" dirty="0">
                          <a:solidFill>
                            <a:srgbClr val="2B2B2B"/>
                          </a:solidFill>
                          <a:latin typeface="Arial" pitchFamily="34" charset="0"/>
                          <a:ea typeface="Arial" pitchFamily="34" charset="-122"/>
                          <a:cs typeface="Arial" pitchFamily="34" charset="-120"/>
                        </a:rPr>
                        <a:t>−5,369</a:t>
                      </a:r>
                      <a:endParaRPr lang="en-US" sz="1150" dirty="0">
                        <a:latin typeface="Arial" charset="0"/>
                        <a:ea typeface="Arial" charset="0"/>
                        <a:cs typeface="Arial" charset="0"/>
                      </a:endParaRPr>
                    </a:p>
                  </a:txBody>
                  <a:tcPr marL="36576" marR="36576" marT="36576" marB="36576">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150" dirty="0">
                          <a:solidFill>
                            <a:srgbClr val="2B2B2B"/>
                          </a:solidFill>
                          <a:latin typeface="Arial" pitchFamily="34" charset="0"/>
                          <a:ea typeface="Arial" pitchFamily="34" charset="-122"/>
                          <a:cs typeface="Arial" pitchFamily="34" charset="-120"/>
                        </a:rPr>
                        <a:t>15 RTOs (no reverse fee)</a:t>
                      </a:r>
                      <a:endParaRPr lang="en-US" sz="1150" dirty="0">
                        <a:latin typeface="Arial" charset="0"/>
                        <a:ea typeface="Arial" charset="0"/>
                        <a:cs typeface="Arial" charset="0"/>
                      </a:endParaRPr>
                    </a:p>
                  </a:txBody>
                  <a:tcPr marL="36576" marR="36576" marT="36576" marB="36576">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r">
                        <a:buNone/>
                      </a:pPr>
                      <a:r>
                        <a:rPr lang="en-US" sz="1150" dirty="0">
                          <a:solidFill>
                            <a:srgbClr val="2B2B2B"/>
                          </a:solidFill>
                          <a:latin typeface="Arial" pitchFamily="34" charset="0"/>
                          <a:ea typeface="Arial" pitchFamily="34" charset="-122"/>
                          <a:cs typeface="Arial" pitchFamily="34" charset="-120"/>
                        </a:rPr>
                        <a:t>−225</a:t>
                      </a:r>
                      <a:endParaRPr lang="en-US" sz="1150" dirty="0">
                        <a:latin typeface="Arial" charset="0"/>
                        <a:ea typeface="Arial" charset="0"/>
                        <a:cs typeface="Arial" charset="0"/>
                      </a:endParaRPr>
                    </a:p>
                  </a:txBody>
                  <a:tcPr marL="36576" marR="36576" marT="36576" marB="36576">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lgn="l">
                        <a:buNone/>
                      </a:pPr>
                      <a:r>
                        <a:rPr lang="en-US" sz="1150" dirty="0">
                          <a:solidFill>
                            <a:srgbClr val="2B2B2B"/>
                          </a:solidFill>
                          <a:latin typeface="Arial" pitchFamily="34" charset="0"/>
                          <a:ea typeface="Arial" pitchFamily="34" charset="-122"/>
                          <a:cs typeface="Arial" pitchFamily="34" charset="-120"/>
                        </a:rPr>
                        <a:t>15 customer returns</a:t>
                      </a:r>
                      <a:endParaRPr lang="en-US" sz="1150" dirty="0">
                        <a:latin typeface="Arial" charset="0"/>
                        <a:ea typeface="Arial" charset="0"/>
                        <a:cs typeface="Arial" charset="0"/>
                      </a:endParaRPr>
                    </a:p>
                  </a:txBody>
                  <a:tcPr marL="36576" marR="36576" marT="36576" marB="36576">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r">
                        <a:buNone/>
                      </a:pPr>
                      <a:r>
                        <a:rPr lang="en-US" sz="1150" dirty="0">
                          <a:solidFill>
                            <a:srgbClr val="2B2B2B"/>
                          </a:solidFill>
                          <a:latin typeface="Arial" pitchFamily="34" charset="0"/>
                          <a:ea typeface="Arial" pitchFamily="34" charset="-122"/>
                          <a:cs typeface="Arial" pitchFamily="34" charset="-120"/>
                        </a:rPr>
                        <a:t>−2,295</a:t>
                      </a:r>
                      <a:endParaRPr lang="en-US" sz="1150" dirty="0">
                        <a:latin typeface="Arial" charset="0"/>
                        <a:ea typeface="Arial" charset="0"/>
                        <a:cs typeface="Arial" charset="0"/>
                      </a:endParaRPr>
                    </a:p>
                  </a:txBody>
                  <a:tcPr marL="36576" marR="36576" marT="36576" marB="36576">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lgn="l">
                        <a:buNone/>
                      </a:pPr>
                      <a:r>
                        <a:rPr lang="en-US" sz="1150" dirty="0">
                          <a:solidFill>
                            <a:srgbClr val="2B2B2B"/>
                          </a:solidFill>
                          <a:latin typeface="Arial" pitchFamily="34" charset="0"/>
                          <a:ea typeface="Arial" pitchFamily="34" charset="-122"/>
                          <a:cs typeface="Arial" pitchFamily="34" charset="-120"/>
                        </a:rPr>
                        <a:t>Ads</a:t>
                      </a:r>
                      <a:endParaRPr lang="en-US" sz="1150" dirty="0">
                        <a:latin typeface="Arial" charset="0"/>
                        <a:ea typeface="Arial" charset="0"/>
                        <a:cs typeface="Arial" charset="0"/>
                      </a:endParaRPr>
                    </a:p>
                  </a:txBody>
                  <a:tcPr marL="36576" marR="36576" marT="36576" marB="36576">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r">
                        <a:buNone/>
                      </a:pPr>
                      <a:r>
                        <a:rPr lang="en-US" sz="1150" dirty="0">
                          <a:solidFill>
                            <a:srgbClr val="2B2B2B"/>
                          </a:solidFill>
                          <a:latin typeface="Arial" pitchFamily="34" charset="0"/>
                          <a:ea typeface="Arial" pitchFamily="34" charset="-122"/>
                          <a:cs typeface="Arial" pitchFamily="34" charset="-120"/>
                        </a:rPr>
                        <a:t>−800</a:t>
                      </a:r>
                      <a:endParaRPr lang="en-US" sz="1150" dirty="0">
                        <a:latin typeface="Arial" charset="0"/>
                        <a:ea typeface="Arial" charset="0"/>
                        <a:cs typeface="Arial" charset="0"/>
                      </a:endParaRPr>
                    </a:p>
                  </a:txBody>
                  <a:tcPr marL="36576" marR="36576" marT="36576" marB="36576">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184">
                <a:tc>
                  <a:txBody>
                    <a:bodyPr/>
                    <a:lstStyle/>
                    <a:p>
                      <a:pPr marL="0" indent="0" algn="l">
                        <a:buNone/>
                      </a:pPr>
                      <a:r>
                        <a:rPr lang="en-US" sz="1150" b="1" dirty="0">
                          <a:solidFill>
                            <a:srgbClr val="C62828"/>
                          </a:solidFill>
                          <a:latin typeface="Arial" pitchFamily="34" charset="0"/>
                          <a:ea typeface="Arial" pitchFamily="34" charset="-122"/>
                          <a:cs typeface="Arial" pitchFamily="34" charset="-120"/>
                        </a:rPr>
                        <a:t>Profit</a:t>
                      </a:r>
                      <a:endParaRPr lang="en-US" sz="1150" dirty="0">
                        <a:latin typeface="Arial" charset="0"/>
                        <a:ea typeface="Arial" charset="0"/>
                        <a:cs typeface="Arial" charset="0"/>
                      </a:endParaRPr>
                    </a:p>
                  </a:txBody>
                  <a:tcPr marL="36576" marR="36576" marT="36576" marB="36576">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CE8E6"/>
                    </a:solidFill>
                  </a:tcPr>
                </a:tc>
                <a:tc>
                  <a:txBody>
                    <a:bodyPr/>
                    <a:lstStyle/>
                    <a:p>
                      <a:pPr marL="0" indent="0" algn="r">
                        <a:buNone/>
                      </a:pPr>
                      <a:r>
                        <a:rPr lang="en-US" sz="1150" b="1" dirty="0">
                          <a:solidFill>
                            <a:srgbClr val="C62828"/>
                          </a:solidFill>
                          <a:latin typeface="Arial" pitchFamily="34" charset="0"/>
                          <a:ea typeface="Arial" pitchFamily="34" charset="-122"/>
                          <a:cs typeface="Arial" pitchFamily="34" charset="-120"/>
                        </a:rPr>
                        <a:t>−1,059</a:t>
                      </a:r>
                      <a:endParaRPr lang="en-US" sz="1150" dirty="0">
                        <a:latin typeface="Arial" charset="0"/>
                        <a:ea typeface="Arial" charset="0"/>
                        <a:cs typeface="Arial" charset="0"/>
                      </a:endParaRPr>
                    </a:p>
                  </a:txBody>
                  <a:tcPr marL="36576" marR="36576" marT="36576" marB="36576">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CE8E6"/>
                    </a:solidFill>
                  </a:tcPr>
                </a:tc>
                <a:extLst>
                  <a:ext uri="{0D108BD9-81ED-4DB2-BD59-A6C34878D82A}">
                    <a16:rowId xmlns:a16="http://schemas.microsoft.com/office/drawing/2014/main" val="10007"/>
                  </a:ext>
                </a:extLst>
              </a:tr>
            </a:tbl>
          </a:graphicData>
        </a:graphic>
      </p:graphicFrame>
      <p:sp>
        <p:nvSpPr>
          <p:cNvPr id="91" name="Text 83"/>
          <p:cNvSpPr txBox="1"/>
          <p:nvPr/>
        </p:nvSpPr>
        <p:spPr>
          <a:xfrm>
            <a:off x="11018520" y="7360920"/>
            <a:ext cx="3017520" cy="914400"/>
          </a:xfrm>
          <a:prstGeom prst="rect">
            <a:avLst/>
          </a:prstGeom>
          <a:noFill/>
          <a:ln/>
        </p:spPr>
        <p:txBody>
          <a:bodyPr wrap="square" lIns="0" tIns="0" rIns="0" bIns="0" rtlCol="0" anchor="t"/>
          <a:lstStyle/>
          <a:p>
            <a:pPr marL="0" indent="0">
              <a:buNone/>
            </a:pPr>
            <a:r>
              <a:rPr lang="en-US" sz="1600" i="1" dirty="0">
                <a:solidFill>
                  <a:srgbClr val="C9660A"/>
                </a:solidFill>
                <a:latin typeface="Arial" pitchFamily="34" charset="0"/>
                <a:ea typeface="Arial" pitchFamily="34" charset="-122"/>
                <a:cs typeface="Arial" pitchFamily="34" charset="-120"/>
              </a:rPr>
              <a:t>A customer return costs ~₹153; an RTO ~₹15. Returns are the bigger leak.</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480560" y="502920"/>
            <a:ext cx="8778240" cy="868680"/>
          </a:xfrm>
          <a:prstGeom prst="rect">
            <a:avLst/>
          </a:prstGeom>
          <a:noFill/>
          <a:ln/>
        </p:spPr>
        <p:txBody>
          <a:bodyPr wrap="square" lIns="0" tIns="0" rIns="0" bIns="0" rtlCol="0" anchor="ctr"/>
          <a:lstStyle/>
          <a:p>
            <a:pPr marL="0" indent="0">
              <a:buNone/>
            </a:pPr>
            <a:r>
              <a:rPr lang="en-US" sz="4000" b="1" dirty="0">
                <a:solidFill>
                  <a:srgbClr val="5B0F4E"/>
                </a:solidFill>
                <a:latin typeface="Arial" pitchFamily="34" charset="0"/>
                <a:ea typeface="Arial" pitchFamily="34" charset="-122"/>
                <a:cs typeface="Arial" pitchFamily="34" charset="-120"/>
              </a:rPr>
              <a:t>Segmentation &amp; User Research</a:t>
            </a:r>
            <a:endParaRPr lang="en-US" sz="4000" dirty="0"/>
          </a:p>
        </p:txBody>
      </p:sp>
      <p:sp>
        <p:nvSpPr>
          <p:cNvPr id="3" name="Text 1"/>
          <p:cNvSpPr txBox="1"/>
          <p:nvPr/>
        </p:nvSpPr>
        <p:spPr>
          <a:xfrm>
            <a:off x="4480560" y="1371600"/>
            <a:ext cx="8778240" cy="502920"/>
          </a:xfrm>
          <a:prstGeom prst="rect">
            <a:avLst/>
          </a:prstGeom>
          <a:noFill/>
          <a:ln/>
        </p:spPr>
        <p:txBody>
          <a:bodyPr wrap="square" lIns="0" tIns="0" rIns="0" bIns="0" rtlCol="0" anchor="ctr"/>
          <a:lstStyle/>
          <a:p>
            <a:pPr marL="0" indent="0">
              <a:buNone/>
            </a:pPr>
            <a:r>
              <a:rPr lang="en-US" sz="1700" i="1" dirty="0">
                <a:solidFill>
                  <a:srgbClr val="C9660A"/>
                </a:solidFill>
                <a:latin typeface="Arial" pitchFamily="34" charset="0"/>
                <a:ea typeface="Arial" pitchFamily="34" charset="-122"/>
                <a:cs typeface="Arial" pitchFamily="34" charset="-120"/>
              </a:rPr>
              <a:t>Who we spoke to, what we heard, and which sellers Sahi Daam serves first</a:t>
            </a:r>
            <a:endParaRPr lang="en-US" sz="1700" dirty="0"/>
          </a:p>
        </p:txBody>
      </p:sp>
      <p:sp>
        <p:nvSpPr>
          <p:cNvPr id="4" name="Shape 2"/>
          <p:cNvSpPr/>
          <p:nvPr/>
        </p:nvSpPr>
        <p:spPr>
          <a:xfrm>
            <a:off x="45720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5" name="Text 3"/>
          <p:cNvSpPr txBox="1"/>
          <p:nvPr/>
        </p:nvSpPr>
        <p:spPr>
          <a:xfrm>
            <a:off x="45720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PROBLEM</a:t>
            </a:r>
            <a:endParaRPr lang="en-US" sz="1250" dirty="0"/>
          </a:p>
        </p:txBody>
      </p:sp>
      <p:sp>
        <p:nvSpPr>
          <p:cNvPr id="6" name="Shape 4"/>
          <p:cNvSpPr/>
          <p:nvPr/>
        </p:nvSpPr>
        <p:spPr>
          <a:xfrm>
            <a:off x="2194560" y="2542032"/>
            <a:ext cx="1700784" cy="420624"/>
          </a:xfrm>
          <a:prstGeom prst="rect">
            <a:avLst/>
          </a:prstGeom>
          <a:solidFill>
            <a:srgbClr val="F29A1F"/>
          </a:solidFill>
          <a:ln w="12700">
            <a:solidFill>
              <a:srgbClr val="F29A1F"/>
            </a:solidFill>
            <a:prstDash val="solid"/>
          </a:ln>
        </p:spPr>
        <p:txBody>
          <a:bodyPr/>
          <a:lstStyle/>
          <a:p>
            <a:endParaRPr lang="en-IN"/>
          </a:p>
        </p:txBody>
      </p:sp>
      <p:sp>
        <p:nvSpPr>
          <p:cNvPr id="7" name="Text 5"/>
          <p:cNvSpPr txBox="1"/>
          <p:nvPr/>
        </p:nvSpPr>
        <p:spPr>
          <a:xfrm>
            <a:off x="219456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SEGMENTATION</a:t>
            </a:r>
            <a:endParaRPr lang="en-US" sz="1250" dirty="0"/>
          </a:p>
        </p:txBody>
      </p:sp>
      <p:sp>
        <p:nvSpPr>
          <p:cNvPr id="8" name="Shape 6"/>
          <p:cNvSpPr/>
          <p:nvPr/>
        </p:nvSpPr>
        <p:spPr>
          <a:xfrm>
            <a:off x="393192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9" name="Text 7"/>
          <p:cNvSpPr txBox="1"/>
          <p:nvPr/>
        </p:nvSpPr>
        <p:spPr>
          <a:xfrm>
            <a:off x="393192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PRIORITISATION</a:t>
            </a:r>
            <a:endParaRPr lang="en-US" sz="1250" dirty="0"/>
          </a:p>
        </p:txBody>
      </p:sp>
      <p:sp>
        <p:nvSpPr>
          <p:cNvPr id="10" name="Shape 8"/>
          <p:cNvSpPr/>
          <p:nvPr/>
        </p:nvSpPr>
        <p:spPr>
          <a:xfrm>
            <a:off x="566928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1" name="Text 9"/>
          <p:cNvSpPr txBox="1"/>
          <p:nvPr/>
        </p:nvSpPr>
        <p:spPr>
          <a:xfrm>
            <a:off x="566928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BENCHMARKING</a:t>
            </a:r>
            <a:endParaRPr lang="en-US" sz="1250" dirty="0"/>
          </a:p>
        </p:txBody>
      </p:sp>
      <p:sp>
        <p:nvSpPr>
          <p:cNvPr id="12" name="Shape 10"/>
          <p:cNvSpPr/>
          <p:nvPr/>
        </p:nvSpPr>
        <p:spPr>
          <a:xfrm>
            <a:off x="740664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3" name="Text 11"/>
          <p:cNvSpPr txBox="1"/>
          <p:nvPr/>
        </p:nvSpPr>
        <p:spPr>
          <a:xfrm>
            <a:off x="740664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SOLUTION</a:t>
            </a:r>
            <a:endParaRPr lang="en-US" sz="1250" dirty="0"/>
          </a:p>
        </p:txBody>
      </p:sp>
      <p:sp>
        <p:nvSpPr>
          <p:cNvPr id="14" name="Shape 12"/>
          <p:cNvSpPr/>
          <p:nvPr/>
        </p:nvSpPr>
        <p:spPr>
          <a:xfrm>
            <a:off x="914400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5" name="Text 13"/>
          <p:cNvSpPr txBox="1"/>
          <p:nvPr/>
        </p:nvSpPr>
        <p:spPr>
          <a:xfrm>
            <a:off x="914400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MUNAFA METER</a:t>
            </a:r>
            <a:endParaRPr lang="en-US" sz="1250" dirty="0"/>
          </a:p>
        </p:txBody>
      </p:sp>
      <p:sp>
        <p:nvSpPr>
          <p:cNvPr id="16" name="Shape 14"/>
          <p:cNvSpPr/>
          <p:nvPr/>
        </p:nvSpPr>
        <p:spPr>
          <a:xfrm>
            <a:off x="1088136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7" name="Text 15"/>
          <p:cNvSpPr txBox="1"/>
          <p:nvPr/>
        </p:nvSpPr>
        <p:spPr>
          <a:xfrm>
            <a:off x="1088136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SMART BAND</a:t>
            </a:r>
            <a:endParaRPr lang="en-US" sz="1250" dirty="0"/>
          </a:p>
        </p:txBody>
      </p:sp>
      <p:sp>
        <p:nvSpPr>
          <p:cNvPr id="18" name="Shape 16"/>
          <p:cNvSpPr/>
          <p:nvPr/>
        </p:nvSpPr>
        <p:spPr>
          <a:xfrm>
            <a:off x="1261872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9" name="Text 17"/>
          <p:cNvSpPr txBox="1"/>
          <p:nvPr/>
        </p:nvSpPr>
        <p:spPr>
          <a:xfrm>
            <a:off x="1261872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AUTOPILOT</a:t>
            </a:r>
            <a:endParaRPr lang="en-US" sz="1250" dirty="0"/>
          </a:p>
        </p:txBody>
      </p:sp>
      <p:sp>
        <p:nvSpPr>
          <p:cNvPr id="20" name="Shape 18"/>
          <p:cNvSpPr/>
          <p:nvPr/>
        </p:nvSpPr>
        <p:spPr>
          <a:xfrm>
            <a:off x="1435608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21" name="Text 19"/>
          <p:cNvSpPr txBox="1"/>
          <p:nvPr/>
        </p:nvSpPr>
        <p:spPr>
          <a:xfrm>
            <a:off x="1435608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IMPACT</a:t>
            </a:r>
            <a:endParaRPr lang="en-US" sz="1250" dirty="0"/>
          </a:p>
        </p:txBody>
      </p:sp>
      <p:sp>
        <p:nvSpPr>
          <p:cNvPr id="22" name="Shape 20"/>
          <p:cNvSpPr/>
          <p:nvPr/>
        </p:nvSpPr>
        <p:spPr>
          <a:xfrm>
            <a:off x="1609344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23" name="Text 21"/>
          <p:cNvSpPr txBox="1"/>
          <p:nvPr/>
        </p:nvSpPr>
        <p:spPr>
          <a:xfrm>
            <a:off x="1609344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PITFALLS</a:t>
            </a:r>
            <a:endParaRPr lang="en-US" sz="1250" dirty="0"/>
          </a:p>
        </p:txBody>
      </p:sp>
      <p:sp>
        <p:nvSpPr>
          <p:cNvPr id="24" name="Text 22"/>
          <p:cNvSpPr txBox="1"/>
          <p:nvPr/>
        </p:nvSpPr>
        <p:spPr>
          <a:xfrm>
            <a:off x="457200" y="3108960"/>
            <a:ext cx="5120640" cy="384048"/>
          </a:xfrm>
          <a:prstGeom prst="rect">
            <a:avLst/>
          </a:prstGeom>
          <a:noFill/>
          <a:ln/>
        </p:spPr>
        <p:txBody>
          <a:bodyPr wrap="square" lIns="762" tIns="762" rIns="762" bIns="762" rtlCol="0" anchor="t"/>
          <a:lstStyle/>
          <a:p>
            <a:pPr marL="0" indent="0">
              <a:buNone/>
            </a:pPr>
            <a:r>
              <a:rPr lang="en-US" sz="1700" b="1" dirty="0">
                <a:solidFill>
                  <a:srgbClr val="5B0F4E"/>
                </a:solidFill>
                <a:latin typeface="Arial" pitchFamily="34" charset="0"/>
                <a:ea typeface="Arial" pitchFamily="34" charset="-122"/>
                <a:cs typeface="Arial" pitchFamily="34" charset="-120"/>
              </a:rPr>
              <a:t>Research methods</a:t>
            </a:r>
            <a:endParaRPr lang="en-US" sz="1700" dirty="0"/>
          </a:p>
        </p:txBody>
      </p:sp>
      <p:sp>
        <p:nvSpPr>
          <p:cNvPr id="25" name="Shape 23"/>
          <p:cNvSpPr/>
          <p:nvPr/>
        </p:nvSpPr>
        <p:spPr>
          <a:xfrm>
            <a:off x="457200" y="3520440"/>
            <a:ext cx="566928" cy="566928"/>
          </a:xfrm>
          <a:prstGeom prst="ellipse">
            <a:avLst/>
          </a:prstGeom>
          <a:solidFill>
            <a:srgbClr val="5B0F4E"/>
          </a:solidFill>
          <a:ln w="12700">
            <a:solidFill>
              <a:srgbClr val="5B0F4E"/>
            </a:solidFill>
            <a:prstDash val="solid"/>
          </a:ln>
        </p:spPr>
        <p:txBody>
          <a:bodyPr/>
          <a:lstStyle/>
          <a:p>
            <a:endParaRPr lang="en-IN"/>
          </a:p>
        </p:txBody>
      </p:sp>
      <p:pic>
        <p:nvPicPr>
          <p:cNvPr id="26" name="Image 0" descr="preencoded.png"/>
          <p:cNvPicPr>
            <a:picLocks noChangeAspect="1"/>
          </p:cNvPicPr>
          <p:nvPr/>
        </p:nvPicPr>
        <p:blipFill>
          <a:blip r:embed="rId4"/>
          <a:stretch>
            <a:fillRect/>
          </a:stretch>
        </p:blipFill>
        <p:spPr>
          <a:xfrm>
            <a:off x="593263" y="3656503"/>
            <a:ext cx="294803" cy="294803"/>
          </a:xfrm>
          <a:prstGeom prst="rect">
            <a:avLst/>
          </a:prstGeom>
        </p:spPr>
      </p:pic>
      <p:sp>
        <p:nvSpPr>
          <p:cNvPr id="27" name="Text 24"/>
          <p:cNvSpPr txBox="1"/>
          <p:nvPr/>
        </p:nvSpPr>
        <p:spPr>
          <a:xfrm>
            <a:off x="1143000" y="3483864"/>
            <a:ext cx="4480560" cy="329184"/>
          </a:xfrm>
          <a:prstGeom prst="rect">
            <a:avLst/>
          </a:prstGeom>
          <a:noFill/>
          <a:ln/>
        </p:spPr>
        <p:txBody>
          <a:bodyPr wrap="square" lIns="762" tIns="762" rIns="762" bIns="762" rtlCol="0" anchor="t"/>
          <a:lstStyle/>
          <a:p>
            <a:pPr marL="0" indent="0">
              <a:buNone/>
            </a:pPr>
            <a:r>
              <a:rPr lang="en-US" sz="1450" b="1" dirty="0">
                <a:solidFill>
                  <a:srgbClr val="5B0F4E"/>
                </a:solidFill>
                <a:latin typeface="Arial" pitchFamily="34" charset="0"/>
                <a:ea typeface="Arial" pitchFamily="34" charset="-122"/>
                <a:cs typeface="Arial" pitchFamily="34" charset="-120"/>
              </a:rPr>
              <a:t>5 seller conversations</a:t>
            </a:r>
            <a:endParaRPr lang="en-US" sz="1450" dirty="0"/>
          </a:p>
        </p:txBody>
      </p:sp>
      <p:sp>
        <p:nvSpPr>
          <p:cNvPr id="28" name="Text 25"/>
          <p:cNvSpPr txBox="1"/>
          <p:nvPr/>
        </p:nvSpPr>
        <p:spPr>
          <a:xfrm>
            <a:off x="1143000" y="3813048"/>
            <a:ext cx="4480560" cy="457200"/>
          </a:xfrm>
          <a:prstGeom prst="rect">
            <a:avLst/>
          </a:prstGeom>
          <a:noFill/>
          <a:ln/>
        </p:spPr>
        <p:txBody>
          <a:bodyPr wrap="square" lIns="762" tIns="762" rIns="762" bIns="762" rtlCol="0" anchor="t"/>
          <a:lstStyle/>
          <a:p>
            <a:pPr marL="0" indent="0">
              <a:buNone/>
            </a:pPr>
            <a:r>
              <a:rPr lang="en-US" sz="1400" dirty="0">
                <a:solidFill>
                  <a:srgbClr val="2B2B2B"/>
                </a:solidFill>
                <a:latin typeface="Arial" pitchFamily="34" charset="0"/>
                <a:ea typeface="Arial" pitchFamily="34" charset="-122"/>
                <a:cs typeface="Arial" pitchFamily="34" charset="-120"/>
              </a:rPr>
              <a:t>1 LinkedIn · 3 In-person · 1 Phone call </a:t>
            </a:r>
            <a:endParaRPr lang="en-US" sz="1400" dirty="0"/>
          </a:p>
        </p:txBody>
      </p:sp>
      <p:sp>
        <p:nvSpPr>
          <p:cNvPr id="29" name="Shape 26"/>
          <p:cNvSpPr/>
          <p:nvPr/>
        </p:nvSpPr>
        <p:spPr>
          <a:xfrm>
            <a:off x="457200" y="4361688"/>
            <a:ext cx="566928" cy="566928"/>
          </a:xfrm>
          <a:prstGeom prst="ellipse">
            <a:avLst/>
          </a:prstGeom>
          <a:solidFill>
            <a:srgbClr val="5B0F4E"/>
          </a:solidFill>
          <a:ln w="12700">
            <a:solidFill>
              <a:srgbClr val="5B0F4E"/>
            </a:solidFill>
            <a:prstDash val="solid"/>
          </a:ln>
        </p:spPr>
        <p:txBody>
          <a:bodyPr/>
          <a:lstStyle/>
          <a:p>
            <a:endParaRPr lang="en-IN"/>
          </a:p>
        </p:txBody>
      </p:sp>
      <p:pic>
        <p:nvPicPr>
          <p:cNvPr id="30" name="Image 1" descr="preencoded.png"/>
          <p:cNvPicPr>
            <a:picLocks noChangeAspect="1"/>
          </p:cNvPicPr>
          <p:nvPr/>
        </p:nvPicPr>
        <p:blipFill>
          <a:blip r:embed="rId5"/>
          <a:stretch>
            <a:fillRect/>
          </a:stretch>
        </p:blipFill>
        <p:spPr>
          <a:xfrm>
            <a:off x="593263" y="4497751"/>
            <a:ext cx="294803" cy="294803"/>
          </a:xfrm>
          <a:prstGeom prst="rect">
            <a:avLst/>
          </a:prstGeom>
        </p:spPr>
      </p:pic>
      <p:sp>
        <p:nvSpPr>
          <p:cNvPr id="31" name="Text 27"/>
          <p:cNvSpPr txBox="1"/>
          <p:nvPr/>
        </p:nvSpPr>
        <p:spPr>
          <a:xfrm>
            <a:off x="1143000" y="4325112"/>
            <a:ext cx="4480560" cy="329184"/>
          </a:xfrm>
          <a:prstGeom prst="rect">
            <a:avLst/>
          </a:prstGeom>
          <a:noFill/>
          <a:ln/>
        </p:spPr>
        <p:txBody>
          <a:bodyPr wrap="square" lIns="762" tIns="762" rIns="762" bIns="762" rtlCol="0" anchor="t"/>
          <a:lstStyle/>
          <a:p>
            <a:pPr marL="0" indent="0">
              <a:buNone/>
            </a:pPr>
            <a:r>
              <a:rPr lang="en-US" sz="1450" b="1" dirty="0">
                <a:solidFill>
                  <a:srgbClr val="5B0F4E"/>
                </a:solidFill>
                <a:latin typeface="Arial" pitchFamily="34" charset="0"/>
                <a:ea typeface="Arial" pitchFamily="34" charset="-122"/>
                <a:cs typeface="Arial" pitchFamily="34" charset="-120"/>
              </a:rPr>
              <a:t>Buyer survey (Google Form)</a:t>
            </a:r>
            <a:endParaRPr lang="en-US" sz="1450" dirty="0"/>
          </a:p>
        </p:txBody>
      </p:sp>
      <p:sp>
        <p:nvSpPr>
          <p:cNvPr id="32" name="Text 28"/>
          <p:cNvSpPr txBox="1"/>
          <p:nvPr/>
        </p:nvSpPr>
        <p:spPr>
          <a:xfrm>
            <a:off x="1143000" y="4654296"/>
            <a:ext cx="4480560" cy="457200"/>
          </a:xfrm>
          <a:prstGeom prst="rect">
            <a:avLst/>
          </a:prstGeom>
          <a:noFill/>
          <a:ln/>
        </p:spPr>
        <p:txBody>
          <a:bodyPr wrap="square" lIns="762" tIns="762" rIns="762" bIns="762" rtlCol="0" anchor="t"/>
          <a:lstStyle/>
          <a:p>
            <a:pPr marL="0" indent="0">
              <a:buNone/>
            </a:pPr>
            <a:r>
              <a:rPr lang="en-US" sz="1400" dirty="0">
                <a:solidFill>
                  <a:srgbClr val="2B2B2B"/>
                </a:solidFill>
                <a:latin typeface="Arial" pitchFamily="34" charset="0"/>
                <a:ea typeface="Arial" pitchFamily="34" charset="-122"/>
                <a:cs typeface="Arial" pitchFamily="34" charset="-120"/>
              </a:rPr>
              <a:t>20 questions on price, COD, returns</a:t>
            </a:r>
            <a:endParaRPr lang="en-US" sz="1400" dirty="0"/>
          </a:p>
        </p:txBody>
      </p:sp>
      <p:sp>
        <p:nvSpPr>
          <p:cNvPr id="33" name="Shape 29"/>
          <p:cNvSpPr/>
          <p:nvPr/>
        </p:nvSpPr>
        <p:spPr>
          <a:xfrm>
            <a:off x="457200" y="5202936"/>
            <a:ext cx="566928" cy="566928"/>
          </a:xfrm>
          <a:prstGeom prst="ellipse">
            <a:avLst/>
          </a:prstGeom>
          <a:solidFill>
            <a:srgbClr val="5B0F4E"/>
          </a:solidFill>
          <a:ln w="12700">
            <a:solidFill>
              <a:srgbClr val="5B0F4E"/>
            </a:solidFill>
            <a:prstDash val="solid"/>
          </a:ln>
        </p:spPr>
        <p:txBody>
          <a:bodyPr/>
          <a:lstStyle/>
          <a:p>
            <a:endParaRPr lang="en-IN"/>
          </a:p>
        </p:txBody>
      </p:sp>
      <p:pic>
        <p:nvPicPr>
          <p:cNvPr id="34" name="Image 2" descr="preencoded.png"/>
          <p:cNvPicPr>
            <a:picLocks noChangeAspect="1"/>
          </p:cNvPicPr>
          <p:nvPr/>
        </p:nvPicPr>
        <p:blipFill>
          <a:blip r:embed="rId6"/>
          <a:stretch>
            <a:fillRect/>
          </a:stretch>
        </p:blipFill>
        <p:spPr>
          <a:xfrm>
            <a:off x="593263" y="5338999"/>
            <a:ext cx="294803" cy="294803"/>
          </a:xfrm>
          <a:prstGeom prst="rect">
            <a:avLst/>
          </a:prstGeom>
        </p:spPr>
      </p:pic>
      <p:sp>
        <p:nvSpPr>
          <p:cNvPr id="35" name="Text 30"/>
          <p:cNvSpPr txBox="1"/>
          <p:nvPr/>
        </p:nvSpPr>
        <p:spPr>
          <a:xfrm>
            <a:off x="1143000" y="5166360"/>
            <a:ext cx="4480560" cy="329184"/>
          </a:xfrm>
          <a:prstGeom prst="rect">
            <a:avLst/>
          </a:prstGeom>
          <a:noFill/>
          <a:ln/>
        </p:spPr>
        <p:txBody>
          <a:bodyPr wrap="square" lIns="762" tIns="762" rIns="762" bIns="762" rtlCol="0" anchor="t"/>
          <a:lstStyle/>
          <a:p>
            <a:pPr marL="0" indent="0">
              <a:buNone/>
            </a:pPr>
            <a:r>
              <a:rPr lang="en-US" sz="1450" b="1" dirty="0">
                <a:solidFill>
                  <a:srgbClr val="5B0F4E"/>
                </a:solidFill>
                <a:latin typeface="Arial" pitchFamily="34" charset="0"/>
                <a:ea typeface="Arial" pitchFamily="34" charset="-122"/>
                <a:cs typeface="Arial" pitchFamily="34" charset="-120"/>
              </a:rPr>
              <a:t>33 published sources</a:t>
            </a:r>
            <a:endParaRPr lang="en-US" sz="1450" dirty="0"/>
          </a:p>
        </p:txBody>
      </p:sp>
      <p:sp>
        <p:nvSpPr>
          <p:cNvPr id="36" name="Text 31"/>
          <p:cNvSpPr txBox="1"/>
          <p:nvPr/>
        </p:nvSpPr>
        <p:spPr>
          <a:xfrm>
            <a:off x="1143000" y="5495544"/>
            <a:ext cx="4480560" cy="457200"/>
          </a:xfrm>
          <a:prstGeom prst="rect">
            <a:avLst/>
          </a:prstGeom>
          <a:noFill/>
          <a:ln/>
        </p:spPr>
        <p:txBody>
          <a:bodyPr wrap="square" lIns="762" tIns="762" rIns="762" bIns="762" rtlCol="0" anchor="t"/>
          <a:lstStyle/>
          <a:p>
            <a:pPr marL="0" indent="0">
              <a:buNone/>
            </a:pPr>
            <a:r>
              <a:rPr lang="en-US" sz="1400" dirty="0">
                <a:solidFill>
                  <a:srgbClr val="2B2B2B"/>
                </a:solidFill>
                <a:latin typeface="Arial" pitchFamily="34" charset="0"/>
                <a:ea typeface="Arial" pitchFamily="34" charset="-122"/>
                <a:cs typeface="Arial" pitchFamily="34" charset="-120"/>
              </a:rPr>
              <a:t>Meesho FY26 results &amp; RHP, GoKwik, Unicommerce, seller-fee guides</a:t>
            </a:r>
            <a:endParaRPr lang="en-US" sz="1400" dirty="0"/>
          </a:p>
        </p:txBody>
      </p:sp>
      <p:sp>
        <p:nvSpPr>
          <p:cNvPr id="37" name="Shape 32"/>
          <p:cNvSpPr/>
          <p:nvPr/>
        </p:nvSpPr>
        <p:spPr>
          <a:xfrm>
            <a:off x="457200" y="6044184"/>
            <a:ext cx="566928" cy="566928"/>
          </a:xfrm>
          <a:prstGeom prst="ellipse">
            <a:avLst/>
          </a:prstGeom>
          <a:solidFill>
            <a:srgbClr val="5B0F4E"/>
          </a:solidFill>
          <a:ln w="12700">
            <a:solidFill>
              <a:srgbClr val="5B0F4E"/>
            </a:solidFill>
            <a:prstDash val="solid"/>
          </a:ln>
        </p:spPr>
        <p:txBody>
          <a:bodyPr/>
          <a:lstStyle/>
          <a:p>
            <a:endParaRPr lang="en-IN"/>
          </a:p>
        </p:txBody>
      </p:sp>
      <p:pic>
        <p:nvPicPr>
          <p:cNvPr id="38" name="Image 3" descr="preencoded.png"/>
          <p:cNvPicPr>
            <a:picLocks noChangeAspect="1"/>
          </p:cNvPicPr>
          <p:nvPr/>
        </p:nvPicPr>
        <p:blipFill>
          <a:blip r:embed="rId7"/>
          <a:stretch>
            <a:fillRect/>
          </a:stretch>
        </p:blipFill>
        <p:spPr>
          <a:xfrm>
            <a:off x="593263" y="6180247"/>
            <a:ext cx="294803" cy="294803"/>
          </a:xfrm>
          <a:prstGeom prst="rect">
            <a:avLst/>
          </a:prstGeom>
        </p:spPr>
      </p:pic>
      <p:sp>
        <p:nvSpPr>
          <p:cNvPr id="39" name="Text 33"/>
          <p:cNvSpPr txBox="1"/>
          <p:nvPr/>
        </p:nvSpPr>
        <p:spPr>
          <a:xfrm>
            <a:off x="1143000" y="6007608"/>
            <a:ext cx="4480560" cy="329184"/>
          </a:xfrm>
          <a:prstGeom prst="rect">
            <a:avLst/>
          </a:prstGeom>
          <a:noFill/>
          <a:ln/>
        </p:spPr>
        <p:txBody>
          <a:bodyPr wrap="square" lIns="762" tIns="762" rIns="762" bIns="762" rtlCol="0" anchor="t"/>
          <a:lstStyle/>
          <a:p>
            <a:pPr marL="0" indent="0">
              <a:buNone/>
            </a:pPr>
            <a:r>
              <a:rPr lang="en-US" sz="1450" b="1" dirty="0">
                <a:solidFill>
                  <a:srgbClr val="5B0F4E"/>
                </a:solidFill>
                <a:latin typeface="Arial" pitchFamily="34" charset="0"/>
                <a:ea typeface="Arial" pitchFamily="34" charset="-122"/>
                <a:cs typeface="Arial" pitchFamily="34" charset="-120"/>
              </a:rPr>
              <a:t>5-platform benchmark</a:t>
            </a:r>
            <a:endParaRPr lang="en-US" sz="1450" dirty="0"/>
          </a:p>
        </p:txBody>
      </p:sp>
      <p:sp>
        <p:nvSpPr>
          <p:cNvPr id="40" name="Text 34"/>
          <p:cNvSpPr txBox="1"/>
          <p:nvPr/>
        </p:nvSpPr>
        <p:spPr>
          <a:xfrm>
            <a:off x="1143000" y="6336792"/>
            <a:ext cx="4480560" cy="457200"/>
          </a:xfrm>
          <a:prstGeom prst="rect">
            <a:avLst/>
          </a:prstGeom>
          <a:noFill/>
          <a:ln/>
        </p:spPr>
        <p:txBody>
          <a:bodyPr wrap="square" lIns="762" tIns="762" rIns="762" bIns="762" rtlCol="0" anchor="t"/>
          <a:lstStyle/>
          <a:p>
            <a:pPr marL="0" indent="0">
              <a:buNone/>
            </a:pPr>
            <a:r>
              <a:rPr lang="en-US" sz="1400" dirty="0">
                <a:solidFill>
                  <a:srgbClr val="2B2B2B"/>
                </a:solidFill>
                <a:latin typeface="Arial" pitchFamily="34" charset="0"/>
                <a:ea typeface="Arial" pitchFamily="34" charset="-122"/>
                <a:cs typeface="Arial" pitchFamily="34" charset="-120"/>
              </a:rPr>
              <a:t>Meesho, Amazon, Flipkart, Walmart, Temu</a:t>
            </a:r>
            <a:endParaRPr lang="en-US" sz="1400" dirty="0"/>
          </a:p>
        </p:txBody>
      </p:sp>
      <p:sp>
        <p:nvSpPr>
          <p:cNvPr id="41" name="Text 35"/>
          <p:cNvSpPr txBox="1"/>
          <p:nvPr/>
        </p:nvSpPr>
        <p:spPr>
          <a:xfrm>
            <a:off x="465553" y="7156522"/>
            <a:ext cx="5802512" cy="609201"/>
          </a:xfrm>
          <a:prstGeom prst="rect">
            <a:avLst/>
          </a:prstGeom>
          <a:noFill/>
          <a:ln/>
        </p:spPr>
        <p:txBody>
          <a:bodyPr wrap="square" lIns="762" tIns="762" rIns="762" bIns="762" rtlCol="0" anchor="t"/>
          <a:lstStyle/>
          <a:p>
            <a:pPr marL="0" indent="0">
              <a:buNone/>
            </a:pPr>
            <a:r>
              <a:rPr lang="en-US" sz="1700" b="1" dirty="0">
                <a:solidFill>
                  <a:srgbClr val="5B0F4E"/>
                </a:solidFill>
                <a:latin typeface="Arial" pitchFamily="34" charset="0"/>
                <a:ea typeface="Arial" pitchFamily="34" charset="-122"/>
                <a:cs typeface="Arial" pitchFamily="34" charset="-120"/>
              </a:rPr>
              <a:t>Segmentation: Pricing Literacy × Online Maturity</a:t>
            </a:r>
            <a:endParaRPr lang="en-US" sz="1700" dirty="0"/>
          </a:p>
        </p:txBody>
      </p:sp>
      <p:sp>
        <p:nvSpPr>
          <p:cNvPr id="42" name="Shape 36"/>
          <p:cNvSpPr/>
          <p:nvPr/>
        </p:nvSpPr>
        <p:spPr>
          <a:xfrm>
            <a:off x="3238674" y="7723451"/>
            <a:ext cx="2756416" cy="845457"/>
          </a:xfrm>
          <a:prstGeom prst="roundRect">
            <a:avLst>
              <a:gd name="adj" fmla="val 12000"/>
            </a:avLst>
          </a:prstGeom>
          <a:solidFill>
            <a:srgbClr val="F4F4F4"/>
          </a:solidFill>
          <a:ln w="12700">
            <a:solidFill>
              <a:srgbClr val="F4F4F4"/>
            </a:solidFill>
            <a:prstDash val="solid"/>
          </a:ln>
        </p:spPr>
        <p:txBody>
          <a:bodyPr/>
          <a:lstStyle/>
          <a:p>
            <a:endParaRPr lang="en-IN"/>
          </a:p>
        </p:txBody>
      </p:sp>
      <p:sp>
        <p:nvSpPr>
          <p:cNvPr id="43" name="Text 37"/>
          <p:cNvSpPr txBox="1"/>
          <p:nvPr/>
        </p:nvSpPr>
        <p:spPr>
          <a:xfrm>
            <a:off x="3305497" y="7765724"/>
            <a:ext cx="2631124" cy="507274"/>
          </a:xfrm>
          <a:prstGeom prst="rect">
            <a:avLst/>
          </a:prstGeom>
          <a:noFill/>
          <a:ln/>
        </p:spPr>
        <p:txBody>
          <a:bodyPr wrap="square" lIns="762" tIns="762" rIns="762" bIns="762" rtlCol="0" anchor="t"/>
          <a:lstStyle/>
          <a:p>
            <a:pPr marL="0" indent="0">
              <a:buNone/>
            </a:pPr>
            <a:r>
              <a:rPr lang="en-US" sz="1200" b="1" dirty="0">
                <a:solidFill>
                  <a:srgbClr val="2B2B2B"/>
                </a:solidFill>
                <a:latin typeface="Arial" pitchFamily="34" charset="0"/>
                <a:ea typeface="Arial" pitchFamily="34" charset="-122"/>
                <a:cs typeface="Arial" pitchFamily="34" charset="-120"/>
              </a:rPr>
              <a:t>Experienced online,</a:t>
            </a:r>
            <a:endParaRPr lang="en-US" sz="1200" dirty="0"/>
          </a:p>
          <a:p>
            <a:pPr marL="0" indent="0">
              <a:buNone/>
            </a:pPr>
            <a:r>
              <a:rPr lang="en-US" sz="1200" b="1" dirty="0">
                <a:solidFill>
                  <a:srgbClr val="2B2B2B"/>
                </a:solidFill>
                <a:latin typeface="Arial" pitchFamily="34" charset="0"/>
                <a:ea typeface="Arial" pitchFamily="34" charset="-122"/>
                <a:cs typeface="Arial" pitchFamily="34" charset="-120"/>
              </a:rPr>
              <a:t>high literacy</a:t>
            </a:r>
            <a:endParaRPr lang="en-US" sz="1200" dirty="0"/>
          </a:p>
        </p:txBody>
      </p:sp>
      <p:sp>
        <p:nvSpPr>
          <p:cNvPr id="44" name="Text 38"/>
          <p:cNvSpPr txBox="1"/>
          <p:nvPr/>
        </p:nvSpPr>
        <p:spPr>
          <a:xfrm>
            <a:off x="3305497" y="8247634"/>
            <a:ext cx="2631124" cy="270546"/>
          </a:xfrm>
          <a:prstGeom prst="rect">
            <a:avLst/>
          </a:prstGeom>
          <a:noFill/>
          <a:ln/>
        </p:spPr>
        <p:txBody>
          <a:bodyPr wrap="square" lIns="762" tIns="762" rIns="762" bIns="762" rtlCol="0" anchor="t"/>
          <a:lstStyle/>
          <a:p>
            <a:pPr marL="0" indent="0">
              <a:buNone/>
            </a:pPr>
            <a:r>
              <a:rPr lang="en-US" sz="1400" i="1" dirty="0">
                <a:solidFill>
                  <a:srgbClr val="555555"/>
                </a:solidFill>
                <a:latin typeface="Arial" pitchFamily="34" charset="0"/>
                <a:ea typeface="Arial" pitchFamily="34" charset="-122"/>
                <a:cs typeface="Arial" pitchFamily="34" charset="-120"/>
              </a:rPr>
              <a:t>Pro tier</a:t>
            </a:r>
            <a:endParaRPr lang="en-US" sz="1400" dirty="0"/>
          </a:p>
        </p:txBody>
      </p:sp>
      <p:sp>
        <p:nvSpPr>
          <p:cNvPr id="45" name="Shape 39"/>
          <p:cNvSpPr/>
          <p:nvPr/>
        </p:nvSpPr>
        <p:spPr>
          <a:xfrm>
            <a:off x="398731" y="7723451"/>
            <a:ext cx="2756416" cy="845457"/>
          </a:xfrm>
          <a:prstGeom prst="roundRect">
            <a:avLst>
              <a:gd name="adj" fmla="val 12000"/>
            </a:avLst>
          </a:prstGeom>
          <a:solidFill>
            <a:srgbClr val="F4F4F4"/>
          </a:solidFill>
          <a:ln w="12700">
            <a:solidFill>
              <a:srgbClr val="F4F4F4"/>
            </a:solidFill>
            <a:prstDash val="solid"/>
          </a:ln>
        </p:spPr>
        <p:txBody>
          <a:bodyPr/>
          <a:lstStyle/>
          <a:p>
            <a:endParaRPr lang="en-IN"/>
          </a:p>
        </p:txBody>
      </p:sp>
      <p:sp>
        <p:nvSpPr>
          <p:cNvPr id="46" name="Text 40"/>
          <p:cNvSpPr txBox="1"/>
          <p:nvPr/>
        </p:nvSpPr>
        <p:spPr>
          <a:xfrm>
            <a:off x="465553" y="7765724"/>
            <a:ext cx="2631124" cy="507274"/>
          </a:xfrm>
          <a:prstGeom prst="rect">
            <a:avLst/>
          </a:prstGeom>
          <a:noFill/>
          <a:ln/>
        </p:spPr>
        <p:txBody>
          <a:bodyPr wrap="square" lIns="762" tIns="762" rIns="762" bIns="762" rtlCol="0" anchor="t"/>
          <a:lstStyle/>
          <a:p>
            <a:pPr marL="0" indent="0">
              <a:buNone/>
            </a:pPr>
            <a:r>
              <a:rPr lang="en-US" sz="1200" b="1" dirty="0">
                <a:solidFill>
                  <a:srgbClr val="2B2B2B"/>
                </a:solidFill>
                <a:latin typeface="Arial" pitchFamily="34" charset="0"/>
                <a:ea typeface="Arial" pitchFamily="34" charset="-122"/>
                <a:cs typeface="Arial" pitchFamily="34" charset="-120"/>
              </a:rPr>
              <a:t>New online,</a:t>
            </a:r>
            <a:endParaRPr lang="en-US" sz="1200" dirty="0"/>
          </a:p>
          <a:p>
            <a:pPr marL="0" indent="0">
              <a:buNone/>
            </a:pPr>
            <a:r>
              <a:rPr lang="en-US" sz="1200" b="1" dirty="0">
                <a:solidFill>
                  <a:srgbClr val="2B2B2B"/>
                </a:solidFill>
                <a:latin typeface="Arial" pitchFamily="34" charset="0"/>
                <a:ea typeface="Arial" pitchFamily="34" charset="-122"/>
                <a:cs typeface="Arial" pitchFamily="34" charset="-120"/>
              </a:rPr>
              <a:t>high literacy</a:t>
            </a:r>
            <a:endParaRPr lang="en-US" sz="1200" dirty="0"/>
          </a:p>
        </p:txBody>
      </p:sp>
      <p:sp>
        <p:nvSpPr>
          <p:cNvPr id="47" name="Text 41"/>
          <p:cNvSpPr txBox="1"/>
          <p:nvPr/>
        </p:nvSpPr>
        <p:spPr>
          <a:xfrm>
            <a:off x="465553" y="8247634"/>
            <a:ext cx="2631124" cy="270546"/>
          </a:xfrm>
          <a:prstGeom prst="rect">
            <a:avLst/>
          </a:prstGeom>
          <a:noFill/>
          <a:ln/>
        </p:spPr>
        <p:txBody>
          <a:bodyPr wrap="square" lIns="762" tIns="762" rIns="762" bIns="762" rtlCol="0" anchor="t"/>
          <a:lstStyle/>
          <a:p>
            <a:pPr marL="0" indent="0">
              <a:buNone/>
            </a:pPr>
            <a:r>
              <a:rPr lang="en-US" sz="1400" i="1" dirty="0">
                <a:solidFill>
                  <a:srgbClr val="555555"/>
                </a:solidFill>
                <a:latin typeface="Arial" pitchFamily="34" charset="0"/>
                <a:ea typeface="Arial" pitchFamily="34" charset="-122"/>
                <a:cs typeface="Arial" pitchFamily="34" charset="-120"/>
              </a:rPr>
              <a:t>Growing tier</a:t>
            </a:r>
            <a:endParaRPr lang="en-US" sz="1400" dirty="0"/>
          </a:p>
        </p:txBody>
      </p:sp>
      <p:sp>
        <p:nvSpPr>
          <p:cNvPr id="48" name="Shape 42"/>
          <p:cNvSpPr/>
          <p:nvPr/>
        </p:nvSpPr>
        <p:spPr>
          <a:xfrm>
            <a:off x="3238674" y="8628090"/>
            <a:ext cx="2756416" cy="845457"/>
          </a:xfrm>
          <a:prstGeom prst="roundRect">
            <a:avLst>
              <a:gd name="adj" fmla="val 12000"/>
            </a:avLst>
          </a:prstGeom>
          <a:solidFill>
            <a:srgbClr val="F4F4F4"/>
          </a:solidFill>
          <a:ln w="12700">
            <a:solidFill>
              <a:srgbClr val="F4F4F4"/>
            </a:solidFill>
            <a:prstDash val="solid"/>
          </a:ln>
        </p:spPr>
        <p:txBody>
          <a:bodyPr/>
          <a:lstStyle/>
          <a:p>
            <a:endParaRPr lang="en-IN"/>
          </a:p>
        </p:txBody>
      </p:sp>
      <p:sp>
        <p:nvSpPr>
          <p:cNvPr id="49" name="Text 43"/>
          <p:cNvSpPr txBox="1"/>
          <p:nvPr/>
        </p:nvSpPr>
        <p:spPr>
          <a:xfrm>
            <a:off x="3305497" y="8670363"/>
            <a:ext cx="2631124" cy="507274"/>
          </a:xfrm>
          <a:prstGeom prst="rect">
            <a:avLst/>
          </a:prstGeom>
          <a:noFill/>
          <a:ln/>
        </p:spPr>
        <p:txBody>
          <a:bodyPr wrap="square" lIns="762" tIns="762" rIns="762" bIns="762" rtlCol="0" anchor="t"/>
          <a:lstStyle/>
          <a:p>
            <a:pPr marL="0" indent="0">
              <a:buNone/>
            </a:pPr>
            <a:r>
              <a:rPr lang="en-US" sz="1200" b="1" dirty="0">
                <a:solidFill>
                  <a:srgbClr val="2B2B2B"/>
                </a:solidFill>
                <a:latin typeface="Arial" pitchFamily="34" charset="0"/>
                <a:ea typeface="Arial" pitchFamily="34" charset="-122"/>
                <a:cs typeface="Arial" pitchFamily="34" charset="-120"/>
              </a:rPr>
              <a:t>Experienced online,</a:t>
            </a:r>
            <a:endParaRPr lang="en-US" sz="1200" dirty="0"/>
          </a:p>
          <a:p>
            <a:pPr marL="0" indent="0">
              <a:buNone/>
            </a:pPr>
            <a:r>
              <a:rPr lang="en-US" sz="1200" b="1" dirty="0">
                <a:solidFill>
                  <a:srgbClr val="2B2B2B"/>
                </a:solidFill>
                <a:latin typeface="Arial" pitchFamily="34" charset="0"/>
                <a:ea typeface="Arial" pitchFamily="34" charset="-122"/>
                <a:cs typeface="Arial" pitchFamily="34" charset="-120"/>
              </a:rPr>
              <a:t>low literacy</a:t>
            </a:r>
            <a:endParaRPr lang="en-US" sz="1200" dirty="0"/>
          </a:p>
        </p:txBody>
      </p:sp>
      <p:sp>
        <p:nvSpPr>
          <p:cNvPr id="50" name="Text 44"/>
          <p:cNvSpPr txBox="1"/>
          <p:nvPr/>
        </p:nvSpPr>
        <p:spPr>
          <a:xfrm>
            <a:off x="3305497" y="9152273"/>
            <a:ext cx="2631124" cy="270546"/>
          </a:xfrm>
          <a:prstGeom prst="rect">
            <a:avLst/>
          </a:prstGeom>
          <a:noFill/>
          <a:ln/>
        </p:spPr>
        <p:txBody>
          <a:bodyPr wrap="square" lIns="762" tIns="762" rIns="762" bIns="762" rtlCol="0" anchor="t"/>
          <a:lstStyle/>
          <a:p>
            <a:pPr marL="0" indent="0">
              <a:buNone/>
            </a:pPr>
            <a:r>
              <a:rPr lang="en-US" sz="1400" i="1" dirty="0">
                <a:solidFill>
                  <a:srgbClr val="555555"/>
                </a:solidFill>
                <a:latin typeface="Arial" pitchFamily="34" charset="0"/>
                <a:ea typeface="Arial" pitchFamily="34" charset="-122"/>
                <a:cs typeface="Arial" pitchFamily="34" charset="-120"/>
              </a:rPr>
              <a:t>Growing tier</a:t>
            </a:r>
            <a:endParaRPr lang="en-US" sz="1400" dirty="0"/>
          </a:p>
        </p:txBody>
      </p:sp>
      <p:sp>
        <p:nvSpPr>
          <p:cNvPr id="51" name="Shape 45"/>
          <p:cNvSpPr/>
          <p:nvPr/>
        </p:nvSpPr>
        <p:spPr>
          <a:xfrm>
            <a:off x="398731" y="8628090"/>
            <a:ext cx="2756416" cy="845457"/>
          </a:xfrm>
          <a:prstGeom prst="roundRect">
            <a:avLst>
              <a:gd name="adj" fmla="val 12000"/>
            </a:avLst>
          </a:prstGeom>
          <a:solidFill>
            <a:srgbClr val="F29A1F"/>
          </a:solidFill>
          <a:ln w="12700">
            <a:solidFill>
              <a:srgbClr val="F29A1F"/>
            </a:solidFill>
            <a:prstDash val="solid"/>
          </a:ln>
        </p:spPr>
        <p:txBody>
          <a:bodyPr/>
          <a:lstStyle/>
          <a:p>
            <a:endParaRPr lang="en-IN"/>
          </a:p>
        </p:txBody>
      </p:sp>
      <p:sp>
        <p:nvSpPr>
          <p:cNvPr id="52" name="Text 46"/>
          <p:cNvSpPr txBox="1"/>
          <p:nvPr/>
        </p:nvSpPr>
        <p:spPr>
          <a:xfrm>
            <a:off x="465553" y="8670363"/>
            <a:ext cx="2631124" cy="507274"/>
          </a:xfrm>
          <a:prstGeom prst="rect">
            <a:avLst/>
          </a:prstGeom>
          <a:noFill/>
          <a:ln/>
        </p:spPr>
        <p:txBody>
          <a:bodyPr wrap="square" lIns="762" tIns="762" rIns="762" bIns="762" rtlCol="0" anchor="t"/>
          <a:lstStyle/>
          <a:p>
            <a:pPr marL="0" indent="0">
              <a:buNone/>
            </a:pPr>
            <a:r>
              <a:rPr lang="en-US" sz="1200" b="1" dirty="0">
                <a:solidFill>
                  <a:srgbClr val="FFFFFF"/>
                </a:solidFill>
                <a:latin typeface="Arial" pitchFamily="34" charset="0"/>
                <a:ea typeface="Arial" pitchFamily="34" charset="-122"/>
                <a:cs typeface="Arial" pitchFamily="34" charset="-120"/>
              </a:rPr>
              <a:t>New online, low literacy</a:t>
            </a:r>
            <a:endParaRPr lang="en-US" sz="1200" dirty="0"/>
          </a:p>
          <a:p>
            <a:pPr marL="0" indent="0">
              <a:buNone/>
            </a:pPr>
            <a:r>
              <a:rPr lang="en-US" sz="1200" b="1" dirty="0">
                <a:solidFill>
                  <a:srgbClr val="FFFFFF"/>
                </a:solidFill>
                <a:latin typeface="Arial" pitchFamily="34" charset="0"/>
                <a:ea typeface="Arial" pitchFamily="34" charset="-122"/>
                <a:cs typeface="Arial" pitchFamily="34" charset="-120"/>
              </a:rPr>
              <a:t>→ LAUNCH SEGMENT</a:t>
            </a:r>
            <a:endParaRPr lang="en-US" sz="1200" dirty="0"/>
          </a:p>
        </p:txBody>
      </p:sp>
      <p:sp>
        <p:nvSpPr>
          <p:cNvPr id="53" name="Text 47"/>
          <p:cNvSpPr txBox="1"/>
          <p:nvPr/>
        </p:nvSpPr>
        <p:spPr>
          <a:xfrm>
            <a:off x="465553" y="9152273"/>
            <a:ext cx="2631124" cy="270546"/>
          </a:xfrm>
          <a:prstGeom prst="rect">
            <a:avLst/>
          </a:prstGeom>
          <a:noFill/>
          <a:ln/>
        </p:spPr>
        <p:txBody>
          <a:bodyPr wrap="square" lIns="762" tIns="762" rIns="762" bIns="762" rtlCol="0" anchor="t"/>
          <a:lstStyle/>
          <a:p>
            <a:pPr marL="0" indent="0">
              <a:buNone/>
            </a:pPr>
            <a:r>
              <a:rPr lang="en-US" sz="1400" i="1" dirty="0">
                <a:solidFill>
                  <a:srgbClr val="FFFFFF"/>
                </a:solidFill>
                <a:latin typeface="Arial" pitchFamily="34" charset="0"/>
                <a:ea typeface="Arial" pitchFamily="34" charset="-122"/>
                <a:cs typeface="Arial" pitchFamily="34" charset="-120"/>
              </a:rPr>
              <a:t>Guided tier</a:t>
            </a:r>
            <a:endParaRPr lang="en-US" sz="1400" dirty="0"/>
          </a:p>
        </p:txBody>
      </p:sp>
      <p:pic>
        <p:nvPicPr>
          <p:cNvPr id="112" name="Picture 111" descr="1791110508571_image.png"/>
          <p:cNvPicPr>
            <a:picLocks noChangeAspect="1"/>
          </p:cNvPicPr>
          <p:nvPr/>
        </p:nvPicPr>
        <p:blipFill>
          <a:blip r:embed="rId8"/>
          <a:stretch>
            <a:fillRect/>
          </a:stretch>
        </p:blipFill>
        <p:spPr>
          <a:xfrm>
            <a:off x="6078616" y="3035461"/>
            <a:ext cx="11715607" cy="647825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480560" y="502920"/>
            <a:ext cx="8778240" cy="868680"/>
          </a:xfrm>
          <a:prstGeom prst="rect">
            <a:avLst/>
          </a:prstGeom>
          <a:noFill/>
          <a:ln/>
        </p:spPr>
        <p:txBody>
          <a:bodyPr wrap="square" lIns="0" tIns="0" rIns="0" bIns="0" rtlCol="0" anchor="ctr"/>
          <a:lstStyle/>
          <a:p>
            <a:pPr marL="0" indent="0">
              <a:buNone/>
            </a:pPr>
            <a:r>
              <a:rPr lang="en-US" sz="4000" b="1" dirty="0">
                <a:solidFill>
                  <a:srgbClr val="5B0F4E"/>
                </a:solidFill>
                <a:latin typeface="Arial" pitchFamily="34" charset="0"/>
                <a:ea typeface="Arial" pitchFamily="34" charset="-122"/>
                <a:cs typeface="Arial" pitchFamily="34" charset="-120"/>
              </a:rPr>
              <a:t>Prioritisation of Problems</a:t>
            </a:r>
            <a:endParaRPr lang="en-US" sz="4000" dirty="0"/>
          </a:p>
        </p:txBody>
      </p:sp>
      <p:sp>
        <p:nvSpPr>
          <p:cNvPr id="3" name="Text 1"/>
          <p:cNvSpPr txBox="1"/>
          <p:nvPr/>
        </p:nvSpPr>
        <p:spPr>
          <a:xfrm>
            <a:off x="4480560" y="1371600"/>
            <a:ext cx="8778240" cy="502920"/>
          </a:xfrm>
          <a:prstGeom prst="rect">
            <a:avLst/>
          </a:prstGeom>
          <a:noFill/>
          <a:ln/>
        </p:spPr>
        <p:txBody>
          <a:bodyPr wrap="square" lIns="0" tIns="0" rIns="0" bIns="0" rtlCol="0" anchor="ctr"/>
          <a:lstStyle/>
          <a:p>
            <a:pPr marL="0" indent="0">
              <a:buNone/>
            </a:pPr>
            <a:r>
              <a:rPr lang="en-US" sz="1700" i="1" dirty="0">
                <a:solidFill>
                  <a:srgbClr val="C9660A"/>
                </a:solidFill>
                <a:latin typeface="Arial" pitchFamily="34" charset="0"/>
                <a:ea typeface="Arial" pitchFamily="34" charset="-122"/>
                <a:cs typeface="Arial" pitchFamily="34" charset="-120"/>
              </a:rPr>
              <a:t>Reach × Impact scoring on 5 factors: four problems stand out, and the whole solution focuses on them</a:t>
            </a:r>
            <a:endParaRPr lang="en-US" sz="1700" dirty="0"/>
          </a:p>
        </p:txBody>
      </p:sp>
      <p:sp>
        <p:nvSpPr>
          <p:cNvPr id="4" name="Shape 2"/>
          <p:cNvSpPr/>
          <p:nvPr/>
        </p:nvSpPr>
        <p:spPr>
          <a:xfrm>
            <a:off x="45720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5" name="Text 3"/>
          <p:cNvSpPr txBox="1"/>
          <p:nvPr/>
        </p:nvSpPr>
        <p:spPr>
          <a:xfrm>
            <a:off x="45720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PROBLEM</a:t>
            </a:r>
            <a:endParaRPr lang="en-US" sz="1250" dirty="0"/>
          </a:p>
        </p:txBody>
      </p:sp>
      <p:sp>
        <p:nvSpPr>
          <p:cNvPr id="6" name="Shape 4"/>
          <p:cNvSpPr/>
          <p:nvPr/>
        </p:nvSpPr>
        <p:spPr>
          <a:xfrm>
            <a:off x="219456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7" name="Text 5"/>
          <p:cNvSpPr txBox="1"/>
          <p:nvPr/>
        </p:nvSpPr>
        <p:spPr>
          <a:xfrm>
            <a:off x="219456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SEGMENTATION</a:t>
            </a:r>
            <a:endParaRPr lang="en-US" sz="1250" dirty="0"/>
          </a:p>
        </p:txBody>
      </p:sp>
      <p:sp>
        <p:nvSpPr>
          <p:cNvPr id="8" name="Shape 6"/>
          <p:cNvSpPr/>
          <p:nvPr/>
        </p:nvSpPr>
        <p:spPr>
          <a:xfrm>
            <a:off x="3931920" y="2542032"/>
            <a:ext cx="1700784" cy="420624"/>
          </a:xfrm>
          <a:prstGeom prst="rect">
            <a:avLst/>
          </a:prstGeom>
          <a:solidFill>
            <a:srgbClr val="F29A1F"/>
          </a:solidFill>
          <a:ln w="12700">
            <a:solidFill>
              <a:srgbClr val="F29A1F"/>
            </a:solidFill>
            <a:prstDash val="solid"/>
          </a:ln>
        </p:spPr>
        <p:txBody>
          <a:bodyPr/>
          <a:lstStyle/>
          <a:p>
            <a:endParaRPr lang="en-IN"/>
          </a:p>
        </p:txBody>
      </p:sp>
      <p:sp>
        <p:nvSpPr>
          <p:cNvPr id="9" name="Text 7"/>
          <p:cNvSpPr txBox="1"/>
          <p:nvPr/>
        </p:nvSpPr>
        <p:spPr>
          <a:xfrm>
            <a:off x="393192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PRIORITISATION</a:t>
            </a:r>
            <a:endParaRPr lang="en-US" sz="1250" dirty="0"/>
          </a:p>
        </p:txBody>
      </p:sp>
      <p:sp>
        <p:nvSpPr>
          <p:cNvPr id="10" name="Shape 8"/>
          <p:cNvSpPr/>
          <p:nvPr/>
        </p:nvSpPr>
        <p:spPr>
          <a:xfrm>
            <a:off x="566928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1" name="Text 9"/>
          <p:cNvSpPr txBox="1"/>
          <p:nvPr/>
        </p:nvSpPr>
        <p:spPr>
          <a:xfrm>
            <a:off x="566928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BENCHMARKING</a:t>
            </a:r>
            <a:endParaRPr lang="en-US" sz="1250" dirty="0"/>
          </a:p>
        </p:txBody>
      </p:sp>
      <p:sp>
        <p:nvSpPr>
          <p:cNvPr id="12" name="Shape 10"/>
          <p:cNvSpPr/>
          <p:nvPr/>
        </p:nvSpPr>
        <p:spPr>
          <a:xfrm>
            <a:off x="740664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3" name="Text 11"/>
          <p:cNvSpPr txBox="1"/>
          <p:nvPr/>
        </p:nvSpPr>
        <p:spPr>
          <a:xfrm>
            <a:off x="740664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SOLUTION</a:t>
            </a:r>
            <a:endParaRPr lang="en-US" sz="1250" dirty="0"/>
          </a:p>
        </p:txBody>
      </p:sp>
      <p:sp>
        <p:nvSpPr>
          <p:cNvPr id="14" name="Shape 12"/>
          <p:cNvSpPr/>
          <p:nvPr/>
        </p:nvSpPr>
        <p:spPr>
          <a:xfrm>
            <a:off x="914400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5" name="Text 13"/>
          <p:cNvSpPr txBox="1"/>
          <p:nvPr/>
        </p:nvSpPr>
        <p:spPr>
          <a:xfrm>
            <a:off x="914400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MUNAFA METER</a:t>
            </a:r>
            <a:endParaRPr lang="en-US" sz="1250" dirty="0"/>
          </a:p>
        </p:txBody>
      </p:sp>
      <p:sp>
        <p:nvSpPr>
          <p:cNvPr id="16" name="Shape 14"/>
          <p:cNvSpPr/>
          <p:nvPr/>
        </p:nvSpPr>
        <p:spPr>
          <a:xfrm>
            <a:off x="1088136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7" name="Text 15"/>
          <p:cNvSpPr txBox="1"/>
          <p:nvPr/>
        </p:nvSpPr>
        <p:spPr>
          <a:xfrm>
            <a:off x="1088136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SMART BAND</a:t>
            </a:r>
            <a:endParaRPr lang="en-US" sz="1250" dirty="0"/>
          </a:p>
        </p:txBody>
      </p:sp>
      <p:sp>
        <p:nvSpPr>
          <p:cNvPr id="18" name="Shape 16"/>
          <p:cNvSpPr/>
          <p:nvPr/>
        </p:nvSpPr>
        <p:spPr>
          <a:xfrm>
            <a:off x="1261872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9" name="Text 17"/>
          <p:cNvSpPr txBox="1"/>
          <p:nvPr/>
        </p:nvSpPr>
        <p:spPr>
          <a:xfrm>
            <a:off x="1261872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AUTOPILOT</a:t>
            </a:r>
            <a:endParaRPr lang="en-US" sz="1250" dirty="0"/>
          </a:p>
        </p:txBody>
      </p:sp>
      <p:sp>
        <p:nvSpPr>
          <p:cNvPr id="20" name="Shape 18"/>
          <p:cNvSpPr/>
          <p:nvPr/>
        </p:nvSpPr>
        <p:spPr>
          <a:xfrm>
            <a:off x="1435608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21" name="Text 19"/>
          <p:cNvSpPr txBox="1"/>
          <p:nvPr/>
        </p:nvSpPr>
        <p:spPr>
          <a:xfrm>
            <a:off x="1435608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IMPACT</a:t>
            </a:r>
            <a:endParaRPr lang="en-US" sz="1250" dirty="0"/>
          </a:p>
        </p:txBody>
      </p:sp>
      <p:sp>
        <p:nvSpPr>
          <p:cNvPr id="22" name="Shape 20"/>
          <p:cNvSpPr/>
          <p:nvPr/>
        </p:nvSpPr>
        <p:spPr>
          <a:xfrm>
            <a:off x="1609344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23" name="Text 21"/>
          <p:cNvSpPr txBox="1"/>
          <p:nvPr/>
        </p:nvSpPr>
        <p:spPr>
          <a:xfrm>
            <a:off x="1609344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PITFALLS</a:t>
            </a:r>
            <a:endParaRPr lang="en-US" sz="1250" dirty="0"/>
          </a:p>
        </p:txBody>
      </p:sp>
      <p:graphicFrame>
        <p:nvGraphicFramePr>
          <p:cNvPr id="24" name="Table 0"/>
          <p:cNvGraphicFramePr>
            <a:graphicFrameLocks noGrp="1"/>
          </p:cNvGraphicFramePr>
          <p:nvPr>
            <p:extLst>
              <p:ext uri="{D42A27DB-BD31-4B8C-83A1-F6EECF244321}">
                <p14:modId xmlns:p14="http://schemas.microsoft.com/office/powerpoint/2010/main" val="1237386878"/>
              </p:ext>
            </p:extLst>
          </p:nvPr>
        </p:nvGraphicFramePr>
        <p:xfrm>
          <a:off x="457200" y="3127248"/>
          <a:ext cx="10332720" cy="4901184"/>
        </p:xfrm>
        <a:graphic>
          <a:graphicData uri="http://schemas.openxmlformats.org/drawingml/2006/table">
            <a:tbl>
              <a:tblPr/>
              <a:tblGrid>
                <a:gridCol w="5029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868680">
                  <a:extLst>
                    <a:ext uri="{9D8B030D-6E8A-4147-A177-3AD203B41FA5}">
                      <a16:colId xmlns:a16="http://schemas.microsoft.com/office/drawing/2014/main" val="20006"/>
                    </a:ext>
                  </a:extLst>
                </a:gridCol>
                <a:gridCol w="64008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gridCol w="685800">
                  <a:extLst>
                    <a:ext uri="{9D8B030D-6E8A-4147-A177-3AD203B41FA5}">
                      <a16:colId xmlns:a16="http://schemas.microsoft.com/office/drawing/2014/main" val="20009"/>
                    </a:ext>
                  </a:extLst>
                </a:gridCol>
                <a:gridCol w="1097280">
                  <a:extLst>
                    <a:ext uri="{9D8B030D-6E8A-4147-A177-3AD203B41FA5}">
                      <a16:colId xmlns:a16="http://schemas.microsoft.com/office/drawing/2014/main" val="20010"/>
                    </a:ext>
                  </a:extLst>
                </a:gridCol>
              </a:tblGrid>
              <a:tr h="566928">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Problem</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lgn="ctr">
                        <a:buNone/>
                      </a:pPr>
                      <a:endParaRPr lang="en-US" sz="1100" dirty="0">
                        <a:latin typeface="Arial" charset="0"/>
                        <a:ea typeface="Arial" charset="0"/>
                        <a:cs typeface="Arial" charset="0"/>
                      </a:endParaRPr>
                    </a:p>
                    <a:p>
                      <a:pPr marL="0" indent="0" algn="ctr">
                        <a:buNone/>
                      </a:pPr>
                      <a:r>
                        <a:rPr lang="en-US" sz="1100" b="1" dirty="0">
                          <a:solidFill>
                            <a:srgbClr val="FFFFFF"/>
                          </a:solidFill>
                          <a:latin typeface="Arial" pitchFamily="34" charset="0"/>
                          <a:ea typeface="Arial" pitchFamily="34" charset="-122"/>
                          <a:cs typeface="Arial" pitchFamily="34" charset="-120"/>
                        </a:rPr>
                        <a:t>Breadth</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lgn="ctr">
                        <a:buNone/>
                      </a:pPr>
                      <a:endParaRPr lang="en-US" sz="1100" dirty="0">
                        <a:latin typeface="Arial" charset="0"/>
                        <a:ea typeface="Arial" charset="0"/>
                        <a:cs typeface="Arial" charset="0"/>
                      </a:endParaRPr>
                    </a:p>
                    <a:p>
                      <a:pPr marL="0" indent="0" algn="ctr">
                        <a:buNone/>
                      </a:pPr>
                      <a:r>
                        <a:rPr lang="en-US" sz="1100" b="1" dirty="0">
                          <a:solidFill>
                            <a:srgbClr val="FFFFFF"/>
                          </a:solidFill>
                          <a:latin typeface="Arial" pitchFamily="34" charset="0"/>
                          <a:ea typeface="Arial" pitchFamily="34" charset="-122"/>
                          <a:cs typeface="Arial" pitchFamily="34" charset="-120"/>
                        </a:rPr>
                        <a:t>Frequency</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lgn="ctr">
                        <a:buNone/>
                      </a:pPr>
                      <a:endParaRPr lang="en-US" sz="1100" dirty="0">
                        <a:latin typeface="Arial" charset="0"/>
                        <a:ea typeface="Arial" charset="0"/>
                        <a:cs typeface="Arial" charset="0"/>
                      </a:endParaRPr>
                    </a:p>
                    <a:p>
                      <a:pPr marL="0" indent="0" algn="ctr">
                        <a:buNone/>
                      </a:pPr>
                      <a:r>
                        <a:rPr lang="en-US" sz="1100" b="1" dirty="0">
                          <a:solidFill>
                            <a:srgbClr val="FFFFFF"/>
                          </a:solidFill>
                          <a:latin typeface="Arial" pitchFamily="34" charset="0"/>
                          <a:ea typeface="Arial" pitchFamily="34" charset="-122"/>
                          <a:cs typeface="Arial" pitchFamily="34" charset="-120"/>
                        </a:rPr>
                        <a:t>Loss / order</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lgn="ctr">
                        <a:buNone/>
                      </a:pPr>
                      <a:endParaRPr lang="en-US" sz="1100" dirty="0">
                        <a:latin typeface="Arial" charset="0"/>
                        <a:ea typeface="Arial" charset="0"/>
                        <a:cs typeface="Arial" charset="0"/>
                      </a:endParaRPr>
                    </a:p>
                    <a:p>
                      <a:pPr marL="0" indent="0" algn="ctr">
                        <a:buNone/>
                      </a:pPr>
                      <a:r>
                        <a:rPr lang="en-US" sz="1100" b="1" dirty="0">
                          <a:solidFill>
                            <a:srgbClr val="FFFFFF"/>
                          </a:solidFill>
                          <a:latin typeface="Arial" pitchFamily="34" charset="0"/>
                          <a:ea typeface="Arial" pitchFamily="34" charset="-122"/>
                          <a:cs typeface="Arial" pitchFamily="34" charset="-120"/>
                        </a:rPr>
                        <a:t>Churn risk</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lgn="ctr">
                        <a:buNone/>
                      </a:pPr>
                      <a:endParaRPr lang="en-US" sz="1100" dirty="0">
                        <a:latin typeface="Arial" charset="0"/>
                        <a:ea typeface="Arial" charset="0"/>
                        <a:cs typeface="Arial" charset="0"/>
                      </a:endParaRPr>
                    </a:p>
                    <a:p>
                      <a:pPr marL="0" indent="0" algn="ctr">
                        <a:buNone/>
                      </a:pPr>
                      <a:r>
                        <a:rPr lang="en-US" sz="1100" b="1" dirty="0">
                          <a:solidFill>
                            <a:srgbClr val="FFFFFF"/>
                          </a:solidFill>
                          <a:latin typeface="Arial" pitchFamily="34" charset="0"/>
                          <a:ea typeface="Arial" pitchFamily="34" charset="-122"/>
                          <a:cs typeface="Arial" pitchFamily="34" charset="-120"/>
                        </a:rPr>
                        <a:t>Meesho impact</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Reach</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Impact</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R × I</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Tier</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extLst>
                  <a:ext uri="{0D108BD9-81ED-4DB2-BD59-A6C34878D82A}">
                    <a16:rowId xmlns:a16="http://schemas.microsoft.com/office/drawing/2014/main" val="10000"/>
                  </a:ext>
                </a:extLst>
              </a:tr>
              <a:tr h="393192">
                <a:tc>
                  <a:txBody>
                    <a:bodyPr/>
                    <a:lstStyle/>
                    <a:p>
                      <a:pPr marL="0" indent="0">
                        <a:buNone/>
                      </a:pPr>
                      <a:r>
                        <a:rPr lang="en-US" sz="1100" b="1" dirty="0">
                          <a:solidFill>
                            <a:srgbClr val="000000"/>
                          </a:solidFill>
                          <a:latin typeface="Arial" pitchFamily="34" charset="0"/>
                          <a:ea typeface="Arial" pitchFamily="34" charset="-122"/>
                          <a:cs typeface="Arial" pitchFamily="34" charset="-120"/>
                        </a:rPr>
                        <a:t>P4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1100" b="1" dirty="0">
                          <a:solidFill>
                            <a:srgbClr val="000000"/>
                          </a:solidFill>
                          <a:latin typeface="Arial" pitchFamily="34" charset="0"/>
                          <a:ea typeface="Arial" pitchFamily="34" charset="-122"/>
                          <a:cs typeface="Arial" pitchFamily="34" charset="-120"/>
                        </a:rPr>
                        <a:t>Returns &amp; RTO not priced in</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4.5</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4.67</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21.0</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29A1F"/>
                    </a:solidFill>
                  </a:tcPr>
                </a:tc>
                <a:tc>
                  <a:txBody>
                    <a:bodyPr/>
                    <a:lstStyle/>
                    <a:p>
                      <a:pPr marL="0" indent="0" algn="ctr">
                        <a:buNone/>
                      </a:pPr>
                      <a:r>
                        <a:rPr lang="en-US" sz="1100" b="1" dirty="0">
                          <a:solidFill>
                            <a:srgbClr val="1E8E3E"/>
                          </a:solidFill>
                          <a:latin typeface="Arial" pitchFamily="34" charset="0"/>
                          <a:ea typeface="Arial" pitchFamily="34" charset="-122"/>
                          <a:cs typeface="Arial" pitchFamily="34" charset="-120"/>
                        </a:rPr>
                        <a:t>Core</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E6F4EA"/>
                    </a:solidFill>
                  </a:tcPr>
                </a:tc>
                <a:extLst>
                  <a:ext uri="{0D108BD9-81ED-4DB2-BD59-A6C34878D82A}">
                    <a16:rowId xmlns:a16="http://schemas.microsoft.com/office/drawing/2014/main" val="10001"/>
                  </a:ext>
                </a:extLst>
              </a:tr>
              <a:tr h="393192">
                <a:tc>
                  <a:txBody>
                    <a:bodyPr/>
                    <a:lstStyle/>
                    <a:p>
                      <a:pPr marL="0" indent="0">
                        <a:buNone/>
                      </a:pPr>
                      <a:r>
                        <a:rPr lang="en-US" sz="1100" b="1" dirty="0">
                          <a:solidFill>
                            <a:srgbClr val="000000"/>
                          </a:solidFill>
                          <a:latin typeface="Arial" pitchFamily="34" charset="0"/>
                          <a:ea typeface="Arial" pitchFamily="34" charset="-122"/>
                          <a:cs typeface="Arial" pitchFamily="34" charset="-120"/>
                        </a:rPr>
                        <a:t>P1</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1100" b="1" dirty="0">
                          <a:solidFill>
                            <a:srgbClr val="000000"/>
                          </a:solidFill>
                          <a:latin typeface="Arial" pitchFamily="34" charset="0"/>
                          <a:ea typeface="Arial" pitchFamily="34" charset="-122"/>
                          <a:cs typeface="Arial" pitchFamily="34" charset="-120"/>
                        </a:rPr>
                        <a:t>Wrong cost base</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4.5</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4.33</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19.5</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29A1F"/>
                    </a:solidFill>
                  </a:tcPr>
                </a:tc>
                <a:tc>
                  <a:txBody>
                    <a:bodyPr/>
                    <a:lstStyle/>
                    <a:p>
                      <a:pPr marL="0" indent="0" algn="ctr">
                        <a:buNone/>
                      </a:pPr>
                      <a:r>
                        <a:rPr lang="en-US" sz="1100" b="1" dirty="0">
                          <a:solidFill>
                            <a:srgbClr val="1E8E3E"/>
                          </a:solidFill>
                          <a:latin typeface="Arial" pitchFamily="34" charset="0"/>
                          <a:ea typeface="Arial" pitchFamily="34" charset="-122"/>
                          <a:cs typeface="Arial" pitchFamily="34" charset="-120"/>
                        </a:rPr>
                        <a:t>Core</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E6F4EA"/>
                    </a:solidFill>
                  </a:tcPr>
                </a:tc>
                <a:extLst>
                  <a:ext uri="{0D108BD9-81ED-4DB2-BD59-A6C34878D82A}">
                    <a16:rowId xmlns:a16="http://schemas.microsoft.com/office/drawing/2014/main" val="10002"/>
                  </a:ext>
                </a:extLst>
              </a:tr>
              <a:tr h="393192">
                <a:tc>
                  <a:txBody>
                    <a:bodyPr/>
                    <a:lstStyle/>
                    <a:p>
                      <a:pPr marL="0" indent="0">
                        <a:buNone/>
                      </a:pPr>
                      <a:r>
                        <a:rPr lang="en-US" sz="1100" b="1" dirty="0">
                          <a:solidFill>
                            <a:srgbClr val="000000"/>
                          </a:solidFill>
                          <a:latin typeface="Arial" pitchFamily="34" charset="0"/>
                          <a:ea typeface="Arial" pitchFamily="34" charset="-122"/>
                          <a:cs typeface="Arial" pitchFamily="34" charset="-120"/>
                        </a:rPr>
                        <a:t>P3</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1100" b="1" dirty="0">
                          <a:solidFill>
                            <a:srgbClr val="000000"/>
                          </a:solidFill>
                          <a:latin typeface="Arial" pitchFamily="34" charset="0"/>
                          <a:ea typeface="Arial" pitchFamily="34" charset="-122"/>
                          <a:cs typeface="Arial" pitchFamily="34" charset="-120"/>
                        </a:rPr>
                        <a:t>First price with no history</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4.5</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4.00</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18.0</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29A1F"/>
                    </a:solidFill>
                  </a:tcPr>
                </a:tc>
                <a:tc>
                  <a:txBody>
                    <a:bodyPr/>
                    <a:lstStyle/>
                    <a:p>
                      <a:pPr marL="0" indent="0" algn="ctr">
                        <a:buNone/>
                      </a:pPr>
                      <a:r>
                        <a:rPr lang="en-US" sz="1100" b="1" dirty="0">
                          <a:solidFill>
                            <a:srgbClr val="1E8E3E"/>
                          </a:solidFill>
                          <a:latin typeface="Arial" pitchFamily="34" charset="0"/>
                          <a:ea typeface="Arial" pitchFamily="34" charset="-122"/>
                          <a:cs typeface="Arial" pitchFamily="34" charset="-120"/>
                        </a:rPr>
                        <a:t>Core</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E6F4EA"/>
                    </a:solidFill>
                  </a:tcPr>
                </a:tc>
                <a:extLst>
                  <a:ext uri="{0D108BD9-81ED-4DB2-BD59-A6C34878D82A}">
                    <a16:rowId xmlns:a16="http://schemas.microsoft.com/office/drawing/2014/main" val="10003"/>
                  </a:ext>
                </a:extLst>
              </a:tr>
              <a:tr h="393192">
                <a:tc>
                  <a:txBody>
                    <a:bodyPr/>
                    <a:lstStyle/>
                    <a:p>
                      <a:pPr marL="0" indent="0">
                        <a:buNone/>
                      </a:pPr>
                      <a:r>
                        <a:rPr lang="en-US" sz="1100" b="1" dirty="0">
                          <a:solidFill>
                            <a:srgbClr val="000000"/>
                          </a:solidFill>
                          <a:latin typeface="Arial" pitchFamily="34" charset="0"/>
                          <a:ea typeface="Arial" pitchFamily="34" charset="-122"/>
                          <a:cs typeface="Arial" pitchFamily="34" charset="-120"/>
                        </a:rPr>
                        <a:t>P2</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1100" b="1" dirty="0">
                          <a:solidFill>
                            <a:srgbClr val="000000"/>
                          </a:solidFill>
                          <a:latin typeface="Arial" pitchFamily="34" charset="0"/>
                          <a:ea typeface="Arial" pitchFamily="34" charset="-122"/>
                          <a:cs typeface="Arial" pitchFamily="34" charset="-120"/>
                        </a:rPr>
                        <a:t>Copying cheapest / median price</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4.0</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4.00</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16.0</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29A1F"/>
                    </a:solidFill>
                  </a:tcPr>
                </a:tc>
                <a:tc>
                  <a:txBody>
                    <a:bodyPr/>
                    <a:lstStyle/>
                    <a:p>
                      <a:pPr marL="0" indent="0" algn="ctr">
                        <a:buNone/>
                      </a:pPr>
                      <a:r>
                        <a:rPr lang="en-US" sz="1100" b="1" dirty="0">
                          <a:solidFill>
                            <a:srgbClr val="1E8E3E"/>
                          </a:solidFill>
                          <a:latin typeface="Arial" pitchFamily="34" charset="0"/>
                          <a:ea typeface="Arial" pitchFamily="34" charset="-122"/>
                          <a:cs typeface="Arial" pitchFamily="34" charset="-120"/>
                        </a:rPr>
                        <a:t>Core</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E6F4EA"/>
                    </a:solidFill>
                  </a:tcPr>
                </a:tc>
                <a:extLst>
                  <a:ext uri="{0D108BD9-81ED-4DB2-BD59-A6C34878D82A}">
                    <a16:rowId xmlns:a16="http://schemas.microsoft.com/office/drawing/2014/main" val="10004"/>
                  </a:ext>
                </a:extLst>
              </a:tr>
              <a:tr h="393192">
                <a:tc>
                  <a:txBody>
                    <a:bodyPr/>
                    <a:lstStyle/>
                    <a:p>
                      <a:pPr marL="0" indent="0">
                        <a:buNone/>
                      </a:pPr>
                      <a:r>
                        <a:rPr lang="en-US" sz="1100" b="1" dirty="0">
                          <a:solidFill>
                            <a:srgbClr val="000000"/>
                          </a:solidFill>
                          <a:latin typeface="Arial" pitchFamily="34" charset="0"/>
                          <a:ea typeface="Arial" pitchFamily="34" charset="-122"/>
                          <a:cs typeface="Arial" pitchFamily="34" charset="-120"/>
                        </a:rPr>
                        <a:t>P5</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Weight error moves shipping slab</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3.0</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4.33</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13.0</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B9A3B3"/>
                    </a:solidFill>
                  </a:tcPr>
                </a:tc>
                <a:tc>
                  <a:txBody>
                    <a:bodyPr/>
                    <a:lstStyle/>
                    <a:p>
                      <a:pPr marL="0" indent="0" algn="ctr">
                        <a:buNone/>
                      </a:pPr>
                      <a:r>
                        <a:rPr lang="en-US" sz="1100" b="1" dirty="0">
                          <a:solidFill>
                            <a:srgbClr val="C9660A"/>
                          </a:solidFill>
                          <a:latin typeface="Arial" pitchFamily="34" charset="0"/>
                          <a:ea typeface="Arial" pitchFamily="34" charset="-122"/>
                          <a:cs typeface="Arial" pitchFamily="34" charset="-120"/>
                        </a:rPr>
                        <a:t>Additional</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1DC"/>
                    </a:solidFill>
                  </a:tcPr>
                </a:tc>
                <a:extLst>
                  <a:ext uri="{0D108BD9-81ED-4DB2-BD59-A6C34878D82A}">
                    <a16:rowId xmlns:a16="http://schemas.microsoft.com/office/drawing/2014/main" val="10005"/>
                  </a:ext>
                </a:extLst>
              </a:tr>
              <a:tr h="393192">
                <a:tc>
                  <a:txBody>
                    <a:bodyPr/>
                    <a:lstStyle/>
                    <a:p>
                      <a:pPr marL="0" indent="0">
                        <a:buNone/>
                      </a:pPr>
                      <a:r>
                        <a:rPr lang="en-US" sz="1100" b="1" dirty="0">
                          <a:solidFill>
                            <a:srgbClr val="000000"/>
                          </a:solidFill>
                          <a:latin typeface="Arial" pitchFamily="34" charset="0"/>
                          <a:ea typeface="Arial" pitchFamily="34" charset="-122"/>
                          <a:cs typeface="Arial" pitchFamily="34" charset="-120"/>
                        </a:rPr>
                        <a:t>P7</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Unclear settlements &amp; generic support</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3.5</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3.00</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10.5</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B9A3B3"/>
                    </a:solidFill>
                  </a:tcPr>
                </a:tc>
                <a:tc>
                  <a:txBody>
                    <a:bodyPr/>
                    <a:lstStyle/>
                    <a:p>
                      <a:pPr marL="0" indent="0" algn="ctr">
                        <a:buNone/>
                      </a:pPr>
                      <a:r>
                        <a:rPr lang="en-US" sz="1100" b="1" dirty="0">
                          <a:solidFill>
                            <a:srgbClr val="C9660A"/>
                          </a:solidFill>
                          <a:latin typeface="Arial" pitchFamily="34" charset="0"/>
                          <a:ea typeface="Arial" pitchFamily="34" charset="-122"/>
                          <a:cs typeface="Arial" pitchFamily="34" charset="-120"/>
                        </a:rPr>
                        <a:t>Additional</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1DC"/>
                    </a:solidFill>
                  </a:tcPr>
                </a:tc>
                <a:extLst>
                  <a:ext uri="{0D108BD9-81ED-4DB2-BD59-A6C34878D82A}">
                    <a16:rowId xmlns:a16="http://schemas.microsoft.com/office/drawing/2014/main" val="10006"/>
                  </a:ext>
                </a:extLst>
              </a:tr>
              <a:tr h="393192">
                <a:tc>
                  <a:txBody>
                    <a:bodyPr/>
                    <a:lstStyle/>
                    <a:p>
                      <a:pPr marL="0" indent="0">
                        <a:buNone/>
                      </a:pPr>
                      <a:r>
                        <a:rPr lang="en-US" sz="1100" b="1" dirty="0">
                          <a:solidFill>
                            <a:srgbClr val="000000"/>
                          </a:solidFill>
                          <a:latin typeface="Arial" pitchFamily="34" charset="0"/>
                          <a:ea typeface="Arial" pitchFamily="34" charset="-122"/>
                          <a:cs typeface="Arial" pitchFamily="34" charset="-120"/>
                        </a:rPr>
                        <a:t>P6</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Stale prices over product life</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3.0</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3.00</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9.0</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B9A3B3"/>
                    </a:solidFill>
                  </a:tcPr>
                </a:tc>
                <a:tc>
                  <a:txBody>
                    <a:bodyPr/>
                    <a:lstStyle/>
                    <a:p>
                      <a:pPr marL="0" indent="0" algn="ctr">
                        <a:buNone/>
                      </a:pPr>
                      <a:r>
                        <a:rPr lang="en-US" sz="1100" b="1" dirty="0">
                          <a:solidFill>
                            <a:srgbClr val="C9660A"/>
                          </a:solidFill>
                          <a:latin typeface="Arial" pitchFamily="34" charset="0"/>
                          <a:ea typeface="Arial" pitchFamily="34" charset="-122"/>
                          <a:cs typeface="Arial" pitchFamily="34" charset="-120"/>
                        </a:rPr>
                        <a:t>Additional*</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1DC"/>
                    </a:solidFill>
                  </a:tcPr>
                </a:tc>
                <a:extLst>
                  <a:ext uri="{0D108BD9-81ED-4DB2-BD59-A6C34878D82A}">
                    <a16:rowId xmlns:a16="http://schemas.microsoft.com/office/drawing/2014/main" val="10007"/>
                  </a:ext>
                </a:extLst>
              </a:tr>
              <a:tr h="393192">
                <a:tc>
                  <a:txBody>
                    <a:bodyPr/>
                    <a:lstStyle/>
                    <a:p>
                      <a:pPr marL="0" indent="0">
                        <a:buNone/>
                      </a:pPr>
                      <a:r>
                        <a:rPr lang="en-US" sz="1100" b="1" dirty="0">
                          <a:solidFill>
                            <a:srgbClr val="000000"/>
                          </a:solidFill>
                          <a:latin typeface="Arial" pitchFamily="34" charset="0"/>
                          <a:ea typeface="Arial" pitchFamily="34" charset="-122"/>
                          <a:cs typeface="Arial" pitchFamily="34" charset="-120"/>
                        </a:rPr>
                        <a:t>P10</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Low conversion misread as price</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3.0</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2.67</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8.0</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B9A3B3"/>
                    </a:solidFill>
                  </a:tcPr>
                </a:tc>
                <a:tc>
                  <a:txBody>
                    <a:bodyPr/>
                    <a:lstStyle/>
                    <a:p>
                      <a:pPr marL="0" indent="0" algn="ctr">
                        <a:buNone/>
                      </a:pPr>
                      <a:r>
                        <a:rPr lang="en-US" sz="1100" b="1" dirty="0">
                          <a:solidFill>
                            <a:srgbClr val="C9660A"/>
                          </a:solidFill>
                          <a:latin typeface="Arial" pitchFamily="34" charset="0"/>
                          <a:ea typeface="Arial" pitchFamily="34" charset="-122"/>
                          <a:cs typeface="Arial" pitchFamily="34" charset="-120"/>
                        </a:rPr>
                        <a:t>Additional</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1DC"/>
                    </a:solidFill>
                  </a:tcPr>
                </a:tc>
                <a:extLst>
                  <a:ext uri="{0D108BD9-81ED-4DB2-BD59-A6C34878D82A}">
                    <a16:rowId xmlns:a16="http://schemas.microsoft.com/office/drawing/2014/main" val="10008"/>
                  </a:ext>
                </a:extLst>
              </a:tr>
              <a:tr h="393192">
                <a:tc>
                  <a:txBody>
                    <a:bodyPr/>
                    <a:lstStyle/>
                    <a:p>
                      <a:pPr marL="0" indent="0">
                        <a:buNone/>
                      </a:pPr>
                      <a:r>
                        <a:rPr lang="en-US" sz="1100" b="1" dirty="0">
                          <a:solidFill>
                            <a:srgbClr val="000000"/>
                          </a:solidFill>
                          <a:latin typeface="Arial" pitchFamily="34" charset="0"/>
                          <a:ea typeface="Arial" pitchFamily="34" charset="-122"/>
                          <a:cs typeface="Arial" pitchFamily="34" charset="-120"/>
                        </a:rPr>
                        <a:t>P9</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Unviable bulky SKUs</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2.5</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3.00</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7.5</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B9A3B3"/>
                    </a:solidFill>
                  </a:tcPr>
                </a:tc>
                <a:tc>
                  <a:txBody>
                    <a:bodyPr/>
                    <a:lstStyle/>
                    <a:p>
                      <a:pPr marL="0" indent="0" algn="ctr">
                        <a:buNone/>
                      </a:pPr>
                      <a:r>
                        <a:rPr lang="en-US" sz="1100" b="1" dirty="0">
                          <a:solidFill>
                            <a:srgbClr val="C9660A"/>
                          </a:solidFill>
                          <a:latin typeface="Arial" pitchFamily="34" charset="0"/>
                          <a:ea typeface="Arial" pitchFamily="34" charset="-122"/>
                          <a:cs typeface="Arial" pitchFamily="34" charset="-120"/>
                        </a:rPr>
                        <a:t>Additional</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1DC"/>
                    </a:solidFill>
                  </a:tcPr>
                </a:tc>
                <a:extLst>
                  <a:ext uri="{0D108BD9-81ED-4DB2-BD59-A6C34878D82A}">
                    <a16:rowId xmlns:a16="http://schemas.microsoft.com/office/drawing/2014/main" val="10009"/>
                  </a:ext>
                </a:extLst>
              </a:tr>
              <a:tr h="393192">
                <a:tc>
                  <a:txBody>
                    <a:bodyPr/>
                    <a:lstStyle/>
                    <a:p>
                      <a:pPr marL="0" indent="0">
                        <a:buNone/>
                      </a:pPr>
                      <a:r>
                        <a:rPr lang="en-US" sz="1100" b="1" dirty="0">
                          <a:solidFill>
                            <a:srgbClr val="000000"/>
                          </a:solidFill>
                          <a:latin typeface="Arial" pitchFamily="34" charset="0"/>
                          <a:ea typeface="Arial" pitchFamily="34" charset="-122"/>
                          <a:cs typeface="Arial" pitchFamily="34" charset="-120"/>
                        </a:rPr>
                        <a:t>P8</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Season-end dead stock</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2.0</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3.33</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6.7</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B9A3B3"/>
                    </a:solidFill>
                  </a:tcPr>
                </a:tc>
                <a:tc>
                  <a:txBody>
                    <a:bodyPr/>
                    <a:lstStyle/>
                    <a:p>
                      <a:pPr marL="0" indent="0" algn="ctr">
                        <a:buNone/>
                      </a:pPr>
                      <a:r>
                        <a:rPr lang="en-US" sz="1100" b="1" dirty="0">
                          <a:solidFill>
                            <a:srgbClr val="C9660A"/>
                          </a:solidFill>
                          <a:latin typeface="Arial" pitchFamily="34" charset="0"/>
                          <a:ea typeface="Arial" pitchFamily="34" charset="-122"/>
                          <a:cs typeface="Arial" pitchFamily="34" charset="-120"/>
                        </a:rPr>
                        <a:t>Additional</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1DC"/>
                    </a:solidFill>
                  </a:tcPr>
                </a:tc>
                <a:extLst>
                  <a:ext uri="{0D108BD9-81ED-4DB2-BD59-A6C34878D82A}">
                    <a16:rowId xmlns:a16="http://schemas.microsoft.com/office/drawing/2014/main" val="10010"/>
                  </a:ext>
                </a:extLst>
              </a:tr>
              <a:tr h="393192">
                <a:tc>
                  <a:txBody>
                    <a:bodyPr/>
                    <a:lstStyle/>
                    <a:p>
                      <a:pPr marL="0" indent="0">
                        <a:buNone/>
                      </a:pPr>
                      <a:r>
                        <a:rPr lang="en-US" sz="1100" b="1" dirty="0">
                          <a:solidFill>
                            <a:srgbClr val="000000"/>
                          </a:solidFill>
                          <a:latin typeface="Arial" pitchFamily="34" charset="0"/>
                          <a:ea typeface="Arial" pitchFamily="34" charset="-122"/>
                          <a:cs typeface="Arial" pitchFamily="34" charset="-120"/>
                        </a:rPr>
                        <a:t>P11</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Customer fraud (used / fake returns)</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2.0</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000000"/>
                          </a:solidFill>
                          <a:latin typeface="Arial" pitchFamily="34" charset="0"/>
                          <a:ea typeface="Arial" pitchFamily="34" charset="-122"/>
                          <a:cs typeface="Arial" pitchFamily="34" charset="-120"/>
                        </a:rPr>
                        <a:t>3.33</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3E8F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6.7</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B9A3B3"/>
                    </a:solidFill>
                  </a:tcPr>
                </a:tc>
                <a:tc>
                  <a:txBody>
                    <a:bodyPr/>
                    <a:lstStyle/>
                    <a:p>
                      <a:pPr marL="0" indent="0" algn="ctr">
                        <a:buNone/>
                      </a:pPr>
                      <a:r>
                        <a:rPr lang="en-US" sz="1100" b="1" dirty="0">
                          <a:solidFill>
                            <a:srgbClr val="555555"/>
                          </a:solidFill>
                          <a:latin typeface="Arial" pitchFamily="34" charset="0"/>
                          <a:ea typeface="Arial" pitchFamily="34" charset="-122"/>
                          <a:cs typeface="Arial" pitchFamily="34" charset="-120"/>
                        </a:rPr>
                        <a:t>Roadmap</a:t>
                      </a:r>
                      <a:endParaRPr lang="en-US" sz="110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4F4F4"/>
                    </a:solidFill>
                  </a:tcPr>
                </a:tc>
                <a:extLst>
                  <a:ext uri="{0D108BD9-81ED-4DB2-BD59-A6C34878D82A}">
                    <a16:rowId xmlns:a16="http://schemas.microsoft.com/office/drawing/2014/main" val="10011"/>
                  </a:ext>
                </a:extLst>
              </a:tr>
            </a:tbl>
          </a:graphicData>
        </a:graphic>
      </p:graphicFrame>
      <p:sp>
        <p:nvSpPr>
          <p:cNvPr id="25" name="Shape 22"/>
          <p:cNvSpPr/>
          <p:nvPr/>
        </p:nvSpPr>
        <p:spPr>
          <a:xfrm>
            <a:off x="457200" y="8183880"/>
            <a:ext cx="10332720" cy="1188720"/>
          </a:xfrm>
          <a:prstGeom prst="roundRect">
            <a:avLst>
              <a:gd name="adj" fmla="val 9231"/>
            </a:avLst>
          </a:prstGeom>
          <a:solidFill>
            <a:srgbClr val="FFF1DC"/>
          </a:solidFill>
          <a:ln w="12700">
            <a:solidFill>
              <a:srgbClr val="FFF1DC"/>
            </a:solidFill>
            <a:prstDash val="solid"/>
          </a:ln>
        </p:spPr>
        <p:txBody>
          <a:bodyPr/>
          <a:lstStyle/>
          <a:p>
            <a:endParaRPr lang="en-IN"/>
          </a:p>
        </p:txBody>
      </p:sp>
      <p:sp>
        <p:nvSpPr>
          <p:cNvPr id="26" name="Text 23"/>
          <p:cNvSpPr txBox="1"/>
          <p:nvPr/>
        </p:nvSpPr>
        <p:spPr>
          <a:xfrm>
            <a:off x="566928" y="8247888"/>
            <a:ext cx="10149840" cy="1097280"/>
          </a:xfrm>
          <a:prstGeom prst="rect">
            <a:avLst/>
          </a:prstGeom>
          <a:noFill/>
          <a:ln/>
        </p:spPr>
        <p:txBody>
          <a:bodyPr wrap="square" lIns="0" tIns="0" rIns="0" bIns="0" rtlCol="0" anchor="t"/>
          <a:lstStyle/>
          <a:p>
            <a:pPr marL="0" indent="0">
              <a:buNone/>
            </a:pPr>
            <a:r>
              <a:rPr lang="en-US" sz="1150" b="1" dirty="0">
                <a:solidFill>
                  <a:srgbClr val="5B0F4E"/>
                </a:solidFill>
                <a:latin typeface="Arial" pitchFamily="34" charset="0"/>
                <a:ea typeface="Arial" pitchFamily="34" charset="-122"/>
                <a:cs typeface="Arial" pitchFamily="34" charset="-120"/>
              </a:rPr>
              <a:t>Scoring (1–5 each)</a:t>
            </a:r>
          </a:p>
          <a:p>
            <a:pPr marL="171450" indent="-171450">
              <a:buFont typeface="Arial" panose="020B0604020202020204" pitchFamily="34" charset="0"/>
              <a:buChar char="•"/>
            </a:pPr>
            <a:r>
              <a:rPr lang="en-US" sz="1400" b="1" dirty="0">
                <a:solidFill>
                  <a:srgbClr val="2B2B2B"/>
                </a:solidFill>
                <a:latin typeface="Arial" pitchFamily="34" charset="0"/>
                <a:ea typeface="Arial" pitchFamily="34" charset="-122"/>
                <a:cs typeface="Arial" pitchFamily="34" charset="-120"/>
              </a:rPr>
              <a:t>Reach</a:t>
            </a:r>
            <a:r>
              <a:rPr lang="en-US" sz="1400" dirty="0">
                <a:solidFill>
                  <a:srgbClr val="2B2B2B"/>
                </a:solidFill>
                <a:latin typeface="Arial" pitchFamily="34" charset="0"/>
                <a:ea typeface="Arial" pitchFamily="34" charset="-122"/>
                <a:cs typeface="Arial" pitchFamily="34" charset="-120"/>
              </a:rPr>
              <a:t> = Average of  Breadth (share of new sellers affected) and  Frequency (every order vs occasional).</a:t>
            </a:r>
          </a:p>
          <a:p>
            <a:pPr marL="171450" indent="-171450">
              <a:buFont typeface="Arial" panose="020B0604020202020204" pitchFamily="34" charset="0"/>
              <a:buChar char="•"/>
            </a:pPr>
            <a:r>
              <a:rPr lang="en-US" sz="1400" b="1" dirty="0">
                <a:solidFill>
                  <a:srgbClr val="2B2B2B"/>
                </a:solidFill>
                <a:latin typeface="Arial" pitchFamily="34" charset="0"/>
                <a:ea typeface="Arial" pitchFamily="34" charset="-122"/>
                <a:cs typeface="Arial" pitchFamily="34" charset="-120"/>
              </a:rPr>
              <a:t>Impact</a:t>
            </a:r>
            <a:r>
              <a:rPr lang="en-US" sz="1400" dirty="0">
                <a:solidFill>
                  <a:srgbClr val="2B2B2B"/>
                </a:solidFill>
                <a:latin typeface="Arial" pitchFamily="34" charset="0"/>
                <a:ea typeface="Arial" pitchFamily="34" charset="-122"/>
                <a:cs typeface="Arial" pitchFamily="34" charset="-120"/>
              </a:rPr>
              <a:t> = Average of  Loss per order (₹ hit to the seller),  Churn risk (does it push sellers to quit) and  Meesho impact (GMV, RTO cost, trust).</a:t>
            </a:r>
          </a:p>
          <a:p>
            <a:pPr marL="171450" indent="-171450">
              <a:buFont typeface="Arial" panose="020B0604020202020204" pitchFamily="34" charset="0"/>
              <a:buChar char="•"/>
            </a:pPr>
            <a:r>
              <a:rPr lang="en-US" sz="1400" dirty="0">
                <a:solidFill>
                  <a:srgbClr val="2B2B2B"/>
                </a:solidFill>
                <a:latin typeface="Arial" pitchFamily="34" charset="0"/>
                <a:ea typeface="Arial" pitchFamily="34" charset="-122"/>
                <a:cs typeface="Arial" pitchFamily="34" charset="-120"/>
              </a:rPr>
              <a:t> </a:t>
            </a:r>
            <a:r>
              <a:rPr lang="en-US" sz="1400" b="1" dirty="0">
                <a:solidFill>
                  <a:srgbClr val="2B2B2B"/>
                </a:solidFill>
                <a:latin typeface="Arial" pitchFamily="34" charset="0"/>
                <a:ea typeface="Arial" pitchFamily="34" charset="-122"/>
                <a:cs typeface="Arial" pitchFamily="34" charset="-120"/>
              </a:rPr>
              <a:t>R × I </a:t>
            </a:r>
            <a:r>
              <a:rPr lang="en-US" sz="1400" dirty="0">
                <a:solidFill>
                  <a:srgbClr val="2B2B2B"/>
                </a:solidFill>
                <a:latin typeface="Arial" pitchFamily="34" charset="0"/>
                <a:ea typeface="Arial" pitchFamily="34" charset="-122"/>
                <a:cs typeface="Arial" pitchFamily="34" charset="-120"/>
              </a:rPr>
              <a:t>out of 25. </a:t>
            </a:r>
            <a:endParaRPr lang="en-US" sz="1400" dirty="0"/>
          </a:p>
        </p:txBody>
      </p:sp>
      <p:graphicFrame>
        <p:nvGraphicFramePr>
          <p:cNvPr id="27" name="Chart 0"/>
          <p:cNvGraphicFramePr/>
          <p:nvPr>
            <p:extLst>
              <p:ext uri="{D42A27DB-BD31-4B8C-83A1-F6EECF244321}">
                <p14:modId xmlns:p14="http://schemas.microsoft.com/office/powerpoint/2010/main" val="3878007834"/>
              </p:ext>
            </p:extLst>
          </p:nvPr>
        </p:nvGraphicFramePr>
        <p:xfrm>
          <a:off x="10972800" y="3063240"/>
          <a:ext cx="6858000" cy="3931920"/>
        </p:xfrm>
        <a:graphic>
          <a:graphicData uri="http://schemas.openxmlformats.org/drawingml/2006/chart">
            <c:chart xmlns:c="http://schemas.openxmlformats.org/drawingml/2006/chart" xmlns:r="http://schemas.openxmlformats.org/officeDocument/2006/relationships" r:id="rId4"/>
          </a:graphicData>
        </a:graphic>
      </p:graphicFrame>
      <p:sp>
        <p:nvSpPr>
          <p:cNvPr id="28" name="Shape 24"/>
          <p:cNvSpPr/>
          <p:nvPr/>
        </p:nvSpPr>
        <p:spPr>
          <a:xfrm>
            <a:off x="10972800" y="7132320"/>
            <a:ext cx="2212848" cy="2240280"/>
          </a:xfrm>
          <a:prstGeom prst="roundRect">
            <a:avLst>
              <a:gd name="adj" fmla="val 4959"/>
            </a:avLst>
          </a:prstGeom>
          <a:solidFill>
            <a:srgbClr val="E6F4EA"/>
          </a:solidFill>
          <a:ln w="12700">
            <a:solidFill>
              <a:srgbClr val="E6F4EA"/>
            </a:solidFill>
            <a:prstDash val="solid"/>
          </a:ln>
        </p:spPr>
        <p:txBody>
          <a:bodyPr/>
          <a:lstStyle/>
          <a:p>
            <a:endParaRPr lang="en-IN"/>
          </a:p>
        </p:txBody>
      </p:sp>
      <p:sp>
        <p:nvSpPr>
          <p:cNvPr id="29" name="Text 25"/>
          <p:cNvSpPr txBox="1"/>
          <p:nvPr/>
        </p:nvSpPr>
        <p:spPr>
          <a:xfrm>
            <a:off x="11045952" y="7178040"/>
            <a:ext cx="2103120" cy="320040"/>
          </a:xfrm>
          <a:prstGeom prst="rect">
            <a:avLst/>
          </a:prstGeom>
          <a:noFill/>
          <a:ln/>
        </p:spPr>
        <p:txBody>
          <a:bodyPr wrap="square" lIns="0" tIns="0" rIns="0" bIns="0" rtlCol="0" anchor="t"/>
          <a:lstStyle/>
          <a:p>
            <a:pPr marL="0" indent="0">
              <a:buNone/>
            </a:pPr>
            <a:r>
              <a:rPr lang="en-US" sz="1600" b="1" dirty="0">
                <a:solidFill>
                  <a:srgbClr val="1E8E3E"/>
                </a:solidFill>
                <a:latin typeface="Arial" pitchFamily="34" charset="0"/>
                <a:ea typeface="Arial" pitchFamily="34" charset="-122"/>
                <a:cs typeface="Arial" pitchFamily="34" charset="-120"/>
              </a:rPr>
              <a:t>CORE · score ≥ 16</a:t>
            </a:r>
            <a:endParaRPr lang="en-US" sz="1600" dirty="0"/>
          </a:p>
        </p:txBody>
      </p:sp>
      <p:sp>
        <p:nvSpPr>
          <p:cNvPr id="30" name="Text 26"/>
          <p:cNvSpPr txBox="1"/>
          <p:nvPr/>
        </p:nvSpPr>
        <p:spPr>
          <a:xfrm>
            <a:off x="11132820" y="7686038"/>
            <a:ext cx="2103120" cy="457200"/>
          </a:xfrm>
          <a:prstGeom prst="rect">
            <a:avLst/>
          </a:prstGeom>
          <a:noFill/>
          <a:ln/>
        </p:spPr>
        <p:txBody>
          <a:bodyPr wrap="square" lIns="0" tIns="0" rIns="0" bIns="0" rtlCol="0" anchor="t"/>
          <a:lstStyle/>
          <a:p>
            <a:pPr marL="0" indent="0">
              <a:buNone/>
            </a:pPr>
            <a:r>
              <a:rPr lang="en-US" sz="1400" b="1" dirty="0">
                <a:solidFill>
                  <a:srgbClr val="2B2B2B"/>
                </a:solidFill>
                <a:latin typeface="Arial" pitchFamily="34" charset="0"/>
                <a:ea typeface="Arial" pitchFamily="34" charset="-122"/>
                <a:cs typeface="Arial" pitchFamily="34" charset="-120"/>
              </a:rPr>
              <a:t>P4 · P1 · P3 · P2</a:t>
            </a:r>
            <a:endParaRPr lang="en-US" sz="1400" dirty="0"/>
          </a:p>
        </p:txBody>
      </p:sp>
      <p:sp>
        <p:nvSpPr>
          <p:cNvPr id="31" name="Text 27"/>
          <p:cNvSpPr txBox="1"/>
          <p:nvPr/>
        </p:nvSpPr>
        <p:spPr>
          <a:xfrm>
            <a:off x="11186468" y="8183880"/>
            <a:ext cx="1785511" cy="941832"/>
          </a:xfrm>
          <a:prstGeom prst="rect">
            <a:avLst/>
          </a:prstGeom>
          <a:noFill/>
          <a:ln/>
        </p:spPr>
        <p:txBody>
          <a:bodyPr wrap="square" lIns="0" tIns="0" rIns="0" bIns="0" rtlCol="0" anchor="t"/>
          <a:lstStyle/>
          <a:p>
            <a:pPr marL="0" indent="0">
              <a:buNone/>
            </a:pPr>
            <a:r>
              <a:rPr lang="en-US" sz="1400" dirty="0">
                <a:solidFill>
                  <a:srgbClr val="2B2B2B"/>
                </a:solidFill>
                <a:latin typeface="Arial" pitchFamily="34" charset="0"/>
                <a:ea typeface="Arial" pitchFamily="34" charset="-122"/>
                <a:cs typeface="Arial" pitchFamily="34" charset="-120"/>
              </a:rPr>
              <a:t>Munafa Meter (P1 + P4) and Smart Band (P2 + P3)</a:t>
            </a:r>
            <a:endParaRPr lang="en-US" sz="1400" dirty="0"/>
          </a:p>
        </p:txBody>
      </p:sp>
      <p:sp>
        <p:nvSpPr>
          <p:cNvPr id="32" name="Shape 28"/>
          <p:cNvSpPr/>
          <p:nvPr/>
        </p:nvSpPr>
        <p:spPr>
          <a:xfrm>
            <a:off x="13286232" y="7132320"/>
            <a:ext cx="2212848" cy="2240280"/>
          </a:xfrm>
          <a:prstGeom prst="roundRect">
            <a:avLst>
              <a:gd name="adj" fmla="val 4959"/>
            </a:avLst>
          </a:prstGeom>
          <a:solidFill>
            <a:srgbClr val="FFF1DC"/>
          </a:solidFill>
          <a:ln w="12700">
            <a:solidFill>
              <a:srgbClr val="FFF1DC"/>
            </a:solidFill>
            <a:prstDash val="solid"/>
          </a:ln>
        </p:spPr>
        <p:txBody>
          <a:bodyPr/>
          <a:lstStyle/>
          <a:p>
            <a:endParaRPr lang="en-IN"/>
          </a:p>
        </p:txBody>
      </p:sp>
      <p:sp>
        <p:nvSpPr>
          <p:cNvPr id="33" name="Text 29"/>
          <p:cNvSpPr txBox="1"/>
          <p:nvPr/>
        </p:nvSpPr>
        <p:spPr>
          <a:xfrm>
            <a:off x="13359384" y="7178040"/>
            <a:ext cx="2103120" cy="320040"/>
          </a:xfrm>
          <a:prstGeom prst="rect">
            <a:avLst/>
          </a:prstGeom>
          <a:noFill/>
          <a:ln/>
        </p:spPr>
        <p:txBody>
          <a:bodyPr wrap="square" lIns="0" tIns="0" rIns="0" bIns="0" rtlCol="0" anchor="t"/>
          <a:lstStyle/>
          <a:p>
            <a:pPr marL="0" indent="0">
              <a:buNone/>
            </a:pPr>
            <a:r>
              <a:rPr lang="en-US" sz="1600" b="1" dirty="0">
                <a:solidFill>
                  <a:srgbClr val="C9660A"/>
                </a:solidFill>
                <a:latin typeface="Arial" pitchFamily="34" charset="0"/>
                <a:ea typeface="Arial" pitchFamily="34" charset="-122"/>
                <a:cs typeface="Arial" pitchFamily="34" charset="-120"/>
              </a:rPr>
              <a:t>ADDITIONAL</a:t>
            </a:r>
            <a:endParaRPr lang="en-US" sz="1600" dirty="0"/>
          </a:p>
        </p:txBody>
      </p:sp>
      <p:sp>
        <p:nvSpPr>
          <p:cNvPr id="34" name="Text 30"/>
          <p:cNvSpPr txBox="1"/>
          <p:nvPr/>
        </p:nvSpPr>
        <p:spPr>
          <a:xfrm>
            <a:off x="13440057" y="7612380"/>
            <a:ext cx="1664555" cy="457200"/>
          </a:xfrm>
          <a:prstGeom prst="rect">
            <a:avLst/>
          </a:prstGeom>
          <a:noFill/>
          <a:ln/>
        </p:spPr>
        <p:txBody>
          <a:bodyPr wrap="square" lIns="0" tIns="0" rIns="0" bIns="0" rtlCol="0" anchor="t"/>
          <a:lstStyle/>
          <a:p>
            <a:pPr marL="0" indent="0">
              <a:buNone/>
            </a:pPr>
            <a:r>
              <a:rPr lang="en-US" sz="1400" b="1" dirty="0">
                <a:solidFill>
                  <a:srgbClr val="2B2B2B"/>
                </a:solidFill>
                <a:latin typeface="Arial" pitchFamily="34" charset="0"/>
                <a:ea typeface="Arial" pitchFamily="34" charset="-122"/>
                <a:cs typeface="Arial" pitchFamily="34" charset="-120"/>
              </a:rPr>
              <a:t>P5 · P7 · P6* · P10 · P9 · P8</a:t>
            </a:r>
            <a:endParaRPr lang="en-US" sz="1400" dirty="0"/>
          </a:p>
        </p:txBody>
      </p:sp>
      <p:sp>
        <p:nvSpPr>
          <p:cNvPr id="35" name="Text 31"/>
          <p:cNvSpPr txBox="1"/>
          <p:nvPr/>
        </p:nvSpPr>
        <p:spPr>
          <a:xfrm>
            <a:off x="13440057" y="8183880"/>
            <a:ext cx="1905197" cy="919709"/>
          </a:xfrm>
          <a:prstGeom prst="rect">
            <a:avLst/>
          </a:prstGeom>
          <a:noFill/>
          <a:ln/>
        </p:spPr>
        <p:txBody>
          <a:bodyPr wrap="square" lIns="0" tIns="0" rIns="0" bIns="0" rtlCol="0" anchor="t"/>
          <a:lstStyle/>
          <a:p>
            <a:pPr marL="0" indent="0">
              <a:buNone/>
            </a:pPr>
            <a:r>
              <a:rPr lang="en-US" sz="1400" dirty="0">
                <a:solidFill>
                  <a:srgbClr val="2B2B2B"/>
                </a:solidFill>
                <a:latin typeface="Arial" pitchFamily="34" charset="0"/>
                <a:ea typeface="Arial" pitchFamily="34" charset="-122"/>
                <a:cs typeface="Arial" pitchFamily="34" charset="-120"/>
              </a:rPr>
              <a:t>Built as checks inside the core features. </a:t>
            </a:r>
            <a:endParaRPr lang="en-US" sz="1400" dirty="0"/>
          </a:p>
        </p:txBody>
      </p:sp>
      <p:sp>
        <p:nvSpPr>
          <p:cNvPr id="36" name="Shape 32"/>
          <p:cNvSpPr/>
          <p:nvPr/>
        </p:nvSpPr>
        <p:spPr>
          <a:xfrm>
            <a:off x="15599664" y="7132320"/>
            <a:ext cx="2212848" cy="2240280"/>
          </a:xfrm>
          <a:prstGeom prst="roundRect">
            <a:avLst>
              <a:gd name="adj" fmla="val 4959"/>
            </a:avLst>
          </a:prstGeom>
          <a:solidFill>
            <a:srgbClr val="F4F4F4"/>
          </a:solidFill>
          <a:ln w="12700">
            <a:solidFill>
              <a:srgbClr val="F4F4F4"/>
            </a:solidFill>
            <a:prstDash val="solid"/>
          </a:ln>
        </p:spPr>
        <p:txBody>
          <a:bodyPr/>
          <a:lstStyle/>
          <a:p>
            <a:endParaRPr lang="en-IN"/>
          </a:p>
        </p:txBody>
      </p:sp>
      <p:sp>
        <p:nvSpPr>
          <p:cNvPr id="37" name="Text 33"/>
          <p:cNvSpPr txBox="1"/>
          <p:nvPr/>
        </p:nvSpPr>
        <p:spPr>
          <a:xfrm>
            <a:off x="15672816" y="7178040"/>
            <a:ext cx="2103120" cy="320040"/>
          </a:xfrm>
          <a:prstGeom prst="rect">
            <a:avLst/>
          </a:prstGeom>
          <a:noFill/>
          <a:ln/>
        </p:spPr>
        <p:txBody>
          <a:bodyPr wrap="square" lIns="0" tIns="0" rIns="0" bIns="0" rtlCol="0" anchor="t"/>
          <a:lstStyle/>
          <a:p>
            <a:pPr marL="0" indent="0">
              <a:buNone/>
            </a:pPr>
            <a:r>
              <a:rPr lang="en-US" sz="1600" b="1" dirty="0">
                <a:solidFill>
                  <a:srgbClr val="555555"/>
                </a:solidFill>
                <a:latin typeface="Arial" pitchFamily="34" charset="0"/>
                <a:ea typeface="Arial" pitchFamily="34" charset="-122"/>
                <a:cs typeface="Arial" pitchFamily="34" charset="-120"/>
              </a:rPr>
              <a:t>ROADMAP</a:t>
            </a:r>
            <a:endParaRPr lang="en-US" sz="1600" dirty="0"/>
          </a:p>
        </p:txBody>
      </p:sp>
      <p:sp>
        <p:nvSpPr>
          <p:cNvPr id="38" name="Text 34"/>
          <p:cNvSpPr txBox="1"/>
          <p:nvPr/>
        </p:nvSpPr>
        <p:spPr>
          <a:xfrm>
            <a:off x="15691104" y="7680960"/>
            <a:ext cx="2103120" cy="457200"/>
          </a:xfrm>
          <a:prstGeom prst="rect">
            <a:avLst/>
          </a:prstGeom>
          <a:noFill/>
          <a:ln/>
        </p:spPr>
        <p:txBody>
          <a:bodyPr wrap="square" lIns="0" tIns="0" rIns="0" bIns="0" rtlCol="0" anchor="t"/>
          <a:lstStyle/>
          <a:p>
            <a:pPr marL="0" indent="0">
              <a:buNone/>
            </a:pPr>
            <a:r>
              <a:rPr lang="en-US" sz="1400" b="1" dirty="0">
                <a:solidFill>
                  <a:srgbClr val="2B2B2B"/>
                </a:solidFill>
                <a:latin typeface="Arial" pitchFamily="34" charset="0"/>
                <a:ea typeface="Arial" pitchFamily="34" charset="-122"/>
                <a:cs typeface="Arial" pitchFamily="34" charset="-120"/>
              </a:rPr>
              <a:t>P11</a:t>
            </a:r>
            <a:endParaRPr lang="en-US" sz="1400" dirty="0"/>
          </a:p>
        </p:txBody>
      </p:sp>
      <p:sp>
        <p:nvSpPr>
          <p:cNvPr id="39" name="Text 35"/>
          <p:cNvSpPr txBox="1"/>
          <p:nvPr/>
        </p:nvSpPr>
        <p:spPr>
          <a:xfrm>
            <a:off x="15654528" y="8183880"/>
            <a:ext cx="2103120" cy="1022948"/>
          </a:xfrm>
          <a:prstGeom prst="rect">
            <a:avLst/>
          </a:prstGeom>
          <a:noFill/>
          <a:ln/>
        </p:spPr>
        <p:txBody>
          <a:bodyPr wrap="square" lIns="0" tIns="0" rIns="0" bIns="0" rtlCol="0" anchor="t"/>
          <a:lstStyle/>
          <a:p>
            <a:pPr marL="0" indent="0">
              <a:buNone/>
            </a:pPr>
            <a:r>
              <a:rPr lang="en-US" sz="1400" dirty="0">
                <a:solidFill>
                  <a:srgbClr val="2B2B2B"/>
                </a:solidFill>
                <a:latin typeface="Arial" pitchFamily="34" charset="0"/>
                <a:ea typeface="Arial" pitchFamily="34" charset="-122"/>
                <a:cs typeface="Arial" pitchFamily="34" charset="-120"/>
              </a:rPr>
              <a:t>Customer fraud is real but an operations problem, not pricing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480560" y="502920"/>
            <a:ext cx="8778240" cy="868680"/>
          </a:xfrm>
          <a:prstGeom prst="rect">
            <a:avLst/>
          </a:prstGeom>
          <a:noFill/>
          <a:ln/>
        </p:spPr>
        <p:txBody>
          <a:bodyPr wrap="square" lIns="0" tIns="0" rIns="0" bIns="0" rtlCol="0" anchor="ctr"/>
          <a:lstStyle/>
          <a:p>
            <a:pPr marL="0" indent="0">
              <a:buNone/>
            </a:pPr>
            <a:r>
              <a:rPr lang="en-US" sz="4000" b="1" dirty="0">
                <a:solidFill>
                  <a:srgbClr val="5B0F4E"/>
                </a:solidFill>
                <a:latin typeface="Arial" pitchFamily="34" charset="0"/>
                <a:ea typeface="Arial" pitchFamily="34" charset="-122"/>
                <a:cs typeface="Arial" pitchFamily="34" charset="-120"/>
              </a:rPr>
              <a:t>Competitive Benchmarking</a:t>
            </a:r>
            <a:endParaRPr lang="en-US" sz="4000" dirty="0"/>
          </a:p>
        </p:txBody>
      </p:sp>
      <p:sp>
        <p:nvSpPr>
          <p:cNvPr id="3" name="Text 1"/>
          <p:cNvSpPr txBox="1"/>
          <p:nvPr/>
        </p:nvSpPr>
        <p:spPr>
          <a:xfrm>
            <a:off x="4480560" y="1371600"/>
            <a:ext cx="8778240" cy="502920"/>
          </a:xfrm>
          <a:prstGeom prst="rect">
            <a:avLst/>
          </a:prstGeom>
          <a:noFill/>
          <a:ln/>
        </p:spPr>
        <p:txBody>
          <a:bodyPr wrap="square" lIns="0" tIns="0" rIns="0" bIns="0" rtlCol="0" anchor="ctr"/>
          <a:lstStyle/>
          <a:p>
            <a:pPr marL="0" indent="0">
              <a:buNone/>
            </a:pPr>
            <a:r>
              <a:rPr lang="en-US" sz="1700" i="1" dirty="0">
                <a:solidFill>
                  <a:srgbClr val="C9660A"/>
                </a:solidFill>
                <a:latin typeface="Arial" pitchFamily="34" charset="0"/>
                <a:ea typeface="Arial" pitchFamily="34" charset="-122"/>
                <a:cs typeface="Arial" pitchFamily="34" charset="-120"/>
              </a:rPr>
              <a:t>No platform builds a price floor from the seller's own cost and expected returns</a:t>
            </a:r>
            <a:endParaRPr lang="en-US" sz="1700" dirty="0"/>
          </a:p>
        </p:txBody>
      </p:sp>
      <p:sp>
        <p:nvSpPr>
          <p:cNvPr id="4" name="Shape 2"/>
          <p:cNvSpPr/>
          <p:nvPr/>
        </p:nvSpPr>
        <p:spPr>
          <a:xfrm>
            <a:off x="45720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5" name="Text 3"/>
          <p:cNvSpPr txBox="1"/>
          <p:nvPr/>
        </p:nvSpPr>
        <p:spPr>
          <a:xfrm>
            <a:off x="45720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PROBLEM</a:t>
            </a:r>
            <a:endParaRPr lang="en-US" sz="1250" dirty="0"/>
          </a:p>
        </p:txBody>
      </p:sp>
      <p:sp>
        <p:nvSpPr>
          <p:cNvPr id="6" name="Shape 4"/>
          <p:cNvSpPr/>
          <p:nvPr/>
        </p:nvSpPr>
        <p:spPr>
          <a:xfrm>
            <a:off x="219456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7" name="Text 5"/>
          <p:cNvSpPr txBox="1"/>
          <p:nvPr/>
        </p:nvSpPr>
        <p:spPr>
          <a:xfrm>
            <a:off x="219456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SEGMENTATION</a:t>
            </a:r>
            <a:endParaRPr lang="en-US" sz="1250" dirty="0"/>
          </a:p>
        </p:txBody>
      </p:sp>
      <p:sp>
        <p:nvSpPr>
          <p:cNvPr id="8" name="Shape 6"/>
          <p:cNvSpPr/>
          <p:nvPr/>
        </p:nvSpPr>
        <p:spPr>
          <a:xfrm>
            <a:off x="393192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9" name="Text 7"/>
          <p:cNvSpPr txBox="1"/>
          <p:nvPr/>
        </p:nvSpPr>
        <p:spPr>
          <a:xfrm>
            <a:off x="393192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PRIORITISATION</a:t>
            </a:r>
            <a:endParaRPr lang="en-US" sz="1250" dirty="0"/>
          </a:p>
        </p:txBody>
      </p:sp>
      <p:sp>
        <p:nvSpPr>
          <p:cNvPr id="10" name="Shape 8"/>
          <p:cNvSpPr/>
          <p:nvPr/>
        </p:nvSpPr>
        <p:spPr>
          <a:xfrm>
            <a:off x="5669280" y="2542032"/>
            <a:ext cx="1700784" cy="420624"/>
          </a:xfrm>
          <a:prstGeom prst="rect">
            <a:avLst/>
          </a:prstGeom>
          <a:solidFill>
            <a:srgbClr val="F29A1F"/>
          </a:solidFill>
          <a:ln w="12700">
            <a:solidFill>
              <a:srgbClr val="F29A1F"/>
            </a:solidFill>
            <a:prstDash val="solid"/>
          </a:ln>
        </p:spPr>
        <p:txBody>
          <a:bodyPr/>
          <a:lstStyle/>
          <a:p>
            <a:endParaRPr lang="en-IN"/>
          </a:p>
        </p:txBody>
      </p:sp>
      <p:sp>
        <p:nvSpPr>
          <p:cNvPr id="11" name="Text 9"/>
          <p:cNvSpPr txBox="1"/>
          <p:nvPr/>
        </p:nvSpPr>
        <p:spPr>
          <a:xfrm>
            <a:off x="566928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BENCHMARKING</a:t>
            </a:r>
            <a:endParaRPr lang="en-US" sz="1250" dirty="0"/>
          </a:p>
        </p:txBody>
      </p:sp>
      <p:sp>
        <p:nvSpPr>
          <p:cNvPr id="12" name="Shape 10"/>
          <p:cNvSpPr/>
          <p:nvPr/>
        </p:nvSpPr>
        <p:spPr>
          <a:xfrm>
            <a:off x="740664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3" name="Text 11"/>
          <p:cNvSpPr txBox="1"/>
          <p:nvPr/>
        </p:nvSpPr>
        <p:spPr>
          <a:xfrm>
            <a:off x="740664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SOLUTION</a:t>
            </a:r>
            <a:endParaRPr lang="en-US" sz="1250" dirty="0"/>
          </a:p>
        </p:txBody>
      </p:sp>
      <p:sp>
        <p:nvSpPr>
          <p:cNvPr id="14" name="Shape 12"/>
          <p:cNvSpPr/>
          <p:nvPr/>
        </p:nvSpPr>
        <p:spPr>
          <a:xfrm>
            <a:off x="914400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5" name="Text 13"/>
          <p:cNvSpPr txBox="1"/>
          <p:nvPr/>
        </p:nvSpPr>
        <p:spPr>
          <a:xfrm>
            <a:off x="914400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MUNAFA METER</a:t>
            </a:r>
            <a:endParaRPr lang="en-US" sz="1250" dirty="0"/>
          </a:p>
        </p:txBody>
      </p:sp>
      <p:sp>
        <p:nvSpPr>
          <p:cNvPr id="16" name="Shape 14"/>
          <p:cNvSpPr/>
          <p:nvPr/>
        </p:nvSpPr>
        <p:spPr>
          <a:xfrm>
            <a:off x="1088136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7" name="Text 15"/>
          <p:cNvSpPr txBox="1"/>
          <p:nvPr/>
        </p:nvSpPr>
        <p:spPr>
          <a:xfrm>
            <a:off x="1088136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SMART BAND</a:t>
            </a:r>
            <a:endParaRPr lang="en-US" sz="1250" dirty="0"/>
          </a:p>
        </p:txBody>
      </p:sp>
      <p:sp>
        <p:nvSpPr>
          <p:cNvPr id="18" name="Shape 16"/>
          <p:cNvSpPr/>
          <p:nvPr/>
        </p:nvSpPr>
        <p:spPr>
          <a:xfrm>
            <a:off x="1261872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9" name="Text 17"/>
          <p:cNvSpPr txBox="1"/>
          <p:nvPr/>
        </p:nvSpPr>
        <p:spPr>
          <a:xfrm>
            <a:off x="1261872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AUTOPILOT</a:t>
            </a:r>
            <a:endParaRPr lang="en-US" sz="1250" dirty="0"/>
          </a:p>
        </p:txBody>
      </p:sp>
      <p:sp>
        <p:nvSpPr>
          <p:cNvPr id="20" name="Shape 18"/>
          <p:cNvSpPr/>
          <p:nvPr/>
        </p:nvSpPr>
        <p:spPr>
          <a:xfrm>
            <a:off x="1435608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21" name="Text 19"/>
          <p:cNvSpPr txBox="1"/>
          <p:nvPr/>
        </p:nvSpPr>
        <p:spPr>
          <a:xfrm>
            <a:off x="1435608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IMPACT</a:t>
            </a:r>
            <a:endParaRPr lang="en-US" sz="1250" dirty="0"/>
          </a:p>
        </p:txBody>
      </p:sp>
      <p:sp>
        <p:nvSpPr>
          <p:cNvPr id="22" name="Shape 20"/>
          <p:cNvSpPr/>
          <p:nvPr/>
        </p:nvSpPr>
        <p:spPr>
          <a:xfrm>
            <a:off x="1609344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23" name="Text 21"/>
          <p:cNvSpPr txBox="1"/>
          <p:nvPr/>
        </p:nvSpPr>
        <p:spPr>
          <a:xfrm>
            <a:off x="1609344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PITFALLS</a:t>
            </a:r>
            <a:endParaRPr lang="en-US" sz="12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3154680"/>
          <a:ext cx="12070080" cy="5779008"/>
        </p:xfrm>
        <a:graphic>
          <a:graphicData uri="http://schemas.openxmlformats.org/drawingml/2006/table">
            <a:tbl>
              <a:tblPr/>
              <a:tblGrid>
                <a:gridCol w="20116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566928">
                <a:tc>
                  <a:txBody>
                    <a:bodyPr/>
                    <a:lstStyle/>
                    <a:p>
                      <a:pPr marL="0" indent="0">
                        <a:buNone/>
                      </a:pPr>
                      <a:r>
                        <a:rPr lang="en-US" sz="1250" b="1" dirty="0">
                          <a:solidFill>
                            <a:srgbClr val="FFFFFF"/>
                          </a:solidFill>
                          <a:latin typeface="Arial" pitchFamily="34" charset="0"/>
                          <a:ea typeface="Arial" pitchFamily="34" charset="-122"/>
                          <a:cs typeface="Arial" pitchFamily="34" charset="-120"/>
                        </a:rPr>
                        <a:t>Platform</a:t>
                      </a:r>
                      <a:endParaRPr lang="en-US" sz="125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5B0F4E"/>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P1 · Floor from seller's own cost</a:t>
                      </a:r>
                      <a:endParaRPr lang="en-US" sz="125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5B0F4E"/>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P4 · Returns &amp; RTO priced in</a:t>
                      </a:r>
                      <a:endParaRPr lang="en-US" sz="125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5B0F4E"/>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P2 · Market band shown</a:t>
                      </a:r>
                      <a:endParaRPr lang="en-US" sz="125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5B0F4E"/>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P3 · First-price help</a:t>
                      </a:r>
                      <a:endParaRPr lang="en-US" sz="125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5B0F4E"/>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Lifecycle signals</a:t>
                      </a:r>
                      <a:endParaRPr lang="en-US" sz="125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5B0F4E"/>
                    </a:solidFill>
                  </a:tcPr>
                </a:tc>
                <a:extLst>
                  <a:ext uri="{0D108BD9-81ED-4DB2-BD59-A6C34878D82A}">
                    <a16:rowId xmlns:a16="http://schemas.microsoft.com/office/drawing/2014/main" val="10000"/>
                  </a:ext>
                </a:extLst>
              </a:tr>
              <a:tr h="868680">
                <a:tc>
                  <a:txBody>
                    <a:bodyPr/>
                    <a:lstStyle/>
                    <a:p>
                      <a:pPr marL="0" indent="0">
                        <a:buNone/>
                      </a:pPr>
                      <a:r>
                        <a:rPr lang="en-US" sz="1300" b="1" dirty="0">
                          <a:solidFill>
                            <a:srgbClr val="5B0F4E"/>
                          </a:solidFill>
                          <a:latin typeface="Arial" pitchFamily="34" charset="0"/>
                          <a:ea typeface="Arial" pitchFamily="34" charset="-122"/>
                          <a:cs typeface="Arial" pitchFamily="34" charset="-120"/>
                        </a:rPr>
                        <a:t>Meesho (today)</a:t>
                      </a:r>
                      <a:endParaRPr lang="en-US" sz="13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250" b="1" dirty="0">
                          <a:solidFill>
                            <a:srgbClr val="C62828"/>
                          </a:solidFill>
                          <a:latin typeface="Arial" pitchFamily="34" charset="0"/>
                          <a:ea typeface="Arial" pitchFamily="34" charset="-122"/>
                          <a:cs typeface="Arial" pitchFamily="34" charset="-120"/>
                        </a:rPr>
                        <a:t>No
</a:t>
                      </a:r>
                      <a:r>
                        <a:rPr lang="en-US" sz="1100" dirty="0">
                          <a:solidFill>
                            <a:srgbClr val="2B2B2B"/>
                          </a:solidFill>
                          <a:latin typeface="Arial" pitchFamily="34" charset="0"/>
                          <a:ea typeface="Arial" pitchFamily="34" charset="-122"/>
                          <a:cs typeface="Arial" pitchFamily="34" charset="-120"/>
                        </a:rPr>
                        <a:t>Price Recommendation is competitor-led</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8E6"/>
                    </a:solidFill>
                  </a:tcPr>
                </a:tc>
                <a:tc>
                  <a:txBody>
                    <a:bodyPr/>
                    <a:lstStyle/>
                    <a:p>
                      <a:pPr marL="0" indent="0">
                        <a:buNone/>
                      </a:pPr>
                      <a:r>
                        <a:rPr lang="en-US" sz="1250" b="1" dirty="0">
                          <a:solidFill>
                            <a:srgbClr val="C9660A"/>
                          </a:solidFill>
                          <a:latin typeface="Arial" pitchFamily="34" charset="0"/>
                          <a:ea typeface="Arial" pitchFamily="34" charset="-122"/>
                          <a:cs typeface="Arial" pitchFamily="34" charset="-120"/>
                        </a:rPr>
                        <a:t>Partial
</a:t>
                      </a:r>
                      <a:r>
                        <a:rPr lang="en-US" sz="1100" dirty="0">
                          <a:solidFill>
                            <a:srgbClr val="2B2B2B"/>
                          </a:solidFill>
                          <a:latin typeface="Arial" pitchFamily="34" charset="0"/>
                          <a:ea typeface="Arial" pitchFamily="34" charset="-122"/>
                          <a:cs typeface="Arial" pitchFamily="34" charset="-120"/>
                        </a:rPr>
                        <a:t>Dual price for defective-only returns</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1DC"/>
                    </a:solidFill>
                  </a:tcPr>
                </a:tc>
                <a:tc>
                  <a:txBody>
                    <a:bodyPr/>
                    <a:lstStyle/>
                    <a:p>
                      <a:pPr marL="0" indent="0">
                        <a:buNone/>
                      </a:pPr>
                      <a:r>
                        <a:rPr lang="en-US" sz="1250" b="1" dirty="0">
                          <a:solidFill>
                            <a:srgbClr val="1E8E3E"/>
                          </a:solidFill>
                          <a:latin typeface="Arial" pitchFamily="34" charset="0"/>
                          <a:ea typeface="Arial" pitchFamily="34" charset="-122"/>
                          <a:cs typeface="Arial" pitchFamily="34" charset="-120"/>
                        </a:rPr>
                        <a:t>Yes
</a:t>
                      </a:r>
                      <a:r>
                        <a:rPr lang="en-US" sz="1100" dirty="0">
                          <a:solidFill>
                            <a:srgbClr val="2B2B2B"/>
                          </a:solidFill>
                          <a:latin typeface="Arial" pitchFamily="34" charset="0"/>
                          <a:ea typeface="Arial" pitchFamily="34" charset="-122"/>
                          <a:cs typeface="Arial" pitchFamily="34" charset="-120"/>
                        </a:rPr>
                        <a:t>Recommended price + transfer price</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6F4EA"/>
                    </a:solidFill>
                  </a:tcPr>
                </a:tc>
                <a:tc>
                  <a:txBody>
                    <a:bodyPr/>
                    <a:lstStyle/>
                    <a:p>
                      <a:pPr marL="0" indent="0">
                        <a:buNone/>
                      </a:pPr>
                      <a:r>
                        <a:rPr lang="en-US" sz="1250" b="1" dirty="0">
                          <a:solidFill>
                            <a:srgbClr val="C9660A"/>
                          </a:solidFill>
                          <a:latin typeface="Arial" pitchFamily="34" charset="0"/>
                          <a:ea typeface="Arial" pitchFamily="34" charset="-122"/>
                          <a:cs typeface="Arial" pitchFamily="34" charset="-120"/>
                        </a:rPr>
                        <a:t>Partial
</a:t>
                      </a:r>
                      <a:r>
                        <a:rPr lang="en-US" sz="1100" dirty="0">
                          <a:solidFill>
                            <a:srgbClr val="2B2B2B"/>
                          </a:solidFill>
                          <a:latin typeface="Arial" pitchFamily="34" charset="0"/>
                          <a:ea typeface="Arial" pitchFamily="34" charset="-122"/>
                          <a:cs typeface="Arial" pitchFamily="34" charset="-120"/>
                        </a:rPr>
                        <a:t>Recommendation, but no cost floor</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1DC"/>
                    </a:solidFill>
                  </a:tcPr>
                </a:tc>
                <a:tc>
                  <a:txBody>
                    <a:bodyPr/>
                    <a:lstStyle/>
                    <a:p>
                      <a:pPr marL="0" indent="0">
                        <a:buNone/>
                      </a:pPr>
                      <a:r>
                        <a:rPr lang="en-US" sz="1250" b="1" dirty="0">
                          <a:solidFill>
                            <a:srgbClr val="C9660A"/>
                          </a:solidFill>
                          <a:latin typeface="Arial" pitchFamily="34" charset="0"/>
                          <a:ea typeface="Arial" pitchFamily="34" charset="-122"/>
                          <a:cs typeface="Arial" pitchFamily="34" charset="-120"/>
                        </a:rPr>
                        <a:t>Partial
</a:t>
                      </a:r>
                      <a:r>
                        <a:rPr lang="en-US" sz="1100" dirty="0">
                          <a:solidFill>
                            <a:srgbClr val="2B2B2B"/>
                          </a:solidFill>
                          <a:latin typeface="Arial" pitchFamily="34" charset="0"/>
                          <a:ea typeface="Arial" pitchFamily="34" charset="-122"/>
                          <a:cs typeface="Arial" pitchFamily="34" charset="-120"/>
                        </a:rPr>
                        <a:t>Smart pricing within seller min/max</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1DC"/>
                    </a:solidFill>
                  </a:tcPr>
                </a:tc>
                <a:extLst>
                  <a:ext uri="{0D108BD9-81ED-4DB2-BD59-A6C34878D82A}">
                    <a16:rowId xmlns:a16="http://schemas.microsoft.com/office/drawing/2014/main" val="10001"/>
                  </a:ext>
                </a:extLst>
              </a:tr>
              <a:tr h="868680">
                <a:tc>
                  <a:txBody>
                    <a:bodyPr/>
                    <a:lstStyle/>
                    <a:p>
                      <a:pPr marL="0" indent="0">
                        <a:buNone/>
                      </a:pPr>
                      <a:r>
                        <a:rPr lang="en-US" sz="1300" b="1" dirty="0">
                          <a:solidFill>
                            <a:srgbClr val="5B0F4E"/>
                          </a:solidFill>
                          <a:latin typeface="Arial" pitchFamily="34" charset="0"/>
                          <a:ea typeface="Arial" pitchFamily="34" charset="-122"/>
                          <a:cs typeface="Arial" pitchFamily="34" charset="-120"/>
                        </a:rPr>
                        <a:t>Amazon</a:t>
                      </a:r>
                      <a:endParaRPr lang="en-US" sz="13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250" b="1" dirty="0">
                          <a:solidFill>
                            <a:srgbClr val="C9660A"/>
                          </a:solidFill>
                          <a:latin typeface="Arial" pitchFamily="34" charset="0"/>
                          <a:ea typeface="Arial" pitchFamily="34" charset="-122"/>
                          <a:cs typeface="Arial" pitchFamily="34" charset="-120"/>
                        </a:rPr>
                        <a:t>Partial
</a:t>
                      </a:r>
                      <a:r>
                        <a:rPr lang="en-US" sz="1100" dirty="0">
                          <a:solidFill>
                            <a:srgbClr val="2B2B2B"/>
                          </a:solidFill>
                          <a:latin typeface="Arial" pitchFamily="34" charset="0"/>
                          <a:ea typeface="Arial" pitchFamily="34" charset="-122"/>
                          <a:cs typeface="Arial" pitchFamily="34" charset="-120"/>
                        </a:rPr>
                        <a:t>Revenue Calculator; seller enters cost</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1DC"/>
                    </a:solidFill>
                  </a:tcPr>
                </a:tc>
                <a:tc>
                  <a:txBody>
                    <a:bodyPr/>
                    <a:lstStyle/>
                    <a:p>
                      <a:pPr marL="0" indent="0">
                        <a:buNone/>
                      </a:pPr>
                      <a:r>
                        <a:rPr lang="en-US" sz="1250" b="1" dirty="0">
                          <a:solidFill>
                            <a:srgbClr val="C62828"/>
                          </a:solidFill>
                          <a:latin typeface="Arial" pitchFamily="34" charset="0"/>
                          <a:ea typeface="Arial" pitchFamily="34" charset="-122"/>
                          <a:cs typeface="Arial" pitchFamily="34" charset="-120"/>
                        </a:rPr>
                        <a:t>No
</a:t>
                      </a:r>
                      <a:r>
                        <a:rPr lang="en-US" sz="1100" dirty="0">
                          <a:solidFill>
                            <a:srgbClr val="2B2B2B"/>
                          </a:solidFill>
                          <a:latin typeface="Arial" pitchFamily="34" charset="0"/>
                          <a:ea typeface="Arial" pitchFamily="34" charset="-122"/>
                          <a:cs typeface="Arial" pitchFamily="34" charset="-120"/>
                        </a:rPr>
                        <a:t>Not in the price guidance</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8E6"/>
                    </a:solidFill>
                  </a:tcPr>
                </a:tc>
                <a:tc>
                  <a:txBody>
                    <a:bodyPr/>
                    <a:lstStyle/>
                    <a:p>
                      <a:pPr marL="0" indent="0">
                        <a:buNone/>
                      </a:pPr>
                      <a:r>
                        <a:rPr lang="en-US" sz="1250" b="1" dirty="0">
                          <a:solidFill>
                            <a:srgbClr val="1E8E3E"/>
                          </a:solidFill>
                          <a:latin typeface="Arial" pitchFamily="34" charset="0"/>
                          <a:ea typeface="Arial" pitchFamily="34" charset="-122"/>
                          <a:cs typeface="Arial" pitchFamily="34" charset="-120"/>
                        </a:rPr>
                        <a:t>Yes
</a:t>
                      </a:r>
                      <a:r>
                        <a:rPr lang="en-US" sz="1100" dirty="0">
                          <a:solidFill>
                            <a:srgbClr val="2B2B2B"/>
                          </a:solidFill>
                          <a:latin typeface="Arial" pitchFamily="34" charset="0"/>
                          <a:ea typeface="Arial" pitchFamily="34" charset="-122"/>
                          <a:cs typeface="Arial" pitchFamily="34" charset="-120"/>
                        </a:rPr>
                        <a:t>Pricing Health vs Featured Offer</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6F4EA"/>
                    </a:solidFill>
                  </a:tcPr>
                </a:tc>
                <a:tc>
                  <a:txBody>
                    <a:bodyPr/>
                    <a:lstStyle/>
                    <a:p>
                      <a:pPr marL="0" indent="0">
                        <a:buNone/>
                      </a:pPr>
                      <a:r>
                        <a:rPr lang="en-US" sz="1250" b="1" dirty="0">
                          <a:solidFill>
                            <a:srgbClr val="C9660A"/>
                          </a:solidFill>
                          <a:latin typeface="Arial" pitchFamily="34" charset="0"/>
                          <a:ea typeface="Arial" pitchFamily="34" charset="-122"/>
                          <a:cs typeface="Arial" pitchFamily="34" charset="-120"/>
                        </a:rPr>
                        <a:t>Partial
</a:t>
                      </a:r>
                      <a:r>
                        <a:rPr lang="en-US" sz="1100" dirty="0">
                          <a:solidFill>
                            <a:srgbClr val="2B2B2B"/>
                          </a:solidFill>
                          <a:latin typeface="Arial" pitchFamily="34" charset="0"/>
                          <a:ea typeface="Arial" pitchFamily="34" charset="-122"/>
                          <a:cs typeface="Arial" pitchFamily="34" charset="-120"/>
                        </a:rPr>
                        <a:t>Calculator only</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1DC"/>
                    </a:solidFill>
                  </a:tcPr>
                </a:tc>
                <a:tc>
                  <a:txBody>
                    <a:bodyPr/>
                    <a:lstStyle/>
                    <a:p>
                      <a:pPr marL="0" indent="0">
                        <a:buNone/>
                      </a:pPr>
                      <a:r>
                        <a:rPr lang="en-US" sz="1250" b="1" dirty="0">
                          <a:solidFill>
                            <a:srgbClr val="C9660A"/>
                          </a:solidFill>
                          <a:latin typeface="Arial" pitchFamily="34" charset="0"/>
                          <a:ea typeface="Arial" pitchFamily="34" charset="-122"/>
                          <a:cs typeface="Arial" pitchFamily="34" charset="-120"/>
                        </a:rPr>
                        <a:t>Partial
</a:t>
                      </a:r>
                      <a:r>
                        <a:rPr lang="en-US" sz="1100" dirty="0">
                          <a:solidFill>
                            <a:srgbClr val="2B2B2B"/>
                          </a:solidFill>
                          <a:latin typeface="Arial" pitchFamily="34" charset="0"/>
                          <a:ea typeface="Arial" pitchFamily="34" charset="-122"/>
                          <a:cs typeface="Arial" pitchFamily="34" charset="-120"/>
                        </a:rPr>
                        <a:t>Automate Pricing rules</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1DC"/>
                    </a:solidFill>
                  </a:tcPr>
                </a:tc>
                <a:extLst>
                  <a:ext uri="{0D108BD9-81ED-4DB2-BD59-A6C34878D82A}">
                    <a16:rowId xmlns:a16="http://schemas.microsoft.com/office/drawing/2014/main" val="10002"/>
                  </a:ext>
                </a:extLst>
              </a:tr>
              <a:tr h="868680">
                <a:tc>
                  <a:txBody>
                    <a:bodyPr/>
                    <a:lstStyle/>
                    <a:p>
                      <a:pPr marL="0" indent="0">
                        <a:buNone/>
                      </a:pPr>
                      <a:r>
                        <a:rPr lang="en-US" sz="1300" b="1" dirty="0">
                          <a:solidFill>
                            <a:srgbClr val="5B0F4E"/>
                          </a:solidFill>
                          <a:latin typeface="Arial" pitchFamily="34" charset="0"/>
                          <a:ea typeface="Arial" pitchFamily="34" charset="-122"/>
                          <a:cs typeface="Arial" pitchFamily="34" charset="-120"/>
                        </a:rPr>
                        <a:t>Flipkart</a:t>
                      </a:r>
                      <a:endParaRPr lang="en-US" sz="13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250" b="1" dirty="0">
                          <a:solidFill>
                            <a:srgbClr val="C62828"/>
                          </a:solidFill>
                          <a:latin typeface="Arial" pitchFamily="34" charset="0"/>
                          <a:ea typeface="Arial" pitchFamily="34" charset="-122"/>
                          <a:cs typeface="Arial" pitchFamily="34" charset="-120"/>
                        </a:rPr>
                        <a:t>No
</a:t>
                      </a:r>
                      <a:r>
                        <a:rPr lang="en-US" sz="1100" dirty="0">
                          <a:solidFill>
                            <a:srgbClr val="2B2B2B"/>
                          </a:solidFill>
                          <a:latin typeface="Arial" pitchFamily="34" charset="0"/>
                          <a:ea typeface="Arial" pitchFamily="34" charset="-122"/>
                          <a:cs typeface="Arial" pitchFamily="34" charset="-120"/>
                        </a:rPr>
                        <a:t>Market-trend based</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8E6"/>
                    </a:solidFill>
                  </a:tcPr>
                </a:tc>
                <a:tc>
                  <a:txBody>
                    <a:bodyPr/>
                    <a:lstStyle/>
                    <a:p>
                      <a:pPr marL="0" indent="0">
                        <a:buNone/>
                      </a:pPr>
                      <a:r>
                        <a:rPr lang="en-US" sz="1250" b="1" dirty="0">
                          <a:solidFill>
                            <a:srgbClr val="C62828"/>
                          </a:solidFill>
                          <a:latin typeface="Arial" pitchFamily="34" charset="0"/>
                          <a:ea typeface="Arial" pitchFamily="34" charset="-122"/>
                          <a:cs typeface="Arial" pitchFamily="34" charset="-120"/>
                        </a:rPr>
                        <a:t>No
</a:t>
                      </a:r>
                      <a:r>
                        <a:rPr lang="en-US" sz="1100" dirty="0">
                          <a:solidFill>
                            <a:srgbClr val="2B2B2B"/>
                          </a:solidFill>
                          <a:latin typeface="Arial" pitchFamily="34" charset="0"/>
                          <a:ea typeface="Arial" pitchFamily="34" charset="-122"/>
                          <a:cs typeface="Arial" pitchFamily="34" charset="-120"/>
                        </a:rPr>
                        <a:t>Not in the price guidance</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8E6"/>
                    </a:solidFill>
                  </a:tcPr>
                </a:tc>
                <a:tc>
                  <a:txBody>
                    <a:bodyPr/>
                    <a:lstStyle/>
                    <a:p>
                      <a:pPr marL="0" indent="0">
                        <a:buNone/>
                      </a:pPr>
                      <a:r>
                        <a:rPr lang="en-US" sz="1250" b="1" dirty="0">
                          <a:solidFill>
                            <a:srgbClr val="1E8E3E"/>
                          </a:solidFill>
                          <a:latin typeface="Arial" pitchFamily="34" charset="0"/>
                          <a:ea typeface="Arial" pitchFamily="34" charset="-122"/>
                          <a:cs typeface="Arial" pitchFamily="34" charset="-120"/>
                        </a:rPr>
                        <a:t>Yes
</a:t>
                      </a:r>
                      <a:r>
                        <a:rPr lang="en-US" sz="1100" dirty="0">
                          <a:solidFill>
                            <a:srgbClr val="2B2B2B"/>
                          </a:solidFill>
                          <a:latin typeface="Arial" pitchFamily="34" charset="0"/>
                          <a:ea typeface="Arial" pitchFamily="34" charset="-122"/>
                          <a:cs typeface="Arial" pitchFamily="34" charset="-120"/>
                        </a:rPr>
                        <a:t>Price Recommendation Tool</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6F4EA"/>
                    </a:solidFill>
                  </a:tcPr>
                </a:tc>
                <a:tc>
                  <a:txBody>
                    <a:bodyPr/>
                    <a:lstStyle/>
                    <a:p>
                      <a:pPr marL="0" indent="0">
                        <a:buNone/>
                      </a:pPr>
                      <a:r>
                        <a:rPr lang="en-US" sz="1250" b="1" dirty="0">
                          <a:solidFill>
                            <a:srgbClr val="C9660A"/>
                          </a:solidFill>
                          <a:latin typeface="Arial" pitchFamily="34" charset="0"/>
                          <a:ea typeface="Arial" pitchFamily="34" charset="-122"/>
                          <a:cs typeface="Arial" pitchFamily="34" charset="-120"/>
                        </a:rPr>
                        <a:t>Partial
</a:t>
                      </a:r>
                      <a:r>
                        <a:rPr lang="en-US" sz="1100" dirty="0">
                          <a:solidFill>
                            <a:srgbClr val="2B2B2B"/>
                          </a:solidFill>
                          <a:latin typeface="Arial" pitchFamily="34" charset="0"/>
                          <a:ea typeface="Arial" pitchFamily="34" charset="-122"/>
                          <a:cs typeface="Arial" pitchFamily="34" charset="-120"/>
                        </a:rPr>
                        <a:t>Help via paid account manager</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1DC"/>
                    </a:solidFill>
                  </a:tcPr>
                </a:tc>
                <a:tc>
                  <a:txBody>
                    <a:bodyPr/>
                    <a:lstStyle/>
                    <a:p>
                      <a:pPr marL="0" indent="0">
                        <a:buNone/>
                      </a:pPr>
                      <a:r>
                        <a:rPr lang="en-US" sz="1250" b="1" dirty="0">
                          <a:solidFill>
                            <a:srgbClr val="C62828"/>
                          </a:solidFill>
                          <a:latin typeface="Arial" pitchFamily="34" charset="0"/>
                          <a:ea typeface="Arial" pitchFamily="34" charset="-122"/>
                          <a:cs typeface="Arial" pitchFamily="34" charset="-120"/>
                        </a:rPr>
                        <a:t>No
</a:t>
                      </a:r>
                      <a:r>
                        <a:rPr lang="en-US" sz="1100" dirty="0">
                          <a:solidFill>
                            <a:srgbClr val="2B2B2B"/>
                          </a:solidFill>
                          <a:latin typeface="Arial" pitchFamily="34" charset="0"/>
                          <a:ea typeface="Arial" pitchFamily="34" charset="-122"/>
                          <a:cs typeface="Arial" pitchFamily="34" charset="-120"/>
                        </a:rPr>
                        <a:t>Dashboards only</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8E6"/>
                    </a:solidFill>
                  </a:tcPr>
                </a:tc>
                <a:extLst>
                  <a:ext uri="{0D108BD9-81ED-4DB2-BD59-A6C34878D82A}">
                    <a16:rowId xmlns:a16="http://schemas.microsoft.com/office/drawing/2014/main" val="10003"/>
                  </a:ext>
                </a:extLst>
              </a:tr>
              <a:tr h="868680">
                <a:tc>
                  <a:txBody>
                    <a:bodyPr/>
                    <a:lstStyle/>
                    <a:p>
                      <a:pPr marL="0" indent="0">
                        <a:buNone/>
                      </a:pPr>
                      <a:r>
                        <a:rPr lang="en-US" sz="1300" b="1" dirty="0">
                          <a:solidFill>
                            <a:srgbClr val="5B0F4E"/>
                          </a:solidFill>
                          <a:latin typeface="Arial" pitchFamily="34" charset="0"/>
                          <a:ea typeface="Arial" pitchFamily="34" charset="-122"/>
                          <a:cs typeface="Arial" pitchFamily="34" charset="-120"/>
                        </a:rPr>
                        <a:t>Walmart Marketplace</a:t>
                      </a:r>
                      <a:endParaRPr lang="en-US" sz="13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250" b="1" dirty="0">
                          <a:solidFill>
                            <a:srgbClr val="C9660A"/>
                          </a:solidFill>
                          <a:latin typeface="Arial" pitchFamily="34" charset="0"/>
                          <a:ea typeface="Arial" pitchFamily="34" charset="-122"/>
                          <a:cs typeface="Arial" pitchFamily="34" charset="-120"/>
                        </a:rPr>
                        <a:t>Partial
</a:t>
                      </a:r>
                      <a:r>
                        <a:rPr lang="en-US" sz="1100" dirty="0">
                          <a:solidFill>
                            <a:srgbClr val="2B2B2B"/>
                          </a:solidFill>
                          <a:latin typeface="Arial" pitchFamily="34" charset="0"/>
                          <a:ea typeface="Arial" pitchFamily="34" charset="-122"/>
                          <a:cs typeface="Arial" pitchFamily="34" charset="-120"/>
                        </a:rPr>
                        <a:t>Mandatory seller-set minimum price</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1DC"/>
                    </a:solidFill>
                  </a:tcPr>
                </a:tc>
                <a:tc>
                  <a:txBody>
                    <a:bodyPr/>
                    <a:lstStyle/>
                    <a:p>
                      <a:pPr marL="0" indent="0">
                        <a:buNone/>
                      </a:pPr>
                      <a:r>
                        <a:rPr lang="en-US" sz="1250" b="1" dirty="0">
                          <a:solidFill>
                            <a:srgbClr val="C62828"/>
                          </a:solidFill>
                          <a:latin typeface="Arial" pitchFamily="34" charset="0"/>
                          <a:ea typeface="Arial" pitchFamily="34" charset="-122"/>
                          <a:cs typeface="Arial" pitchFamily="34" charset="-120"/>
                        </a:rPr>
                        <a:t>No
</a:t>
                      </a:r>
                      <a:r>
                        <a:rPr lang="en-US" sz="1100" dirty="0">
                          <a:solidFill>
                            <a:srgbClr val="2B2B2B"/>
                          </a:solidFill>
                          <a:latin typeface="Arial" pitchFamily="34" charset="0"/>
                          <a:ea typeface="Arial" pitchFamily="34" charset="-122"/>
                          <a:cs typeface="Arial" pitchFamily="34" charset="-120"/>
                        </a:rPr>
                        <a:t>Not in the price guidance</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8E6"/>
                    </a:solidFill>
                  </a:tcPr>
                </a:tc>
                <a:tc>
                  <a:txBody>
                    <a:bodyPr/>
                    <a:lstStyle/>
                    <a:p>
                      <a:pPr marL="0" indent="0">
                        <a:buNone/>
                      </a:pPr>
                      <a:r>
                        <a:rPr lang="en-US" sz="1250" b="1" dirty="0">
                          <a:solidFill>
                            <a:srgbClr val="1E8E3E"/>
                          </a:solidFill>
                          <a:latin typeface="Arial" pitchFamily="34" charset="0"/>
                          <a:ea typeface="Arial" pitchFamily="34" charset="-122"/>
                          <a:cs typeface="Arial" pitchFamily="34" charset="-120"/>
                        </a:rPr>
                        <a:t>Yes
</a:t>
                      </a:r>
                      <a:r>
                        <a:rPr lang="en-US" sz="1100" dirty="0">
                          <a:solidFill>
                            <a:srgbClr val="2B2B2B"/>
                          </a:solidFill>
                          <a:latin typeface="Arial" pitchFamily="34" charset="0"/>
                          <a:ea typeface="Arial" pitchFamily="34" charset="-122"/>
                          <a:cs typeface="Arial" pitchFamily="34" charset="-120"/>
                        </a:rPr>
                        <a:t>Pricing Insights, Buy Box win rate</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6F4EA"/>
                    </a:solidFill>
                  </a:tcPr>
                </a:tc>
                <a:tc>
                  <a:txBody>
                    <a:bodyPr/>
                    <a:lstStyle/>
                    <a:p>
                      <a:pPr marL="0" indent="0">
                        <a:buNone/>
                      </a:pPr>
                      <a:r>
                        <a:rPr lang="en-US" sz="1250" b="1" dirty="0">
                          <a:solidFill>
                            <a:srgbClr val="C62828"/>
                          </a:solidFill>
                          <a:latin typeface="Arial" pitchFamily="34" charset="0"/>
                          <a:ea typeface="Arial" pitchFamily="34" charset="-122"/>
                          <a:cs typeface="Arial" pitchFamily="34" charset="-120"/>
                        </a:rPr>
                        <a:t>No
</a:t>
                      </a:r>
                      <a:r>
                        <a:rPr lang="en-US" sz="1100" dirty="0">
                          <a:solidFill>
                            <a:srgbClr val="2B2B2B"/>
                          </a:solidFill>
                          <a:latin typeface="Arial" pitchFamily="34" charset="0"/>
                          <a:ea typeface="Arial" pitchFamily="34" charset="-122"/>
                          <a:cs typeface="Arial" pitchFamily="34" charset="-120"/>
                        </a:rPr>
                        <a:t>None found</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8E6"/>
                    </a:solidFill>
                  </a:tcPr>
                </a:tc>
                <a:tc>
                  <a:txBody>
                    <a:bodyPr/>
                    <a:lstStyle/>
                    <a:p>
                      <a:pPr marL="0" indent="0">
                        <a:buNone/>
                      </a:pPr>
                      <a:r>
                        <a:rPr lang="en-US" sz="1250" b="1" dirty="0">
                          <a:solidFill>
                            <a:srgbClr val="C9660A"/>
                          </a:solidFill>
                          <a:latin typeface="Arial" pitchFamily="34" charset="0"/>
                          <a:ea typeface="Arial" pitchFamily="34" charset="-122"/>
                          <a:cs typeface="Arial" pitchFamily="34" charset="-120"/>
                        </a:rPr>
                        <a:t>Partial
</a:t>
                      </a:r>
                      <a:r>
                        <a:rPr lang="en-US" sz="1100" dirty="0">
                          <a:solidFill>
                            <a:srgbClr val="2B2B2B"/>
                          </a:solidFill>
                          <a:latin typeface="Arial" pitchFamily="34" charset="0"/>
                          <a:ea typeface="Arial" pitchFamily="34" charset="-122"/>
                          <a:cs typeface="Arial" pitchFamily="34" charset="-120"/>
                        </a:rPr>
                        <a:t>Repricer within min/max</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1DC"/>
                    </a:solidFill>
                  </a:tcPr>
                </a:tc>
                <a:extLst>
                  <a:ext uri="{0D108BD9-81ED-4DB2-BD59-A6C34878D82A}">
                    <a16:rowId xmlns:a16="http://schemas.microsoft.com/office/drawing/2014/main" val="10004"/>
                  </a:ext>
                </a:extLst>
              </a:tr>
              <a:tr h="868680">
                <a:tc>
                  <a:txBody>
                    <a:bodyPr/>
                    <a:lstStyle/>
                    <a:p>
                      <a:pPr marL="0" indent="0">
                        <a:buNone/>
                      </a:pPr>
                      <a:r>
                        <a:rPr lang="en-US" sz="1300" b="1" dirty="0">
                          <a:solidFill>
                            <a:srgbClr val="5B0F4E"/>
                          </a:solidFill>
                          <a:latin typeface="Arial" pitchFamily="34" charset="0"/>
                          <a:ea typeface="Arial" pitchFamily="34" charset="-122"/>
                          <a:cs typeface="Arial" pitchFamily="34" charset="-120"/>
                        </a:rPr>
                        <a:t>Temu (fully managed)</a:t>
                      </a:r>
                      <a:endParaRPr lang="en-US" sz="13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250" b="1" dirty="0">
                          <a:solidFill>
                            <a:srgbClr val="555555"/>
                          </a:solidFill>
                          <a:latin typeface="Arial" pitchFamily="34" charset="0"/>
                          <a:ea typeface="Arial" pitchFamily="34" charset="-122"/>
                          <a:cs typeface="Arial" pitchFamily="34" charset="-120"/>
                        </a:rPr>
                        <a:t>n/a
</a:t>
                      </a:r>
                      <a:r>
                        <a:rPr lang="en-US" sz="1100" dirty="0">
                          <a:solidFill>
                            <a:srgbClr val="2B2B2B"/>
                          </a:solidFill>
                          <a:latin typeface="Arial" pitchFamily="34" charset="0"/>
                          <a:ea typeface="Arial" pitchFamily="34" charset="-122"/>
                          <a:cs typeface="Arial" pitchFamily="34" charset="-120"/>
                        </a:rPr>
                        <a:t>Platform sets the retail price</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marL="0" indent="0">
                        <a:buNone/>
                      </a:pPr>
                      <a:r>
                        <a:rPr lang="en-US" sz="1250" b="1" dirty="0">
                          <a:solidFill>
                            <a:srgbClr val="555555"/>
                          </a:solidFill>
                          <a:latin typeface="Arial" pitchFamily="34" charset="0"/>
                          <a:ea typeface="Arial" pitchFamily="34" charset="-122"/>
                          <a:cs typeface="Arial" pitchFamily="34" charset="-120"/>
                        </a:rPr>
                        <a:t>n/a
</a:t>
                      </a:r>
                      <a:r>
                        <a:rPr lang="en-US" sz="1100" dirty="0">
                          <a:solidFill>
                            <a:srgbClr val="2B2B2B"/>
                          </a:solidFill>
                          <a:latin typeface="Arial" pitchFamily="34" charset="0"/>
                          <a:ea typeface="Arial" pitchFamily="34" charset="-122"/>
                          <a:cs typeface="Arial" pitchFamily="34" charset="-120"/>
                        </a:rPr>
                        <a:t>Platform carries returns</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marL="0" indent="0">
                        <a:buNone/>
                      </a:pPr>
                      <a:r>
                        <a:rPr lang="en-US" sz="1250" b="1" dirty="0">
                          <a:solidFill>
                            <a:srgbClr val="555555"/>
                          </a:solidFill>
                          <a:latin typeface="Arial" pitchFamily="34" charset="0"/>
                          <a:ea typeface="Arial" pitchFamily="34" charset="-122"/>
                          <a:cs typeface="Arial" pitchFamily="34" charset="-120"/>
                        </a:rPr>
                        <a:t>n/a
</a:t>
                      </a:r>
                      <a:r>
                        <a:rPr lang="en-US" sz="1100" dirty="0">
                          <a:solidFill>
                            <a:srgbClr val="2B2B2B"/>
                          </a:solidFill>
                          <a:latin typeface="Arial" pitchFamily="34" charset="0"/>
                          <a:ea typeface="Arial" pitchFamily="34" charset="-122"/>
                          <a:cs typeface="Arial" pitchFamily="34" charset="-120"/>
                        </a:rPr>
                        <a:t>Platform decides</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marL="0" indent="0">
                        <a:buNone/>
                      </a:pPr>
                      <a:r>
                        <a:rPr lang="en-US" sz="1250" b="1" dirty="0">
                          <a:solidFill>
                            <a:srgbClr val="555555"/>
                          </a:solidFill>
                          <a:latin typeface="Arial" pitchFamily="34" charset="0"/>
                          <a:ea typeface="Arial" pitchFamily="34" charset="-122"/>
                          <a:cs typeface="Arial" pitchFamily="34" charset="-120"/>
                        </a:rPr>
                        <a:t>n/a
</a:t>
                      </a:r>
                      <a:r>
                        <a:rPr lang="en-US" sz="1100" dirty="0">
                          <a:solidFill>
                            <a:srgbClr val="2B2B2B"/>
                          </a:solidFill>
                          <a:latin typeface="Arial" pitchFamily="34" charset="0"/>
                          <a:ea typeface="Arial" pitchFamily="34" charset="-122"/>
                          <a:cs typeface="Arial" pitchFamily="34" charset="-120"/>
                        </a:rPr>
                        <a:t>Platform decides</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marL="0" indent="0">
                        <a:buNone/>
                      </a:pPr>
                      <a:r>
                        <a:rPr lang="en-US" sz="1250" b="1" dirty="0">
                          <a:solidFill>
                            <a:srgbClr val="555555"/>
                          </a:solidFill>
                          <a:latin typeface="Arial" pitchFamily="34" charset="0"/>
                          <a:ea typeface="Arial" pitchFamily="34" charset="-122"/>
                          <a:cs typeface="Arial" pitchFamily="34" charset="-120"/>
                        </a:rPr>
                        <a:t>n/a
</a:t>
                      </a:r>
                      <a:r>
                        <a:rPr lang="en-US" sz="1100" dirty="0">
                          <a:solidFill>
                            <a:srgbClr val="2B2B2B"/>
                          </a:solidFill>
                          <a:latin typeface="Arial" pitchFamily="34" charset="0"/>
                          <a:ea typeface="Arial" pitchFamily="34" charset="-122"/>
                          <a:cs typeface="Arial" pitchFamily="34" charset="-120"/>
                        </a:rPr>
                        <a:t>Platform decides</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r h="868680">
                <a:tc>
                  <a:txBody>
                    <a:bodyPr/>
                    <a:lstStyle/>
                    <a:p>
                      <a:pPr marL="0" indent="0">
                        <a:buNone/>
                      </a:pPr>
                      <a:r>
                        <a:rPr lang="en-US" sz="1400" b="1" dirty="0">
                          <a:solidFill>
                            <a:srgbClr val="FFFFFF"/>
                          </a:solidFill>
                          <a:latin typeface="Arial" pitchFamily="34" charset="0"/>
                          <a:ea typeface="Arial" pitchFamily="34" charset="-122"/>
                          <a:cs typeface="Arial" pitchFamily="34" charset="-120"/>
                        </a:rPr>
                        <a:t>Sahi Daam</a:t>
                      </a:r>
                      <a:endParaRPr lang="en-US" sz="14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29A1F"/>
                    </a:solidFill>
                  </a:tcPr>
                </a:tc>
                <a:tc>
                  <a:txBody>
                    <a:bodyPr/>
                    <a:lstStyle/>
                    <a:p>
                      <a:pPr marL="0" indent="0">
                        <a:buNone/>
                      </a:pPr>
                      <a:r>
                        <a:rPr lang="en-US" sz="1250" b="1" dirty="0">
                          <a:solidFill>
                            <a:srgbClr val="1E8E3E"/>
                          </a:solidFill>
                          <a:latin typeface="Arial" pitchFamily="34" charset="0"/>
                          <a:ea typeface="Arial" pitchFamily="34" charset="-122"/>
                          <a:cs typeface="Arial" pitchFamily="34" charset="-120"/>
                        </a:rPr>
                        <a:t>Yes
</a:t>
                      </a:r>
                      <a:r>
                        <a:rPr lang="en-US" sz="1100" dirty="0">
                          <a:solidFill>
                            <a:srgbClr val="2B2B2B"/>
                          </a:solidFill>
                          <a:latin typeface="Arial" pitchFamily="34" charset="0"/>
                          <a:ea typeface="Arial" pitchFamily="34" charset="-122"/>
                          <a:cs typeface="Arial" pitchFamily="34" charset="-120"/>
                        </a:rPr>
                        <a:t>Munafa Meter: C + shipping + GST + failures</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6F4EA"/>
                    </a:solidFill>
                  </a:tcPr>
                </a:tc>
                <a:tc>
                  <a:txBody>
                    <a:bodyPr/>
                    <a:lstStyle/>
                    <a:p>
                      <a:pPr marL="0" indent="0">
                        <a:buNone/>
                      </a:pPr>
                      <a:r>
                        <a:rPr lang="en-US" sz="1250" b="1" dirty="0">
                          <a:solidFill>
                            <a:srgbClr val="1E8E3E"/>
                          </a:solidFill>
                          <a:latin typeface="Arial" pitchFamily="34" charset="0"/>
                          <a:ea typeface="Arial" pitchFamily="34" charset="-122"/>
                          <a:cs typeface="Arial" pitchFamily="34" charset="-120"/>
                        </a:rPr>
                        <a:t>Yes
</a:t>
                      </a:r>
                      <a:r>
                        <a:rPr lang="en-US" sz="1100" dirty="0">
                          <a:solidFill>
                            <a:srgbClr val="2B2B2B"/>
                          </a:solidFill>
                          <a:latin typeface="Arial" pitchFamily="34" charset="0"/>
                          <a:ea typeface="Arial" pitchFamily="34" charset="-122"/>
                          <a:cs typeface="Arial" pitchFamily="34" charset="-120"/>
                        </a:rPr>
                        <a:t>RTO and returns priced separately</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6F4EA"/>
                    </a:solidFill>
                  </a:tcPr>
                </a:tc>
                <a:tc>
                  <a:txBody>
                    <a:bodyPr/>
                    <a:lstStyle/>
                    <a:p>
                      <a:pPr marL="0" indent="0">
                        <a:buNone/>
                      </a:pPr>
                      <a:r>
                        <a:rPr lang="en-US" sz="1250" b="1" dirty="0">
                          <a:solidFill>
                            <a:srgbClr val="1E8E3E"/>
                          </a:solidFill>
                          <a:latin typeface="Arial" pitchFamily="34" charset="0"/>
                          <a:ea typeface="Arial" pitchFamily="34" charset="-122"/>
                          <a:cs typeface="Arial" pitchFamily="34" charset="-120"/>
                        </a:rPr>
                        <a:t>Yes
</a:t>
                      </a:r>
                      <a:r>
                        <a:rPr lang="en-US" sz="1100" dirty="0">
                          <a:solidFill>
                            <a:srgbClr val="2B2B2B"/>
                          </a:solidFill>
                          <a:latin typeface="Arial" pitchFamily="34" charset="0"/>
                          <a:ea typeface="Arial" pitchFamily="34" charset="-122"/>
                          <a:cs typeface="Arial" pitchFamily="34" charset="-120"/>
                        </a:rPr>
                        <a:t>Band + zones + price rank, never below floor</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6F4EA"/>
                    </a:solidFill>
                  </a:tcPr>
                </a:tc>
                <a:tc>
                  <a:txBody>
                    <a:bodyPr/>
                    <a:lstStyle/>
                    <a:p>
                      <a:pPr marL="0" indent="0">
                        <a:buNone/>
                      </a:pPr>
                      <a:r>
                        <a:rPr lang="en-US" sz="1250" b="1" dirty="0">
                          <a:solidFill>
                            <a:srgbClr val="1E8E3E"/>
                          </a:solidFill>
                          <a:latin typeface="Arial" pitchFamily="34" charset="0"/>
                          <a:ea typeface="Arial" pitchFamily="34" charset="-122"/>
                          <a:cs typeface="Arial" pitchFamily="34" charset="-120"/>
                        </a:rPr>
                        <a:t>Yes
</a:t>
                      </a:r>
                      <a:r>
                        <a:rPr lang="en-US" sz="1100" dirty="0">
                          <a:solidFill>
                            <a:srgbClr val="2B2B2B"/>
                          </a:solidFill>
                          <a:latin typeface="Arial" pitchFamily="34" charset="0"/>
                          <a:ea typeface="Arial" pitchFamily="34" charset="-122"/>
                          <a:cs typeface="Arial" pitchFamily="34" charset="-120"/>
                        </a:rPr>
                        <a:t>Category priors blended with own data</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6F4EA"/>
                    </a:solidFill>
                  </a:tcPr>
                </a:tc>
                <a:tc>
                  <a:txBody>
                    <a:bodyPr/>
                    <a:lstStyle/>
                    <a:p>
                      <a:pPr marL="0" indent="0">
                        <a:buNone/>
                      </a:pPr>
                      <a:r>
                        <a:rPr lang="en-US" sz="1250" b="1" dirty="0">
                          <a:solidFill>
                            <a:srgbClr val="1E8E3E"/>
                          </a:solidFill>
                          <a:latin typeface="Arial" pitchFamily="34" charset="0"/>
                          <a:ea typeface="Arial" pitchFamily="34" charset="-122"/>
                          <a:cs typeface="Arial" pitchFamily="34" charset="-120"/>
                        </a:rPr>
                        <a:t>Yes
</a:t>
                      </a:r>
                      <a:r>
                        <a:rPr lang="en-US" sz="1100" dirty="0">
                          <a:solidFill>
                            <a:srgbClr val="2B2B2B"/>
                          </a:solidFill>
                          <a:latin typeface="Arial" pitchFamily="34" charset="0"/>
                          <a:ea typeface="Arial" pitchFamily="34" charset="-122"/>
                          <a:cs typeface="Arial" pitchFamily="34" charset="-120"/>
                        </a:rPr>
                        <a:t>3 triggers with ₹ impact</a:t>
                      </a:r>
                      <a:endParaRPr lang="en-US" sz="1100" dirty="0">
                        <a:latin typeface="Arial" charset="0"/>
                        <a:ea typeface="Arial" charset="0"/>
                        <a:cs typeface="Arial" charset="0"/>
                      </a:endParaRPr>
                    </a:p>
                  </a:txBody>
                  <a:tcPr marL="64008" marR="64008" marT="64008" marB="640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6F4EA"/>
                    </a:solidFill>
                  </a:tcPr>
                </a:tc>
                <a:extLst>
                  <a:ext uri="{0D108BD9-81ED-4DB2-BD59-A6C34878D82A}">
                    <a16:rowId xmlns:a16="http://schemas.microsoft.com/office/drawing/2014/main" val="10006"/>
                  </a:ext>
                </a:extLst>
              </a:tr>
            </a:tbl>
          </a:graphicData>
        </a:graphic>
      </p:graphicFrame>
      <p:sp>
        <p:nvSpPr>
          <p:cNvPr id="26" name="Shape 23"/>
          <p:cNvSpPr/>
          <p:nvPr/>
        </p:nvSpPr>
        <p:spPr>
          <a:xfrm>
            <a:off x="12801600" y="3154680"/>
            <a:ext cx="5029200" cy="1874520"/>
          </a:xfrm>
          <a:prstGeom prst="roundRect">
            <a:avLst>
              <a:gd name="adj" fmla="val 5854"/>
            </a:avLst>
          </a:prstGeom>
          <a:solidFill>
            <a:srgbClr val="FFF1DC"/>
          </a:solidFill>
          <a:ln w="12700">
            <a:solidFill>
              <a:srgbClr val="FFF1DC"/>
            </a:solidFill>
            <a:prstDash val="solid"/>
          </a:ln>
        </p:spPr>
        <p:txBody>
          <a:bodyPr/>
          <a:lstStyle/>
          <a:p>
            <a:endParaRPr lang="en-IN"/>
          </a:p>
        </p:txBody>
      </p:sp>
      <p:sp>
        <p:nvSpPr>
          <p:cNvPr id="27" name="Shape 24"/>
          <p:cNvSpPr/>
          <p:nvPr/>
        </p:nvSpPr>
        <p:spPr>
          <a:xfrm>
            <a:off x="12938760" y="3291840"/>
            <a:ext cx="502920" cy="502920"/>
          </a:xfrm>
          <a:prstGeom prst="ellipse">
            <a:avLst/>
          </a:prstGeom>
          <a:solidFill>
            <a:srgbClr val="F29A1F"/>
          </a:solidFill>
          <a:ln w="12700">
            <a:solidFill>
              <a:srgbClr val="F29A1F"/>
            </a:solidFill>
            <a:prstDash val="solid"/>
          </a:ln>
        </p:spPr>
        <p:txBody>
          <a:bodyPr/>
          <a:lstStyle/>
          <a:p>
            <a:endParaRPr lang="en-IN"/>
          </a:p>
        </p:txBody>
      </p:sp>
      <p:pic>
        <p:nvPicPr>
          <p:cNvPr id="28" name="Image 0" descr="preencoded.png"/>
          <p:cNvPicPr>
            <a:picLocks noChangeAspect="1"/>
          </p:cNvPicPr>
          <p:nvPr/>
        </p:nvPicPr>
        <p:blipFill>
          <a:blip r:embed="rId4"/>
          <a:stretch>
            <a:fillRect/>
          </a:stretch>
        </p:blipFill>
        <p:spPr>
          <a:xfrm>
            <a:off x="13059461" y="3412541"/>
            <a:ext cx="261518" cy="261518"/>
          </a:xfrm>
          <a:prstGeom prst="rect">
            <a:avLst/>
          </a:prstGeom>
        </p:spPr>
      </p:pic>
      <p:sp>
        <p:nvSpPr>
          <p:cNvPr id="29" name="Text 25"/>
          <p:cNvSpPr txBox="1"/>
          <p:nvPr/>
        </p:nvSpPr>
        <p:spPr>
          <a:xfrm>
            <a:off x="13578840" y="3319272"/>
            <a:ext cx="4114800" cy="411480"/>
          </a:xfrm>
          <a:prstGeom prst="rect">
            <a:avLst/>
          </a:prstGeom>
          <a:noFill/>
          <a:ln/>
        </p:spPr>
        <p:txBody>
          <a:bodyPr wrap="square" lIns="762" tIns="762" rIns="762" bIns="762" rtlCol="0" anchor="ctr"/>
          <a:lstStyle/>
          <a:p>
            <a:pPr marL="0" indent="0">
              <a:buNone/>
            </a:pPr>
            <a:r>
              <a:rPr lang="en-US" sz="1500" b="1" dirty="0">
                <a:solidFill>
                  <a:srgbClr val="5B0F4E"/>
                </a:solidFill>
                <a:latin typeface="Arial" pitchFamily="34" charset="0"/>
                <a:ea typeface="Arial" pitchFamily="34" charset="-122"/>
                <a:cs typeface="Arial" pitchFamily="34" charset="-120"/>
              </a:rPr>
              <a:t>2025–26 shift</a:t>
            </a:r>
            <a:endParaRPr lang="en-US" sz="1500" dirty="0"/>
          </a:p>
        </p:txBody>
      </p:sp>
      <p:sp>
        <p:nvSpPr>
          <p:cNvPr id="30" name="Text 26"/>
          <p:cNvSpPr txBox="1"/>
          <p:nvPr/>
        </p:nvSpPr>
        <p:spPr>
          <a:xfrm>
            <a:off x="12938760" y="3867912"/>
            <a:ext cx="4800600" cy="1143000"/>
          </a:xfrm>
          <a:prstGeom prst="rect">
            <a:avLst/>
          </a:prstGeom>
          <a:noFill/>
          <a:ln/>
        </p:spPr>
        <p:txBody>
          <a:bodyPr wrap="square" lIns="762" tIns="762" rIns="762" bIns="762" rtlCol="0" anchor="t"/>
          <a:lstStyle/>
          <a:p>
            <a:pPr marL="0" indent="0">
              <a:buNone/>
            </a:pPr>
            <a:r>
              <a:rPr lang="en-US" sz="1400" dirty="0">
                <a:solidFill>
                  <a:srgbClr val="2B2B2B"/>
                </a:solidFill>
                <a:latin typeface="Arial" pitchFamily="34" charset="0"/>
                <a:ea typeface="Arial" pitchFamily="34" charset="-122"/>
                <a:cs typeface="Arial" pitchFamily="34" charset="-120"/>
              </a:rPr>
              <a:t>Amazon moved to 0% referral fee up to ₹1,000 (Mar 2026); Flipkart to zero commission below ₹1,000 (Nov 2025). 'Zero commission' is no longer Meesho's unique edge: competition moves to seller tools.</a:t>
            </a:r>
            <a:endParaRPr lang="en-US" sz="1400" dirty="0"/>
          </a:p>
        </p:txBody>
      </p:sp>
      <p:sp>
        <p:nvSpPr>
          <p:cNvPr id="31" name="Shape 27"/>
          <p:cNvSpPr/>
          <p:nvPr/>
        </p:nvSpPr>
        <p:spPr>
          <a:xfrm>
            <a:off x="12801600" y="5212080"/>
            <a:ext cx="5029200" cy="1874520"/>
          </a:xfrm>
          <a:prstGeom prst="roundRect">
            <a:avLst>
              <a:gd name="adj" fmla="val 5854"/>
            </a:avLst>
          </a:prstGeom>
          <a:solidFill>
            <a:srgbClr val="FFF1DC"/>
          </a:solidFill>
          <a:ln w="12700">
            <a:solidFill>
              <a:srgbClr val="FFF1DC"/>
            </a:solidFill>
            <a:prstDash val="solid"/>
          </a:ln>
        </p:spPr>
        <p:txBody>
          <a:bodyPr/>
          <a:lstStyle/>
          <a:p>
            <a:endParaRPr lang="en-IN"/>
          </a:p>
        </p:txBody>
      </p:sp>
      <p:sp>
        <p:nvSpPr>
          <p:cNvPr id="32" name="Shape 28"/>
          <p:cNvSpPr/>
          <p:nvPr/>
        </p:nvSpPr>
        <p:spPr>
          <a:xfrm>
            <a:off x="12938760" y="5349240"/>
            <a:ext cx="502920" cy="502920"/>
          </a:xfrm>
          <a:prstGeom prst="ellipse">
            <a:avLst/>
          </a:prstGeom>
          <a:solidFill>
            <a:srgbClr val="F29A1F"/>
          </a:solidFill>
          <a:ln w="12700">
            <a:solidFill>
              <a:srgbClr val="F29A1F"/>
            </a:solidFill>
            <a:prstDash val="solid"/>
          </a:ln>
        </p:spPr>
        <p:txBody>
          <a:bodyPr/>
          <a:lstStyle/>
          <a:p>
            <a:endParaRPr lang="en-IN"/>
          </a:p>
        </p:txBody>
      </p:sp>
      <p:pic>
        <p:nvPicPr>
          <p:cNvPr id="33" name="Image 1" descr="preencoded.png"/>
          <p:cNvPicPr>
            <a:picLocks noChangeAspect="1"/>
          </p:cNvPicPr>
          <p:nvPr/>
        </p:nvPicPr>
        <p:blipFill>
          <a:blip r:embed="rId5"/>
          <a:stretch>
            <a:fillRect/>
          </a:stretch>
        </p:blipFill>
        <p:spPr>
          <a:xfrm>
            <a:off x="13059461" y="5469941"/>
            <a:ext cx="261518" cy="261518"/>
          </a:xfrm>
          <a:prstGeom prst="rect">
            <a:avLst/>
          </a:prstGeom>
        </p:spPr>
      </p:pic>
      <p:sp>
        <p:nvSpPr>
          <p:cNvPr id="34" name="Text 29"/>
          <p:cNvSpPr txBox="1"/>
          <p:nvPr/>
        </p:nvSpPr>
        <p:spPr>
          <a:xfrm>
            <a:off x="13578840" y="5376672"/>
            <a:ext cx="4114800" cy="411480"/>
          </a:xfrm>
          <a:prstGeom prst="rect">
            <a:avLst/>
          </a:prstGeom>
          <a:noFill/>
          <a:ln/>
        </p:spPr>
        <p:txBody>
          <a:bodyPr wrap="square" lIns="762" tIns="762" rIns="762" bIns="762" rtlCol="0" anchor="ctr"/>
          <a:lstStyle/>
          <a:p>
            <a:pPr marL="0" indent="0">
              <a:buNone/>
            </a:pPr>
            <a:r>
              <a:rPr lang="en-US" sz="1500" b="1" dirty="0">
                <a:solidFill>
                  <a:srgbClr val="5B0F4E"/>
                </a:solidFill>
                <a:latin typeface="Arial" pitchFamily="34" charset="0"/>
                <a:ea typeface="Arial" pitchFamily="34" charset="-122"/>
                <a:cs typeface="Arial" pitchFamily="34" charset="-120"/>
              </a:rPr>
              <a:t>The opposite extreme</a:t>
            </a:r>
            <a:endParaRPr lang="en-US" sz="1500" dirty="0"/>
          </a:p>
        </p:txBody>
      </p:sp>
      <p:sp>
        <p:nvSpPr>
          <p:cNvPr id="35" name="Text 30"/>
          <p:cNvSpPr txBox="1"/>
          <p:nvPr/>
        </p:nvSpPr>
        <p:spPr>
          <a:xfrm>
            <a:off x="12938760" y="5925312"/>
            <a:ext cx="4800600" cy="1143000"/>
          </a:xfrm>
          <a:prstGeom prst="rect">
            <a:avLst/>
          </a:prstGeom>
          <a:noFill/>
          <a:ln/>
        </p:spPr>
        <p:txBody>
          <a:bodyPr wrap="square" lIns="762" tIns="762" rIns="762" bIns="762" rtlCol="0" anchor="t"/>
          <a:lstStyle/>
          <a:p>
            <a:pPr marL="0" indent="0">
              <a:buNone/>
            </a:pPr>
            <a:r>
              <a:rPr lang="en-US" sz="1400" dirty="0">
                <a:solidFill>
                  <a:srgbClr val="2B2B2B"/>
                </a:solidFill>
                <a:latin typeface="Arial" pitchFamily="34" charset="0"/>
                <a:ea typeface="Arial" pitchFamily="34" charset="-122"/>
                <a:cs typeface="Arial" pitchFamily="34" charset="-120"/>
              </a:rPr>
              <a:t>Temu's fully managed model sets the price for the seller. Sahi Daam sits in between: Meesho supplies the floor, band and signals; the seller decides.</a:t>
            </a:r>
            <a:endParaRPr lang="en-US" sz="1400" dirty="0"/>
          </a:p>
        </p:txBody>
      </p:sp>
      <p:sp>
        <p:nvSpPr>
          <p:cNvPr id="36" name="Shape 31"/>
          <p:cNvSpPr/>
          <p:nvPr/>
        </p:nvSpPr>
        <p:spPr>
          <a:xfrm>
            <a:off x="12801600" y="7269480"/>
            <a:ext cx="5029200" cy="1874520"/>
          </a:xfrm>
          <a:prstGeom prst="roundRect">
            <a:avLst>
              <a:gd name="adj" fmla="val 5854"/>
            </a:avLst>
          </a:prstGeom>
          <a:solidFill>
            <a:srgbClr val="F3E8F1"/>
          </a:solidFill>
          <a:ln w="12700">
            <a:solidFill>
              <a:srgbClr val="F3E8F1"/>
            </a:solidFill>
            <a:prstDash val="solid"/>
          </a:ln>
        </p:spPr>
        <p:txBody>
          <a:bodyPr/>
          <a:lstStyle/>
          <a:p>
            <a:endParaRPr lang="en-IN"/>
          </a:p>
        </p:txBody>
      </p:sp>
      <p:sp>
        <p:nvSpPr>
          <p:cNvPr id="37" name="Shape 32"/>
          <p:cNvSpPr/>
          <p:nvPr/>
        </p:nvSpPr>
        <p:spPr>
          <a:xfrm>
            <a:off x="12938760" y="7406640"/>
            <a:ext cx="502920" cy="502920"/>
          </a:xfrm>
          <a:prstGeom prst="ellipse">
            <a:avLst/>
          </a:prstGeom>
          <a:solidFill>
            <a:srgbClr val="5B0F4E"/>
          </a:solidFill>
          <a:ln w="12700">
            <a:solidFill>
              <a:srgbClr val="5B0F4E"/>
            </a:solidFill>
            <a:prstDash val="solid"/>
          </a:ln>
        </p:spPr>
        <p:txBody>
          <a:bodyPr/>
          <a:lstStyle/>
          <a:p>
            <a:endParaRPr lang="en-IN"/>
          </a:p>
        </p:txBody>
      </p:sp>
      <p:pic>
        <p:nvPicPr>
          <p:cNvPr id="38" name="Image 2" descr="preencoded.png"/>
          <p:cNvPicPr>
            <a:picLocks noChangeAspect="1"/>
          </p:cNvPicPr>
          <p:nvPr/>
        </p:nvPicPr>
        <p:blipFill>
          <a:blip r:embed="rId6"/>
          <a:stretch>
            <a:fillRect/>
          </a:stretch>
        </p:blipFill>
        <p:spPr>
          <a:xfrm>
            <a:off x="13059461" y="7527341"/>
            <a:ext cx="261518" cy="261518"/>
          </a:xfrm>
          <a:prstGeom prst="rect">
            <a:avLst/>
          </a:prstGeom>
        </p:spPr>
      </p:pic>
      <p:sp>
        <p:nvSpPr>
          <p:cNvPr id="39" name="Text 33"/>
          <p:cNvSpPr txBox="1"/>
          <p:nvPr/>
        </p:nvSpPr>
        <p:spPr>
          <a:xfrm>
            <a:off x="13578840" y="7434072"/>
            <a:ext cx="4114800" cy="411480"/>
          </a:xfrm>
          <a:prstGeom prst="rect">
            <a:avLst/>
          </a:prstGeom>
          <a:noFill/>
          <a:ln/>
        </p:spPr>
        <p:txBody>
          <a:bodyPr wrap="square" lIns="762" tIns="762" rIns="762" bIns="762" rtlCol="0" anchor="ctr"/>
          <a:lstStyle/>
          <a:p>
            <a:pPr marL="0" indent="0">
              <a:buNone/>
            </a:pPr>
            <a:r>
              <a:rPr lang="en-US" sz="1500" b="1" dirty="0">
                <a:solidFill>
                  <a:srgbClr val="5B0F4E"/>
                </a:solidFill>
                <a:latin typeface="Arial" pitchFamily="34" charset="0"/>
                <a:ea typeface="Arial" pitchFamily="34" charset="-122"/>
                <a:cs typeface="Arial" pitchFamily="34" charset="-120"/>
              </a:rPr>
              <a:t>The gap Sahi Daam fills</a:t>
            </a:r>
            <a:endParaRPr lang="en-US" sz="1500" dirty="0"/>
          </a:p>
        </p:txBody>
      </p:sp>
      <p:sp>
        <p:nvSpPr>
          <p:cNvPr id="40" name="Text 34"/>
          <p:cNvSpPr txBox="1"/>
          <p:nvPr/>
        </p:nvSpPr>
        <p:spPr>
          <a:xfrm>
            <a:off x="12938760" y="7982712"/>
            <a:ext cx="4800600" cy="1143000"/>
          </a:xfrm>
          <a:prstGeom prst="rect">
            <a:avLst/>
          </a:prstGeom>
          <a:noFill/>
          <a:ln/>
        </p:spPr>
        <p:txBody>
          <a:bodyPr wrap="square" lIns="762" tIns="762" rIns="762" bIns="762" rtlCol="0" anchor="t"/>
          <a:lstStyle/>
          <a:p>
            <a:pPr marL="0" indent="0">
              <a:buNone/>
            </a:pPr>
            <a:r>
              <a:rPr lang="en-US" sz="1400" dirty="0">
                <a:solidFill>
                  <a:srgbClr val="2B2B2B"/>
                </a:solidFill>
                <a:latin typeface="Arial" pitchFamily="34" charset="0"/>
                <a:ea typeface="Arial" pitchFamily="34" charset="-122"/>
                <a:cs typeface="Arial" pitchFamily="34" charset="-120"/>
              </a:rPr>
              <a:t>Every platform shows a market price. None starts from the seller's true cost to serve a delivered order, including RTO and returns: the exact gap behind P1 and P4.</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480560" y="502920"/>
            <a:ext cx="8778240" cy="868680"/>
          </a:xfrm>
          <a:prstGeom prst="rect">
            <a:avLst/>
          </a:prstGeom>
          <a:noFill/>
          <a:ln/>
        </p:spPr>
        <p:txBody>
          <a:bodyPr wrap="square" lIns="0" tIns="0" rIns="0" bIns="0" rtlCol="0" anchor="ctr"/>
          <a:lstStyle/>
          <a:p>
            <a:pPr marL="0" indent="0">
              <a:buNone/>
            </a:pPr>
            <a:r>
              <a:rPr lang="en-US" sz="4000" b="1" dirty="0">
                <a:solidFill>
                  <a:srgbClr val="5B0F4E"/>
                </a:solidFill>
                <a:latin typeface="Arial" pitchFamily="34" charset="0"/>
                <a:ea typeface="Arial" pitchFamily="34" charset="-122"/>
                <a:cs typeface="Arial" pitchFamily="34" charset="-120"/>
              </a:rPr>
              <a:t>Proposed Solution</a:t>
            </a:r>
            <a:endParaRPr lang="en-US" sz="4000" dirty="0"/>
          </a:p>
        </p:txBody>
      </p:sp>
      <p:sp>
        <p:nvSpPr>
          <p:cNvPr id="3" name="Text 1"/>
          <p:cNvSpPr txBox="1"/>
          <p:nvPr/>
        </p:nvSpPr>
        <p:spPr>
          <a:xfrm>
            <a:off x="4480560" y="1371600"/>
            <a:ext cx="8778240" cy="502920"/>
          </a:xfrm>
          <a:prstGeom prst="rect">
            <a:avLst/>
          </a:prstGeom>
          <a:noFill/>
          <a:ln/>
        </p:spPr>
        <p:txBody>
          <a:bodyPr wrap="square" lIns="0" tIns="0" rIns="0" bIns="0" rtlCol="0" anchor="ctr"/>
          <a:lstStyle/>
          <a:p>
            <a:pPr marL="0" indent="0">
              <a:buNone/>
            </a:pPr>
            <a:r>
              <a:rPr lang="en-US" sz="1700" i="1" dirty="0">
                <a:solidFill>
                  <a:srgbClr val="C9660A"/>
                </a:solidFill>
                <a:latin typeface="Arial" pitchFamily="34" charset="0"/>
                <a:ea typeface="Arial" pitchFamily="34" charset="-122"/>
                <a:cs typeface="Arial" pitchFamily="34" charset="-120"/>
              </a:rPr>
              <a:t>Sahi Daam: a pricing co-pilot inside the Supplier Panel, built on Floor → Ceiling → Position</a:t>
            </a:r>
            <a:endParaRPr lang="en-US" sz="1700" dirty="0"/>
          </a:p>
        </p:txBody>
      </p:sp>
      <p:sp>
        <p:nvSpPr>
          <p:cNvPr id="4" name="Shape 2"/>
          <p:cNvSpPr/>
          <p:nvPr/>
        </p:nvSpPr>
        <p:spPr>
          <a:xfrm>
            <a:off x="45720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5" name="Text 3"/>
          <p:cNvSpPr txBox="1"/>
          <p:nvPr/>
        </p:nvSpPr>
        <p:spPr>
          <a:xfrm>
            <a:off x="45720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PROBLEM</a:t>
            </a:r>
            <a:endParaRPr lang="en-US" sz="1250" dirty="0"/>
          </a:p>
        </p:txBody>
      </p:sp>
      <p:sp>
        <p:nvSpPr>
          <p:cNvPr id="6" name="Shape 4"/>
          <p:cNvSpPr/>
          <p:nvPr/>
        </p:nvSpPr>
        <p:spPr>
          <a:xfrm>
            <a:off x="219456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7" name="Text 5"/>
          <p:cNvSpPr txBox="1"/>
          <p:nvPr/>
        </p:nvSpPr>
        <p:spPr>
          <a:xfrm>
            <a:off x="219456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SEGMENTATION</a:t>
            </a:r>
            <a:endParaRPr lang="en-US" sz="1250" dirty="0"/>
          </a:p>
        </p:txBody>
      </p:sp>
      <p:sp>
        <p:nvSpPr>
          <p:cNvPr id="8" name="Shape 6"/>
          <p:cNvSpPr/>
          <p:nvPr/>
        </p:nvSpPr>
        <p:spPr>
          <a:xfrm>
            <a:off x="393192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9" name="Text 7"/>
          <p:cNvSpPr txBox="1"/>
          <p:nvPr/>
        </p:nvSpPr>
        <p:spPr>
          <a:xfrm>
            <a:off x="393192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PRIORITISATION</a:t>
            </a:r>
            <a:endParaRPr lang="en-US" sz="1250" dirty="0"/>
          </a:p>
        </p:txBody>
      </p:sp>
      <p:sp>
        <p:nvSpPr>
          <p:cNvPr id="10" name="Shape 8"/>
          <p:cNvSpPr/>
          <p:nvPr/>
        </p:nvSpPr>
        <p:spPr>
          <a:xfrm>
            <a:off x="566928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1" name="Text 9"/>
          <p:cNvSpPr txBox="1"/>
          <p:nvPr/>
        </p:nvSpPr>
        <p:spPr>
          <a:xfrm>
            <a:off x="566928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BENCHMARKING</a:t>
            </a:r>
            <a:endParaRPr lang="en-US" sz="1250" dirty="0"/>
          </a:p>
        </p:txBody>
      </p:sp>
      <p:sp>
        <p:nvSpPr>
          <p:cNvPr id="12" name="Shape 10"/>
          <p:cNvSpPr/>
          <p:nvPr/>
        </p:nvSpPr>
        <p:spPr>
          <a:xfrm>
            <a:off x="7406640" y="2542032"/>
            <a:ext cx="1700784" cy="420624"/>
          </a:xfrm>
          <a:prstGeom prst="rect">
            <a:avLst/>
          </a:prstGeom>
          <a:solidFill>
            <a:srgbClr val="F29A1F"/>
          </a:solidFill>
          <a:ln w="12700">
            <a:solidFill>
              <a:srgbClr val="F29A1F"/>
            </a:solidFill>
            <a:prstDash val="solid"/>
          </a:ln>
        </p:spPr>
        <p:txBody>
          <a:bodyPr/>
          <a:lstStyle/>
          <a:p>
            <a:endParaRPr lang="en-IN"/>
          </a:p>
        </p:txBody>
      </p:sp>
      <p:sp>
        <p:nvSpPr>
          <p:cNvPr id="13" name="Text 11"/>
          <p:cNvSpPr txBox="1"/>
          <p:nvPr/>
        </p:nvSpPr>
        <p:spPr>
          <a:xfrm>
            <a:off x="740664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SOLUTION</a:t>
            </a:r>
            <a:endParaRPr lang="en-US" sz="1250" dirty="0"/>
          </a:p>
        </p:txBody>
      </p:sp>
      <p:sp>
        <p:nvSpPr>
          <p:cNvPr id="14" name="Shape 12"/>
          <p:cNvSpPr/>
          <p:nvPr/>
        </p:nvSpPr>
        <p:spPr>
          <a:xfrm>
            <a:off x="914400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5" name="Text 13"/>
          <p:cNvSpPr txBox="1"/>
          <p:nvPr/>
        </p:nvSpPr>
        <p:spPr>
          <a:xfrm>
            <a:off x="914400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MUNAFA METER</a:t>
            </a:r>
            <a:endParaRPr lang="en-US" sz="1250" dirty="0"/>
          </a:p>
        </p:txBody>
      </p:sp>
      <p:sp>
        <p:nvSpPr>
          <p:cNvPr id="16" name="Shape 14"/>
          <p:cNvSpPr/>
          <p:nvPr/>
        </p:nvSpPr>
        <p:spPr>
          <a:xfrm>
            <a:off x="1088136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7" name="Text 15"/>
          <p:cNvSpPr txBox="1"/>
          <p:nvPr/>
        </p:nvSpPr>
        <p:spPr>
          <a:xfrm>
            <a:off x="1088136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SMART BAND</a:t>
            </a:r>
            <a:endParaRPr lang="en-US" sz="1250" dirty="0"/>
          </a:p>
        </p:txBody>
      </p:sp>
      <p:sp>
        <p:nvSpPr>
          <p:cNvPr id="18" name="Shape 16"/>
          <p:cNvSpPr/>
          <p:nvPr/>
        </p:nvSpPr>
        <p:spPr>
          <a:xfrm>
            <a:off x="1261872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9" name="Text 17"/>
          <p:cNvSpPr txBox="1"/>
          <p:nvPr/>
        </p:nvSpPr>
        <p:spPr>
          <a:xfrm>
            <a:off x="1261872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AUTOPILOT</a:t>
            </a:r>
            <a:endParaRPr lang="en-US" sz="1250" dirty="0"/>
          </a:p>
        </p:txBody>
      </p:sp>
      <p:sp>
        <p:nvSpPr>
          <p:cNvPr id="20" name="Shape 18"/>
          <p:cNvSpPr/>
          <p:nvPr/>
        </p:nvSpPr>
        <p:spPr>
          <a:xfrm>
            <a:off x="1435608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21" name="Text 19"/>
          <p:cNvSpPr txBox="1"/>
          <p:nvPr/>
        </p:nvSpPr>
        <p:spPr>
          <a:xfrm>
            <a:off x="1435608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IMPACT</a:t>
            </a:r>
            <a:endParaRPr lang="en-US" sz="1250" dirty="0"/>
          </a:p>
        </p:txBody>
      </p:sp>
      <p:sp>
        <p:nvSpPr>
          <p:cNvPr id="22" name="Shape 20"/>
          <p:cNvSpPr/>
          <p:nvPr/>
        </p:nvSpPr>
        <p:spPr>
          <a:xfrm>
            <a:off x="1609344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23" name="Text 21"/>
          <p:cNvSpPr txBox="1"/>
          <p:nvPr/>
        </p:nvSpPr>
        <p:spPr>
          <a:xfrm>
            <a:off x="1609344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PITFALLS</a:t>
            </a:r>
            <a:endParaRPr lang="en-US" sz="1250" dirty="0"/>
          </a:p>
        </p:txBody>
      </p:sp>
      <p:sp>
        <p:nvSpPr>
          <p:cNvPr id="24" name="Shape 22"/>
          <p:cNvSpPr/>
          <p:nvPr/>
        </p:nvSpPr>
        <p:spPr>
          <a:xfrm>
            <a:off x="457200" y="3127248"/>
            <a:ext cx="5577840" cy="1691640"/>
          </a:xfrm>
          <a:prstGeom prst="roundRect">
            <a:avLst>
              <a:gd name="adj" fmla="val 6486"/>
            </a:avLst>
          </a:prstGeom>
          <a:solidFill>
            <a:srgbClr val="F3E8F1"/>
          </a:solidFill>
          <a:ln w="12700">
            <a:solidFill>
              <a:srgbClr val="F3E8F1"/>
            </a:solidFill>
            <a:prstDash val="solid"/>
          </a:ln>
        </p:spPr>
        <p:txBody>
          <a:bodyPr/>
          <a:lstStyle/>
          <a:p>
            <a:endParaRPr lang="en-IN"/>
          </a:p>
        </p:txBody>
      </p:sp>
      <p:sp>
        <p:nvSpPr>
          <p:cNvPr id="25" name="Text 23"/>
          <p:cNvSpPr txBox="1"/>
          <p:nvPr/>
        </p:nvSpPr>
        <p:spPr>
          <a:xfrm>
            <a:off x="594360" y="3182112"/>
            <a:ext cx="2011680" cy="365760"/>
          </a:xfrm>
          <a:prstGeom prst="rect">
            <a:avLst/>
          </a:prstGeom>
          <a:noFill/>
          <a:ln/>
        </p:spPr>
        <p:txBody>
          <a:bodyPr wrap="square" lIns="762" tIns="762" rIns="762" bIns="762" rtlCol="0" anchor="t"/>
          <a:lstStyle/>
          <a:p>
            <a:pPr marL="0" indent="0">
              <a:buNone/>
            </a:pPr>
            <a:r>
              <a:rPr lang="en-US" sz="1500" b="1" dirty="0">
                <a:solidFill>
                  <a:srgbClr val="5B0F4E"/>
                </a:solidFill>
                <a:latin typeface="Arial" pitchFamily="34" charset="0"/>
                <a:ea typeface="Arial" pitchFamily="34" charset="-122"/>
                <a:cs typeface="Arial" pitchFamily="34" charset="-120"/>
              </a:rPr>
              <a:t>1 · FLOOR</a:t>
            </a:r>
            <a:endParaRPr lang="en-US" sz="1500" dirty="0"/>
          </a:p>
        </p:txBody>
      </p:sp>
      <p:sp>
        <p:nvSpPr>
          <p:cNvPr id="26" name="Text 24"/>
          <p:cNvSpPr txBox="1"/>
          <p:nvPr/>
        </p:nvSpPr>
        <p:spPr>
          <a:xfrm>
            <a:off x="2560320" y="3182112"/>
            <a:ext cx="3383280" cy="365760"/>
          </a:xfrm>
          <a:prstGeom prst="rect">
            <a:avLst/>
          </a:prstGeom>
          <a:noFill/>
          <a:ln/>
        </p:spPr>
        <p:txBody>
          <a:bodyPr wrap="square" lIns="762" tIns="762" rIns="762" bIns="762" rtlCol="0" anchor="t"/>
          <a:lstStyle/>
          <a:p>
            <a:pPr marL="0" indent="0">
              <a:buNone/>
            </a:pPr>
            <a:r>
              <a:rPr lang="en-US" sz="1300" i="1" dirty="0">
                <a:solidFill>
                  <a:srgbClr val="555555"/>
                </a:solidFill>
                <a:latin typeface="Arial" pitchFamily="34" charset="0"/>
                <a:ea typeface="Arial" pitchFamily="34" charset="-122"/>
                <a:cs typeface="Arial" pitchFamily="34" charset="-120"/>
              </a:rPr>
              <a:t>What must every order cover?</a:t>
            </a:r>
            <a:endParaRPr lang="en-US" sz="1300" dirty="0"/>
          </a:p>
        </p:txBody>
      </p:sp>
      <p:sp>
        <p:nvSpPr>
          <p:cNvPr id="27" name="Text 25"/>
          <p:cNvSpPr txBox="1"/>
          <p:nvPr/>
        </p:nvSpPr>
        <p:spPr>
          <a:xfrm>
            <a:off x="594360" y="3584448"/>
            <a:ext cx="5303520" cy="457200"/>
          </a:xfrm>
          <a:prstGeom prst="rect">
            <a:avLst/>
          </a:prstGeom>
          <a:noFill/>
          <a:ln/>
        </p:spPr>
        <p:txBody>
          <a:bodyPr wrap="square" lIns="762" tIns="762" rIns="762" bIns="762" rtlCol="0" anchor="t"/>
          <a:lstStyle/>
          <a:p>
            <a:pPr marL="0" indent="0">
              <a:buNone/>
            </a:pPr>
            <a:r>
              <a:rPr lang="en-US" sz="1600" b="1" dirty="0">
                <a:solidFill>
                  <a:srgbClr val="2B2B2B"/>
                </a:solidFill>
                <a:latin typeface="Arial" pitchFamily="34" charset="0"/>
                <a:ea typeface="Arial" pitchFamily="34" charset="-122"/>
                <a:cs typeface="Arial" pitchFamily="34" charset="-120"/>
              </a:rPr>
              <a:t>P₀ = C + S + (f·F + A) ÷ (1 − f)</a:t>
            </a:r>
            <a:endParaRPr lang="en-US" sz="1600" dirty="0"/>
          </a:p>
        </p:txBody>
      </p:sp>
      <p:sp>
        <p:nvSpPr>
          <p:cNvPr id="28" name="Text 26"/>
          <p:cNvSpPr txBox="1"/>
          <p:nvPr/>
        </p:nvSpPr>
        <p:spPr>
          <a:xfrm>
            <a:off x="650034" y="3973068"/>
            <a:ext cx="2524114" cy="748304"/>
          </a:xfrm>
          <a:prstGeom prst="rect">
            <a:avLst/>
          </a:prstGeom>
          <a:noFill/>
          <a:ln/>
        </p:spPr>
        <p:txBody>
          <a:bodyPr wrap="square" lIns="762" tIns="762" rIns="762" bIns="762" rtlCol="0" anchor="t"/>
          <a:lstStyle/>
          <a:p>
            <a:pPr marL="0" indent="0">
              <a:buNone/>
            </a:pPr>
            <a:r>
              <a:rPr lang="en-US" sz="1400" dirty="0">
                <a:solidFill>
                  <a:srgbClr val="2B2B2B"/>
                </a:solidFill>
                <a:latin typeface="Arial" pitchFamily="34" charset="0"/>
                <a:ea typeface="Arial" pitchFamily="34" charset="-122"/>
                <a:cs typeface="Arial" pitchFamily="34" charset="-120"/>
              </a:rPr>
              <a:t>C= landed cost, </a:t>
            </a:r>
          </a:p>
          <a:p>
            <a:pPr marL="0" indent="0">
              <a:buNone/>
            </a:pPr>
            <a:r>
              <a:rPr lang="en-US" sz="1400" dirty="0">
                <a:solidFill>
                  <a:srgbClr val="2B2B2B"/>
                </a:solidFill>
                <a:latin typeface="Arial" pitchFamily="34" charset="0"/>
                <a:ea typeface="Arial" pitchFamily="34" charset="-122"/>
                <a:cs typeface="Arial" pitchFamily="34" charset="-120"/>
              </a:rPr>
              <a:t>S= shipping + fees + GST, </a:t>
            </a:r>
          </a:p>
          <a:p>
            <a:pPr marL="0" indent="0">
              <a:buNone/>
            </a:pPr>
            <a:r>
              <a:rPr lang="en-US" sz="1400" dirty="0">
                <a:solidFill>
                  <a:srgbClr val="2B2B2B"/>
                </a:solidFill>
                <a:latin typeface="Arial" pitchFamily="34" charset="0"/>
                <a:ea typeface="Arial" pitchFamily="34" charset="-122"/>
                <a:cs typeface="Arial" pitchFamily="34" charset="-120"/>
              </a:rPr>
              <a:t>f =RTO + return share</a:t>
            </a:r>
          </a:p>
        </p:txBody>
      </p:sp>
      <p:sp>
        <p:nvSpPr>
          <p:cNvPr id="29" name="Shape 27"/>
          <p:cNvSpPr/>
          <p:nvPr/>
        </p:nvSpPr>
        <p:spPr>
          <a:xfrm>
            <a:off x="6053328" y="3840480"/>
            <a:ext cx="219456" cy="274320"/>
          </a:xfrm>
          <a:prstGeom prst="rightArrow">
            <a:avLst/>
          </a:prstGeom>
          <a:solidFill>
            <a:srgbClr val="5B0F4E"/>
          </a:solidFill>
          <a:ln w="12700">
            <a:solidFill>
              <a:srgbClr val="5B0F4E"/>
            </a:solidFill>
            <a:prstDash val="solid"/>
          </a:ln>
        </p:spPr>
        <p:txBody>
          <a:bodyPr/>
          <a:lstStyle/>
          <a:p>
            <a:endParaRPr lang="en-IN"/>
          </a:p>
        </p:txBody>
      </p:sp>
      <p:sp>
        <p:nvSpPr>
          <p:cNvPr id="30" name="Shape 28"/>
          <p:cNvSpPr/>
          <p:nvPr/>
        </p:nvSpPr>
        <p:spPr>
          <a:xfrm>
            <a:off x="6309360" y="3127248"/>
            <a:ext cx="5577840" cy="1691640"/>
          </a:xfrm>
          <a:prstGeom prst="roundRect">
            <a:avLst>
              <a:gd name="adj" fmla="val 6486"/>
            </a:avLst>
          </a:prstGeom>
          <a:solidFill>
            <a:srgbClr val="FFF1DC"/>
          </a:solidFill>
          <a:ln w="12700">
            <a:solidFill>
              <a:srgbClr val="FFF1DC"/>
            </a:solidFill>
            <a:prstDash val="solid"/>
          </a:ln>
        </p:spPr>
        <p:txBody>
          <a:bodyPr/>
          <a:lstStyle/>
          <a:p>
            <a:endParaRPr lang="en-IN"/>
          </a:p>
        </p:txBody>
      </p:sp>
      <p:sp>
        <p:nvSpPr>
          <p:cNvPr id="31" name="Text 29"/>
          <p:cNvSpPr txBox="1"/>
          <p:nvPr/>
        </p:nvSpPr>
        <p:spPr>
          <a:xfrm>
            <a:off x="6446520" y="3182112"/>
            <a:ext cx="2011680" cy="365760"/>
          </a:xfrm>
          <a:prstGeom prst="rect">
            <a:avLst/>
          </a:prstGeom>
          <a:noFill/>
          <a:ln/>
        </p:spPr>
        <p:txBody>
          <a:bodyPr wrap="square" lIns="762" tIns="762" rIns="762" bIns="762" rtlCol="0" anchor="t"/>
          <a:lstStyle/>
          <a:p>
            <a:pPr marL="0" indent="0">
              <a:buNone/>
            </a:pPr>
            <a:r>
              <a:rPr lang="en-US" sz="1500" b="1" dirty="0">
                <a:solidFill>
                  <a:srgbClr val="C9660A"/>
                </a:solidFill>
                <a:latin typeface="Arial" pitchFamily="34" charset="0"/>
                <a:ea typeface="Arial" pitchFamily="34" charset="-122"/>
                <a:cs typeface="Arial" pitchFamily="34" charset="-120"/>
              </a:rPr>
              <a:t>2 · CEILING</a:t>
            </a:r>
            <a:endParaRPr lang="en-US" sz="1500" dirty="0"/>
          </a:p>
        </p:txBody>
      </p:sp>
      <p:sp>
        <p:nvSpPr>
          <p:cNvPr id="32" name="Text 30"/>
          <p:cNvSpPr txBox="1"/>
          <p:nvPr/>
        </p:nvSpPr>
        <p:spPr>
          <a:xfrm>
            <a:off x="8412480" y="3182112"/>
            <a:ext cx="3383280" cy="365760"/>
          </a:xfrm>
          <a:prstGeom prst="rect">
            <a:avLst/>
          </a:prstGeom>
          <a:noFill/>
          <a:ln/>
        </p:spPr>
        <p:txBody>
          <a:bodyPr wrap="square" lIns="762" tIns="762" rIns="762" bIns="762" rtlCol="0" anchor="t"/>
          <a:lstStyle/>
          <a:p>
            <a:pPr marL="0" indent="0">
              <a:buNone/>
            </a:pPr>
            <a:r>
              <a:rPr lang="en-US" sz="1300" i="1" dirty="0">
                <a:solidFill>
                  <a:srgbClr val="555555"/>
                </a:solidFill>
                <a:latin typeface="Arial" pitchFamily="34" charset="0"/>
                <a:ea typeface="Arial" pitchFamily="34" charset="-122"/>
                <a:cs typeface="Arial" pitchFamily="34" charset="-120"/>
              </a:rPr>
              <a:t>What will buyers pay?</a:t>
            </a:r>
            <a:endParaRPr lang="en-US" sz="1300" dirty="0"/>
          </a:p>
        </p:txBody>
      </p:sp>
      <p:sp>
        <p:nvSpPr>
          <p:cNvPr id="33" name="Text 31"/>
          <p:cNvSpPr txBox="1"/>
          <p:nvPr/>
        </p:nvSpPr>
        <p:spPr>
          <a:xfrm>
            <a:off x="6446520" y="3584448"/>
            <a:ext cx="5303520" cy="457200"/>
          </a:xfrm>
          <a:prstGeom prst="rect">
            <a:avLst/>
          </a:prstGeom>
          <a:noFill/>
          <a:ln/>
        </p:spPr>
        <p:txBody>
          <a:bodyPr wrap="square" lIns="762" tIns="762" rIns="762" bIns="762" rtlCol="0" anchor="t"/>
          <a:lstStyle/>
          <a:p>
            <a:pPr marL="0" indent="0">
              <a:buNone/>
            </a:pPr>
            <a:r>
              <a:rPr lang="en-US" sz="1600" b="1" dirty="0">
                <a:solidFill>
                  <a:srgbClr val="2B2B2B"/>
                </a:solidFill>
                <a:latin typeface="Arial" pitchFamily="34" charset="0"/>
                <a:ea typeface="Arial" pitchFamily="34" charset="-122"/>
                <a:cs typeface="Arial" pitchFamily="34" charset="-120"/>
              </a:rPr>
              <a:t>Band = Q1 → Q3 of comparable listings</a:t>
            </a:r>
            <a:endParaRPr lang="en-US" sz="1600" dirty="0"/>
          </a:p>
        </p:txBody>
      </p:sp>
      <p:sp>
        <p:nvSpPr>
          <p:cNvPr id="34" name="Text 32"/>
          <p:cNvSpPr txBox="1"/>
          <p:nvPr/>
        </p:nvSpPr>
        <p:spPr>
          <a:xfrm>
            <a:off x="6446520" y="4069080"/>
            <a:ext cx="5303520" cy="731520"/>
          </a:xfrm>
          <a:prstGeom prst="rect">
            <a:avLst/>
          </a:prstGeom>
          <a:noFill/>
          <a:ln/>
        </p:spPr>
        <p:txBody>
          <a:bodyPr wrap="square" lIns="762" tIns="762" rIns="762" bIns="762" rtlCol="0" anchor="t"/>
          <a:lstStyle/>
          <a:p>
            <a:pPr marL="0" indent="0">
              <a:buNone/>
            </a:pPr>
            <a:r>
              <a:rPr lang="en-US" sz="1600" dirty="0">
                <a:solidFill>
                  <a:srgbClr val="2B2B2B"/>
                </a:solidFill>
                <a:latin typeface="Arial" pitchFamily="34" charset="0"/>
                <a:ea typeface="Arial" pitchFamily="34" charset="-122"/>
                <a:cs typeface="Arial" pitchFamily="34" charset="-120"/>
              </a:rPr>
              <a:t>Not just the </a:t>
            </a:r>
            <a:r>
              <a:rPr lang="en-US" sz="1400" dirty="0">
                <a:solidFill>
                  <a:srgbClr val="2B2B2B"/>
                </a:solidFill>
                <a:latin typeface="Arial" pitchFamily="34" charset="0"/>
                <a:ea typeface="Arial" pitchFamily="34" charset="-122"/>
                <a:cs typeface="Arial" pitchFamily="34" charset="-120"/>
              </a:rPr>
              <a:t>cheapest</a:t>
            </a:r>
            <a:r>
              <a:rPr lang="en-US" sz="1600" dirty="0">
                <a:solidFill>
                  <a:srgbClr val="2B2B2B"/>
                </a:solidFill>
                <a:latin typeface="Arial" pitchFamily="34" charset="0"/>
                <a:ea typeface="Arial" pitchFamily="34" charset="-122"/>
                <a:cs typeface="Arial" pitchFamily="34" charset="-120"/>
              </a:rPr>
              <a:t>; offline price is a sanity check only</a:t>
            </a:r>
          </a:p>
          <a:p>
            <a:pPr marL="0" indent="0">
              <a:buNone/>
            </a:pPr>
            <a:endParaRPr lang="en-US" sz="1600" dirty="0"/>
          </a:p>
        </p:txBody>
      </p:sp>
      <p:sp>
        <p:nvSpPr>
          <p:cNvPr id="35" name="Shape 33"/>
          <p:cNvSpPr/>
          <p:nvPr/>
        </p:nvSpPr>
        <p:spPr>
          <a:xfrm>
            <a:off x="11905488" y="3840480"/>
            <a:ext cx="219456" cy="274320"/>
          </a:xfrm>
          <a:prstGeom prst="rightArrow">
            <a:avLst/>
          </a:prstGeom>
          <a:solidFill>
            <a:srgbClr val="5B0F4E"/>
          </a:solidFill>
          <a:ln w="12700">
            <a:solidFill>
              <a:srgbClr val="5B0F4E"/>
            </a:solidFill>
            <a:prstDash val="solid"/>
          </a:ln>
        </p:spPr>
        <p:txBody>
          <a:bodyPr/>
          <a:lstStyle/>
          <a:p>
            <a:endParaRPr lang="en-IN"/>
          </a:p>
        </p:txBody>
      </p:sp>
      <p:sp>
        <p:nvSpPr>
          <p:cNvPr id="36" name="Shape 34"/>
          <p:cNvSpPr/>
          <p:nvPr/>
        </p:nvSpPr>
        <p:spPr>
          <a:xfrm>
            <a:off x="12161520" y="3127248"/>
            <a:ext cx="5577840" cy="1691640"/>
          </a:xfrm>
          <a:prstGeom prst="roundRect">
            <a:avLst>
              <a:gd name="adj" fmla="val 6486"/>
            </a:avLst>
          </a:prstGeom>
          <a:solidFill>
            <a:srgbClr val="FFF1DC"/>
          </a:solidFill>
          <a:ln w="12700">
            <a:solidFill>
              <a:srgbClr val="FFF1DC"/>
            </a:solidFill>
            <a:prstDash val="solid"/>
          </a:ln>
        </p:spPr>
        <p:txBody>
          <a:bodyPr/>
          <a:lstStyle/>
          <a:p>
            <a:endParaRPr lang="en-IN"/>
          </a:p>
        </p:txBody>
      </p:sp>
      <p:sp>
        <p:nvSpPr>
          <p:cNvPr id="37" name="Text 35"/>
          <p:cNvSpPr txBox="1"/>
          <p:nvPr/>
        </p:nvSpPr>
        <p:spPr>
          <a:xfrm>
            <a:off x="12298680" y="3182112"/>
            <a:ext cx="2011680" cy="365760"/>
          </a:xfrm>
          <a:prstGeom prst="rect">
            <a:avLst/>
          </a:prstGeom>
          <a:noFill/>
          <a:ln/>
        </p:spPr>
        <p:txBody>
          <a:bodyPr wrap="square" lIns="762" tIns="762" rIns="762" bIns="762" rtlCol="0" anchor="t"/>
          <a:lstStyle/>
          <a:p>
            <a:pPr marL="0" indent="0">
              <a:buNone/>
            </a:pPr>
            <a:r>
              <a:rPr lang="en-US" sz="1500" b="1" dirty="0">
                <a:solidFill>
                  <a:srgbClr val="C9660A"/>
                </a:solidFill>
                <a:latin typeface="Arial" pitchFamily="34" charset="0"/>
                <a:ea typeface="Arial" pitchFamily="34" charset="-122"/>
                <a:cs typeface="Arial" pitchFamily="34" charset="-120"/>
              </a:rPr>
              <a:t>3 · POSITION</a:t>
            </a:r>
            <a:endParaRPr lang="en-US" sz="1500" dirty="0"/>
          </a:p>
        </p:txBody>
      </p:sp>
      <p:sp>
        <p:nvSpPr>
          <p:cNvPr id="38" name="Text 36"/>
          <p:cNvSpPr txBox="1"/>
          <p:nvPr/>
        </p:nvSpPr>
        <p:spPr>
          <a:xfrm>
            <a:off x="14264640" y="3182112"/>
            <a:ext cx="3383280" cy="365760"/>
          </a:xfrm>
          <a:prstGeom prst="rect">
            <a:avLst/>
          </a:prstGeom>
          <a:noFill/>
          <a:ln/>
        </p:spPr>
        <p:txBody>
          <a:bodyPr wrap="square" lIns="762" tIns="762" rIns="762" bIns="762" rtlCol="0" anchor="t"/>
          <a:lstStyle/>
          <a:p>
            <a:pPr marL="0" indent="0">
              <a:buNone/>
            </a:pPr>
            <a:r>
              <a:rPr lang="en-US" sz="1300" i="1" dirty="0">
                <a:solidFill>
                  <a:srgbClr val="555555"/>
                </a:solidFill>
                <a:latin typeface="Arial" pitchFamily="34" charset="0"/>
                <a:ea typeface="Arial" pitchFamily="34" charset="-122"/>
                <a:cs typeface="Arial" pitchFamily="34" charset="-120"/>
              </a:rPr>
              <a:t>Where in the band?</a:t>
            </a:r>
            <a:endParaRPr lang="en-US" sz="1300" dirty="0"/>
          </a:p>
        </p:txBody>
      </p:sp>
      <p:sp>
        <p:nvSpPr>
          <p:cNvPr id="39" name="Text 37"/>
          <p:cNvSpPr txBox="1"/>
          <p:nvPr/>
        </p:nvSpPr>
        <p:spPr>
          <a:xfrm>
            <a:off x="12298680" y="3584448"/>
            <a:ext cx="5303520" cy="457200"/>
          </a:xfrm>
          <a:prstGeom prst="rect">
            <a:avLst/>
          </a:prstGeom>
          <a:noFill/>
          <a:ln/>
        </p:spPr>
        <p:txBody>
          <a:bodyPr wrap="square" lIns="762" tIns="762" rIns="762" bIns="762" rtlCol="0" anchor="t"/>
          <a:lstStyle/>
          <a:p>
            <a:pPr marL="0" indent="0">
              <a:buNone/>
            </a:pPr>
            <a:r>
              <a:rPr lang="en-US" sz="1600" b="1" dirty="0">
                <a:solidFill>
                  <a:srgbClr val="2B2B2B"/>
                </a:solidFill>
                <a:latin typeface="Arial" pitchFamily="34" charset="0"/>
                <a:ea typeface="Arial" pitchFamily="34" charset="-122"/>
                <a:cs typeface="Arial" pitchFamily="34" charset="-120"/>
              </a:rPr>
              <a:t>Suggested = min(max(ε/(ε−1)·P₀, P₀), Q3)</a:t>
            </a:r>
            <a:endParaRPr lang="en-US" sz="1600" dirty="0"/>
          </a:p>
        </p:txBody>
      </p:sp>
      <p:sp>
        <p:nvSpPr>
          <p:cNvPr id="40" name="Text 38"/>
          <p:cNvSpPr txBox="1"/>
          <p:nvPr/>
        </p:nvSpPr>
        <p:spPr>
          <a:xfrm>
            <a:off x="12280392" y="3913632"/>
            <a:ext cx="5276088" cy="731520"/>
          </a:xfrm>
          <a:prstGeom prst="rect">
            <a:avLst/>
          </a:prstGeom>
          <a:noFill/>
          <a:ln/>
        </p:spPr>
        <p:txBody>
          <a:bodyPr wrap="square" lIns="762" tIns="762" rIns="762" bIns="762" rtlCol="0" anchor="t"/>
          <a:lstStyle/>
          <a:p>
            <a:r>
              <a:rPr lang="en-IN" sz="1400" dirty="0"/>
              <a:t>ε represents the price elasticity of demand — basically, how sensitive buyers are to a change in price.</a:t>
            </a:r>
          </a:p>
          <a:p>
            <a:pPr lvl="0"/>
            <a:r>
              <a:rPr lang="en-IN" sz="1400" dirty="0"/>
              <a:t>Higher ε → buyers are more price-sensitive. </a:t>
            </a:r>
          </a:p>
          <a:p>
            <a:pPr lvl="0"/>
            <a:r>
              <a:rPr lang="en-IN" sz="1400" dirty="0"/>
              <a:t>Lower ε → buyers are less price-sensitive.</a:t>
            </a:r>
          </a:p>
          <a:p>
            <a:pPr marL="0" indent="0">
              <a:buNone/>
            </a:pPr>
            <a:endParaRPr lang="en-US" sz="1400" dirty="0"/>
          </a:p>
        </p:txBody>
      </p:sp>
      <p:sp>
        <p:nvSpPr>
          <p:cNvPr id="41" name="Text 39"/>
          <p:cNvSpPr txBox="1"/>
          <p:nvPr/>
        </p:nvSpPr>
        <p:spPr>
          <a:xfrm>
            <a:off x="457200" y="4956048"/>
            <a:ext cx="10972800" cy="329184"/>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Three features, one seller journey</a:t>
            </a:r>
            <a:endParaRPr lang="en-US" sz="1400" dirty="0"/>
          </a:p>
        </p:txBody>
      </p:sp>
      <p:sp>
        <p:nvSpPr>
          <p:cNvPr id="42" name="Shape 40"/>
          <p:cNvSpPr/>
          <p:nvPr/>
        </p:nvSpPr>
        <p:spPr>
          <a:xfrm>
            <a:off x="457200" y="5303520"/>
            <a:ext cx="3611880" cy="1828800"/>
          </a:xfrm>
          <a:prstGeom prst="roundRect">
            <a:avLst>
              <a:gd name="adj" fmla="val 6000"/>
            </a:avLst>
          </a:prstGeom>
          <a:solidFill>
            <a:srgbClr val="FFFFFF"/>
          </a:solidFill>
          <a:ln w="12700">
            <a:solidFill>
              <a:srgbClr val="D9C8D5"/>
            </a:solidFill>
            <a:prstDash val="solid"/>
          </a:ln>
          <a:effectLst>
            <a:outerShdw blurRad="50800" dist="19050" dir="5400000" algn="bl" rotWithShape="0">
              <a:srgbClr val="999999">
                <a:alpha val="25000"/>
              </a:srgbClr>
            </a:outerShdw>
          </a:effectLst>
        </p:spPr>
        <p:txBody>
          <a:bodyPr/>
          <a:lstStyle/>
          <a:p>
            <a:endParaRPr lang="en-IN"/>
          </a:p>
        </p:txBody>
      </p:sp>
      <p:sp>
        <p:nvSpPr>
          <p:cNvPr id="43" name="Shape 41"/>
          <p:cNvSpPr/>
          <p:nvPr/>
        </p:nvSpPr>
        <p:spPr>
          <a:xfrm>
            <a:off x="566928" y="5394960"/>
            <a:ext cx="502920" cy="502920"/>
          </a:xfrm>
          <a:prstGeom prst="ellipse">
            <a:avLst/>
          </a:prstGeom>
          <a:solidFill>
            <a:srgbClr val="5B0F4E"/>
          </a:solidFill>
          <a:ln w="12700">
            <a:solidFill>
              <a:srgbClr val="5B0F4E"/>
            </a:solidFill>
            <a:prstDash val="solid"/>
          </a:ln>
        </p:spPr>
        <p:txBody>
          <a:bodyPr/>
          <a:lstStyle/>
          <a:p>
            <a:endParaRPr lang="en-IN"/>
          </a:p>
        </p:txBody>
      </p:sp>
      <p:pic>
        <p:nvPicPr>
          <p:cNvPr id="44" name="Image 0" descr="preencoded.png"/>
          <p:cNvPicPr>
            <a:picLocks noChangeAspect="1"/>
          </p:cNvPicPr>
          <p:nvPr/>
        </p:nvPicPr>
        <p:blipFill>
          <a:blip r:embed="rId4"/>
          <a:stretch>
            <a:fillRect/>
          </a:stretch>
        </p:blipFill>
        <p:spPr>
          <a:xfrm>
            <a:off x="687629" y="5515661"/>
            <a:ext cx="261518" cy="261518"/>
          </a:xfrm>
          <a:prstGeom prst="rect">
            <a:avLst/>
          </a:prstGeom>
        </p:spPr>
      </p:pic>
      <p:sp>
        <p:nvSpPr>
          <p:cNvPr id="45" name="Text 42"/>
          <p:cNvSpPr txBox="1"/>
          <p:nvPr/>
        </p:nvSpPr>
        <p:spPr>
          <a:xfrm>
            <a:off x="1143000" y="5376672"/>
            <a:ext cx="2834640" cy="310896"/>
          </a:xfrm>
          <a:prstGeom prst="rect">
            <a:avLst/>
          </a:prstGeom>
          <a:noFill/>
          <a:ln/>
        </p:spPr>
        <p:txBody>
          <a:bodyPr wrap="square" lIns="0" tIns="0" rIns="0" bIns="0" rtlCol="0" anchor="t"/>
          <a:lstStyle/>
          <a:p>
            <a:pPr marL="0" indent="0">
              <a:buNone/>
            </a:pPr>
            <a:r>
              <a:rPr lang="en-US" sz="1450" b="1" dirty="0">
                <a:solidFill>
                  <a:srgbClr val="5B0F4E"/>
                </a:solidFill>
                <a:latin typeface="Arial" pitchFamily="34" charset="0"/>
                <a:ea typeface="Arial" pitchFamily="34" charset="-122"/>
                <a:cs typeface="Arial" pitchFamily="34" charset="-120"/>
              </a:rPr>
              <a:t>Munafa Meter</a:t>
            </a:r>
            <a:endParaRPr lang="en-US" sz="1450" dirty="0"/>
          </a:p>
        </p:txBody>
      </p:sp>
      <p:sp>
        <p:nvSpPr>
          <p:cNvPr id="47" name="Text 44"/>
          <p:cNvSpPr txBox="1"/>
          <p:nvPr/>
        </p:nvSpPr>
        <p:spPr>
          <a:xfrm>
            <a:off x="1229868" y="5681492"/>
            <a:ext cx="2363724" cy="640080"/>
          </a:xfrm>
          <a:prstGeom prst="rect">
            <a:avLst/>
          </a:prstGeom>
          <a:noFill/>
          <a:ln/>
        </p:spPr>
        <p:txBody>
          <a:bodyPr wrap="square" lIns="0" tIns="0" rIns="0" bIns="0" rtlCol="0" anchor="t"/>
          <a:lstStyle/>
          <a:p>
            <a:pPr marL="0" indent="0">
              <a:buNone/>
            </a:pPr>
            <a:r>
              <a:rPr lang="en-US" sz="1400" dirty="0">
                <a:solidFill>
                  <a:srgbClr val="2B2B2B"/>
                </a:solidFill>
                <a:latin typeface="Arial" pitchFamily="34" charset="0"/>
                <a:ea typeface="Arial" pitchFamily="34" charset="-122"/>
                <a:cs typeface="Arial" pitchFamily="34" charset="-120"/>
              </a:rPr>
              <a:t>True floor from cost, shipping + GST, RTO vs return cost and ads; weight check before saving</a:t>
            </a:r>
            <a:endParaRPr lang="en-US" sz="1400" dirty="0"/>
          </a:p>
        </p:txBody>
      </p:sp>
      <p:sp>
        <p:nvSpPr>
          <p:cNvPr id="48" name="Shape 45"/>
          <p:cNvSpPr/>
          <p:nvPr/>
        </p:nvSpPr>
        <p:spPr>
          <a:xfrm>
            <a:off x="566928" y="6647688"/>
            <a:ext cx="3383280" cy="384048"/>
          </a:xfrm>
          <a:prstGeom prst="roundRect">
            <a:avLst>
              <a:gd name="adj" fmla="val 14286"/>
            </a:avLst>
          </a:prstGeom>
          <a:solidFill>
            <a:srgbClr val="FFF1DC"/>
          </a:solidFill>
          <a:ln w="12700">
            <a:solidFill>
              <a:srgbClr val="FFF1DC"/>
            </a:solidFill>
            <a:prstDash val="solid"/>
          </a:ln>
        </p:spPr>
        <p:txBody>
          <a:bodyPr/>
          <a:lstStyle/>
          <a:p>
            <a:endParaRPr lang="en-IN"/>
          </a:p>
        </p:txBody>
      </p:sp>
      <p:sp>
        <p:nvSpPr>
          <p:cNvPr id="49" name="Text 46"/>
          <p:cNvSpPr txBox="1"/>
          <p:nvPr/>
        </p:nvSpPr>
        <p:spPr>
          <a:xfrm>
            <a:off x="621792" y="6647688"/>
            <a:ext cx="3291840" cy="384048"/>
          </a:xfrm>
          <a:prstGeom prst="rect">
            <a:avLst/>
          </a:prstGeom>
          <a:noFill/>
          <a:ln/>
        </p:spPr>
        <p:txBody>
          <a:bodyPr wrap="square" lIns="0" tIns="0" rIns="0" bIns="0" rtlCol="0" anchor="ctr"/>
          <a:lstStyle/>
          <a:p>
            <a:pPr marL="0" indent="0">
              <a:buNone/>
            </a:pPr>
            <a:r>
              <a:rPr lang="en-US" sz="1100" b="1" i="1" dirty="0">
                <a:solidFill>
                  <a:srgbClr val="5B0F4E"/>
                </a:solidFill>
                <a:latin typeface="Arial" pitchFamily="34" charset="0"/>
                <a:ea typeface="Arial" pitchFamily="34" charset="-122"/>
                <a:cs typeface="Arial" pitchFamily="34" charset="-120"/>
              </a:rPr>
              <a:t>Kurti floor ₹314: ₹299 loses ₹10.59 / order</a:t>
            </a:r>
            <a:endParaRPr lang="en-US" sz="1100" dirty="0"/>
          </a:p>
        </p:txBody>
      </p:sp>
      <p:sp>
        <p:nvSpPr>
          <p:cNvPr id="50" name="Shape 47"/>
          <p:cNvSpPr/>
          <p:nvPr/>
        </p:nvSpPr>
        <p:spPr>
          <a:xfrm>
            <a:off x="4087368" y="6080760"/>
            <a:ext cx="146304" cy="237744"/>
          </a:xfrm>
          <a:prstGeom prst="rightArrow">
            <a:avLst/>
          </a:prstGeom>
          <a:solidFill>
            <a:srgbClr val="5B0F4E"/>
          </a:solidFill>
          <a:ln w="12700">
            <a:solidFill>
              <a:srgbClr val="5B0F4E"/>
            </a:solidFill>
            <a:prstDash val="solid"/>
          </a:ln>
        </p:spPr>
        <p:txBody>
          <a:bodyPr/>
          <a:lstStyle/>
          <a:p>
            <a:endParaRPr lang="en-IN"/>
          </a:p>
        </p:txBody>
      </p:sp>
      <p:sp>
        <p:nvSpPr>
          <p:cNvPr id="51" name="Shape 48"/>
          <p:cNvSpPr/>
          <p:nvPr/>
        </p:nvSpPr>
        <p:spPr>
          <a:xfrm>
            <a:off x="4251960" y="5303520"/>
            <a:ext cx="3611880" cy="1828800"/>
          </a:xfrm>
          <a:prstGeom prst="roundRect">
            <a:avLst>
              <a:gd name="adj" fmla="val 6000"/>
            </a:avLst>
          </a:prstGeom>
          <a:solidFill>
            <a:srgbClr val="FFFFFF"/>
          </a:solidFill>
          <a:ln w="12700">
            <a:solidFill>
              <a:srgbClr val="D9C8D5"/>
            </a:solidFill>
            <a:prstDash val="solid"/>
          </a:ln>
          <a:effectLst>
            <a:outerShdw blurRad="50800" dist="19050" dir="5400000" algn="bl" rotWithShape="0">
              <a:srgbClr val="999999">
                <a:alpha val="25000"/>
              </a:srgbClr>
            </a:outerShdw>
          </a:effectLst>
        </p:spPr>
        <p:txBody>
          <a:bodyPr/>
          <a:lstStyle/>
          <a:p>
            <a:endParaRPr lang="en-IN"/>
          </a:p>
        </p:txBody>
      </p:sp>
      <p:sp>
        <p:nvSpPr>
          <p:cNvPr id="52" name="Shape 49"/>
          <p:cNvSpPr/>
          <p:nvPr/>
        </p:nvSpPr>
        <p:spPr>
          <a:xfrm>
            <a:off x="4361688" y="5394960"/>
            <a:ext cx="502920" cy="502920"/>
          </a:xfrm>
          <a:prstGeom prst="ellipse">
            <a:avLst/>
          </a:prstGeom>
          <a:solidFill>
            <a:srgbClr val="5B0F4E"/>
          </a:solidFill>
          <a:ln w="12700">
            <a:solidFill>
              <a:srgbClr val="5B0F4E"/>
            </a:solidFill>
            <a:prstDash val="solid"/>
          </a:ln>
        </p:spPr>
        <p:txBody>
          <a:bodyPr/>
          <a:lstStyle/>
          <a:p>
            <a:endParaRPr lang="en-IN"/>
          </a:p>
        </p:txBody>
      </p:sp>
      <p:pic>
        <p:nvPicPr>
          <p:cNvPr id="53" name="Image 1" descr="preencoded.png"/>
          <p:cNvPicPr>
            <a:picLocks noChangeAspect="1"/>
          </p:cNvPicPr>
          <p:nvPr/>
        </p:nvPicPr>
        <p:blipFill>
          <a:blip r:embed="rId5"/>
          <a:stretch>
            <a:fillRect/>
          </a:stretch>
        </p:blipFill>
        <p:spPr>
          <a:xfrm>
            <a:off x="4482389" y="5515661"/>
            <a:ext cx="261518" cy="261518"/>
          </a:xfrm>
          <a:prstGeom prst="rect">
            <a:avLst/>
          </a:prstGeom>
        </p:spPr>
      </p:pic>
      <p:sp>
        <p:nvSpPr>
          <p:cNvPr id="54" name="Text 50"/>
          <p:cNvSpPr txBox="1"/>
          <p:nvPr/>
        </p:nvSpPr>
        <p:spPr>
          <a:xfrm>
            <a:off x="4937760" y="5376672"/>
            <a:ext cx="2834640" cy="310896"/>
          </a:xfrm>
          <a:prstGeom prst="rect">
            <a:avLst/>
          </a:prstGeom>
          <a:noFill/>
          <a:ln/>
        </p:spPr>
        <p:txBody>
          <a:bodyPr wrap="square" lIns="0" tIns="0" rIns="0" bIns="0" rtlCol="0" anchor="t"/>
          <a:lstStyle/>
          <a:p>
            <a:pPr marL="0" indent="0">
              <a:buNone/>
            </a:pPr>
            <a:r>
              <a:rPr lang="en-US" sz="1450" b="1" dirty="0">
                <a:solidFill>
                  <a:srgbClr val="5B0F4E"/>
                </a:solidFill>
                <a:latin typeface="Arial" pitchFamily="34" charset="0"/>
                <a:ea typeface="Arial" pitchFamily="34" charset="-122"/>
                <a:cs typeface="Arial" pitchFamily="34" charset="-120"/>
              </a:rPr>
              <a:t>Smart Band</a:t>
            </a:r>
            <a:endParaRPr lang="en-US" sz="1450" dirty="0"/>
          </a:p>
        </p:txBody>
      </p:sp>
      <p:sp>
        <p:nvSpPr>
          <p:cNvPr id="56" name="Text 52"/>
          <p:cNvSpPr txBox="1"/>
          <p:nvPr/>
        </p:nvSpPr>
        <p:spPr>
          <a:xfrm>
            <a:off x="5084064" y="5640324"/>
            <a:ext cx="2286000" cy="640080"/>
          </a:xfrm>
          <a:prstGeom prst="rect">
            <a:avLst/>
          </a:prstGeom>
          <a:noFill/>
          <a:ln/>
        </p:spPr>
        <p:txBody>
          <a:bodyPr wrap="square" lIns="0" tIns="0" rIns="0" bIns="0" rtlCol="0" anchor="t"/>
          <a:lstStyle/>
          <a:p>
            <a:pPr marL="0" indent="0">
              <a:buNone/>
            </a:pPr>
            <a:r>
              <a:rPr lang="en-US" sz="1400" dirty="0">
                <a:solidFill>
                  <a:srgbClr val="2B2B2B"/>
                </a:solidFill>
                <a:latin typeface="Arial" pitchFamily="34" charset="0"/>
                <a:ea typeface="Arial" pitchFamily="34" charset="-122"/>
                <a:cs typeface="Arial" pitchFamily="34" charset="-120"/>
              </a:rPr>
              <a:t>Band with Loss / Win / Profit zones vs own floor, price rank, suggested range, first-price mode</a:t>
            </a:r>
            <a:endParaRPr lang="en-US" sz="1400" dirty="0"/>
          </a:p>
        </p:txBody>
      </p:sp>
      <p:sp>
        <p:nvSpPr>
          <p:cNvPr id="57" name="Shape 53"/>
          <p:cNvSpPr/>
          <p:nvPr/>
        </p:nvSpPr>
        <p:spPr>
          <a:xfrm>
            <a:off x="4361688" y="6647688"/>
            <a:ext cx="3383280" cy="384048"/>
          </a:xfrm>
          <a:prstGeom prst="roundRect">
            <a:avLst>
              <a:gd name="adj" fmla="val 14286"/>
            </a:avLst>
          </a:prstGeom>
          <a:solidFill>
            <a:srgbClr val="FFF1DC"/>
          </a:solidFill>
          <a:ln w="12700">
            <a:solidFill>
              <a:srgbClr val="FFF1DC"/>
            </a:solidFill>
            <a:prstDash val="solid"/>
          </a:ln>
        </p:spPr>
        <p:txBody>
          <a:bodyPr/>
          <a:lstStyle/>
          <a:p>
            <a:endParaRPr lang="en-IN"/>
          </a:p>
        </p:txBody>
      </p:sp>
      <p:sp>
        <p:nvSpPr>
          <p:cNvPr id="58" name="Text 54"/>
          <p:cNvSpPr txBox="1"/>
          <p:nvPr/>
        </p:nvSpPr>
        <p:spPr>
          <a:xfrm>
            <a:off x="4416552" y="6647688"/>
            <a:ext cx="3291840" cy="384048"/>
          </a:xfrm>
          <a:prstGeom prst="rect">
            <a:avLst/>
          </a:prstGeom>
          <a:noFill/>
          <a:ln/>
        </p:spPr>
        <p:txBody>
          <a:bodyPr wrap="square" lIns="0" tIns="0" rIns="0" bIns="0" rtlCol="0" anchor="ctr"/>
          <a:lstStyle/>
          <a:p>
            <a:pPr marL="0" indent="0">
              <a:buNone/>
            </a:pPr>
            <a:r>
              <a:rPr lang="en-US" sz="1100" b="1" i="1" dirty="0">
                <a:solidFill>
                  <a:srgbClr val="5B0F4E"/>
                </a:solidFill>
                <a:latin typeface="Arial" pitchFamily="34" charset="0"/>
                <a:ea typeface="Arial" pitchFamily="34" charset="-122"/>
                <a:cs typeface="Arial" pitchFamily="34" charset="-120"/>
              </a:rPr>
              <a:t>₹299 sits in the Loss zone; suggested ₹319</a:t>
            </a:r>
            <a:endParaRPr lang="en-US" sz="1100" dirty="0"/>
          </a:p>
        </p:txBody>
      </p:sp>
      <p:sp>
        <p:nvSpPr>
          <p:cNvPr id="59" name="Shape 55"/>
          <p:cNvSpPr/>
          <p:nvPr/>
        </p:nvSpPr>
        <p:spPr>
          <a:xfrm>
            <a:off x="7882128" y="6080760"/>
            <a:ext cx="146304" cy="237744"/>
          </a:xfrm>
          <a:prstGeom prst="rightArrow">
            <a:avLst/>
          </a:prstGeom>
          <a:solidFill>
            <a:srgbClr val="5B0F4E"/>
          </a:solidFill>
          <a:ln w="12700">
            <a:solidFill>
              <a:srgbClr val="5B0F4E"/>
            </a:solidFill>
            <a:prstDash val="solid"/>
          </a:ln>
        </p:spPr>
        <p:txBody>
          <a:bodyPr/>
          <a:lstStyle/>
          <a:p>
            <a:endParaRPr lang="en-IN"/>
          </a:p>
        </p:txBody>
      </p:sp>
      <p:sp>
        <p:nvSpPr>
          <p:cNvPr id="60" name="Shape 56"/>
          <p:cNvSpPr/>
          <p:nvPr/>
        </p:nvSpPr>
        <p:spPr>
          <a:xfrm>
            <a:off x="8046720" y="5303520"/>
            <a:ext cx="3611880" cy="1828800"/>
          </a:xfrm>
          <a:prstGeom prst="roundRect">
            <a:avLst>
              <a:gd name="adj" fmla="val 6000"/>
            </a:avLst>
          </a:prstGeom>
          <a:solidFill>
            <a:srgbClr val="FFFFFF"/>
          </a:solidFill>
          <a:ln w="12700">
            <a:solidFill>
              <a:srgbClr val="D9C8D5"/>
            </a:solidFill>
            <a:prstDash val="solid"/>
          </a:ln>
          <a:effectLst>
            <a:outerShdw blurRad="50800" dist="19050" dir="5400000" algn="bl" rotWithShape="0">
              <a:srgbClr val="999999">
                <a:alpha val="25000"/>
              </a:srgbClr>
            </a:outerShdw>
          </a:effectLst>
        </p:spPr>
        <p:txBody>
          <a:bodyPr/>
          <a:lstStyle/>
          <a:p>
            <a:endParaRPr lang="en-IN"/>
          </a:p>
        </p:txBody>
      </p:sp>
      <p:sp>
        <p:nvSpPr>
          <p:cNvPr id="61" name="Shape 57"/>
          <p:cNvSpPr/>
          <p:nvPr/>
        </p:nvSpPr>
        <p:spPr>
          <a:xfrm>
            <a:off x="8156448" y="5394960"/>
            <a:ext cx="502920" cy="502920"/>
          </a:xfrm>
          <a:prstGeom prst="ellipse">
            <a:avLst/>
          </a:prstGeom>
          <a:solidFill>
            <a:srgbClr val="F29A1F"/>
          </a:solidFill>
          <a:ln w="12700">
            <a:solidFill>
              <a:srgbClr val="F29A1F"/>
            </a:solidFill>
            <a:prstDash val="solid"/>
          </a:ln>
        </p:spPr>
        <p:txBody>
          <a:bodyPr/>
          <a:lstStyle/>
          <a:p>
            <a:endParaRPr lang="en-IN"/>
          </a:p>
        </p:txBody>
      </p:sp>
      <p:pic>
        <p:nvPicPr>
          <p:cNvPr id="62" name="Image 2" descr="preencoded.png"/>
          <p:cNvPicPr>
            <a:picLocks noChangeAspect="1"/>
          </p:cNvPicPr>
          <p:nvPr/>
        </p:nvPicPr>
        <p:blipFill>
          <a:blip r:embed="rId6"/>
          <a:stretch>
            <a:fillRect/>
          </a:stretch>
        </p:blipFill>
        <p:spPr>
          <a:xfrm>
            <a:off x="8277149" y="5515661"/>
            <a:ext cx="261518" cy="261518"/>
          </a:xfrm>
          <a:prstGeom prst="rect">
            <a:avLst/>
          </a:prstGeom>
        </p:spPr>
      </p:pic>
      <p:sp>
        <p:nvSpPr>
          <p:cNvPr id="63" name="Text 58"/>
          <p:cNvSpPr txBox="1"/>
          <p:nvPr/>
        </p:nvSpPr>
        <p:spPr>
          <a:xfrm>
            <a:off x="8732520" y="5376672"/>
            <a:ext cx="2834640" cy="310896"/>
          </a:xfrm>
          <a:prstGeom prst="rect">
            <a:avLst/>
          </a:prstGeom>
          <a:noFill/>
          <a:ln/>
        </p:spPr>
        <p:txBody>
          <a:bodyPr wrap="square" lIns="0" tIns="0" rIns="0" bIns="0" rtlCol="0" anchor="t"/>
          <a:lstStyle/>
          <a:p>
            <a:pPr marL="0" indent="0">
              <a:buNone/>
            </a:pPr>
            <a:r>
              <a:rPr lang="en-US" sz="1450" b="1" dirty="0">
                <a:solidFill>
                  <a:srgbClr val="5B0F4E"/>
                </a:solidFill>
                <a:latin typeface="Arial" pitchFamily="34" charset="0"/>
                <a:ea typeface="Arial" pitchFamily="34" charset="-122"/>
                <a:cs typeface="Arial" pitchFamily="34" charset="-120"/>
              </a:rPr>
              <a:t>Lifecycle Autopilot</a:t>
            </a:r>
            <a:endParaRPr lang="en-US" sz="1450" dirty="0"/>
          </a:p>
        </p:txBody>
      </p:sp>
      <p:sp>
        <p:nvSpPr>
          <p:cNvPr id="65" name="Text 60"/>
          <p:cNvSpPr txBox="1"/>
          <p:nvPr/>
        </p:nvSpPr>
        <p:spPr>
          <a:xfrm>
            <a:off x="8892540" y="5651012"/>
            <a:ext cx="2278380" cy="640080"/>
          </a:xfrm>
          <a:prstGeom prst="rect">
            <a:avLst/>
          </a:prstGeom>
          <a:noFill/>
          <a:ln/>
        </p:spPr>
        <p:txBody>
          <a:bodyPr wrap="square" lIns="0" tIns="0" rIns="0" bIns="0" rtlCol="0" anchor="t"/>
          <a:lstStyle/>
          <a:p>
            <a:pPr marL="0" indent="0">
              <a:buNone/>
            </a:pPr>
            <a:r>
              <a:rPr lang="en-US" sz="1400" dirty="0">
                <a:solidFill>
                  <a:srgbClr val="2B2B2B"/>
                </a:solidFill>
                <a:latin typeface="Arial" pitchFamily="34" charset="0"/>
                <a:ea typeface="Arial" pitchFamily="34" charset="-122"/>
                <a:cs typeface="Arial" pitchFamily="34" charset="-120"/>
              </a:rPr>
              <a:t>3 triggers (launch screen, cost change, season end), one ₹-explained nudge at a time</a:t>
            </a:r>
            <a:endParaRPr lang="en-US" sz="1400" dirty="0"/>
          </a:p>
        </p:txBody>
      </p:sp>
      <p:sp>
        <p:nvSpPr>
          <p:cNvPr id="66" name="Shape 61"/>
          <p:cNvSpPr/>
          <p:nvPr/>
        </p:nvSpPr>
        <p:spPr>
          <a:xfrm>
            <a:off x="8156448" y="6647688"/>
            <a:ext cx="3383280" cy="384048"/>
          </a:xfrm>
          <a:prstGeom prst="roundRect">
            <a:avLst>
              <a:gd name="adj" fmla="val 14286"/>
            </a:avLst>
          </a:prstGeom>
          <a:solidFill>
            <a:srgbClr val="FFF1DC"/>
          </a:solidFill>
          <a:ln w="12700">
            <a:solidFill>
              <a:srgbClr val="FFF1DC"/>
            </a:solidFill>
            <a:prstDash val="solid"/>
          </a:ln>
        </p:spPr>
        <p:txBody>
          <a:bodyPr/>
          <a:lstStyle/>
          <a:p>
            <a:endParaRPr lang="en-IN"/>
          </a:p>
        </p:txBody>
      </p:sp>
      <p:sp>
        <p:nvSpPr>
          <p:cNvPr id="67" name="Text 62"/>
          <p:cNvSpPr txBox="1"/>
          <p:nvPr/>
        </p:nvSpPr>
        <p:spPr>
          <a:xfrm>
            <a:off x="8211312" y="6647688"/>
            <a:ext cx="3291840" cy="384048"/>
          </a:xfrm>
          <a:prstGeom prst="rect">
            <a:avLst/>
          </a:prstGeom>
          <a:noFill/>
          <a:ln/>
        </p:spPr>
        <p:txBody>
          <a:bodyPr wrap="square" lIns="0" tIns="0" rIns="0" bIns="0" rtlCol="0" anchor="ctr"/>
          <a:lstStyle/>
          <a:p>
            <a:pPr marL="0" indent="0">
              <a:buNone/>
            </a:pPr>
            <a:r>
              <a:rPr lang="en-US" sz="1100" b="1" i="1" dirty="0">
                <a:solidFill>
                  <a:srgbClr val="5B0F4E"/>
                </a:solidFill>
                <a:latin typeface="Arial" pitchFamily="34" charset="0"/>
                <a:ea typeface="Arial" pitchFamily="34" charset="-122"/>
                <a:cs typeface="Arial" pitchFamily="34" charset="-120"/>
              </a:rPr>
              <a:t>Season P&amp;L −₹21,872 → +₹1,698</a:t>
            </a:r>
            <a:endParaRPr lang="en-US" sz="1100" dirty="0"/>
          </a:p>
        </p:txBody>
      </p:sp>
      <p:sp>
        <p:nvSpPr>
          <p:cNvPr id="68" name="Shape 63"/>
          <p:cNvSpPr/>
          <p:nvPr/>
        </p:nvSpPr>
        <p:spPr>
          <a:xfrm>
            <a:off x="11841480" y="4956048"/>
            <a:ext cx="5989320" cy="2176272"/>
          </a:xfrm>
          <a:prstGeom prst="roundRect">
            <a:avLst>
              <a:gd name="adj" fmla="val 5042"/>
            </a:avLst>
          </a:prstGeom>
          <a:solidFill>
            <a:srgbClr val="F3E8F1"/>
          </a:solidFill>
          <a:ln w="12700">
            <a:solidFill>
              <a:srgbClr val="F3E8F1"/>
            </a:solidFill>
            <a:prstDash val="solid"/>
          </a:ln>
        </p:spPr>
        <p:txBody>
          <a:bodyPr/>
          <a:lstStyle/>
          <a:p>
            <a:endParaRPr lang="en-IN"/>
          </a:p>
        </p:txBody>
      </p:sp>
      <p:sp>
        <p:nvSpPr>
          <p:cNvPr id="69" name="Text 64"/>
          <p:cNvSpPr txBox="1"/>
          <p:nvPr/>
        </p:nvSpPr>
        <p:spPr>
          <a:xfrm>
            <a:off x="11978640" y="5010912"/>
            <a:ext cx="5760720" cy="329184"/>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Seller journey and tiers</a:t>
            </a:r>
            <a:endParaRPr lang="en-US" sz="1400" dirty="0"/>
          </a:p>
        </p:txBody>
      </p:sp>
      <p:sp>
        <p:nvSpPr>
          <p:cNvPr id="70" name="Shape 65"/>
          <p:cNvSpPr/>
          <p:nvPr/>
        </p:nvSpPr>
        <p:spPr>
          <a:xfrm>
            <a:off x="11978640" y="5413248"/>
            <a:ext cx="1188720" cy="457200"/>
          </a:xfrm>
          <a:prstGeom prst="chevron">
            <a:avLst/>
          </a:prstGeom>
          <a:solidFill>
            <a:srgbClr val="F29A1F"/>
          </a:solidFill>
          <a:ln w="6350">
            <a:solidFill>
              <a:srgbClr val="FFFFFF"/>
            </a:solidFill>
            <a:prstDash val="solid"/>
          </a:ln>
        </p:spPr>
        <p:txBody>
          <a:bodyPr/>
          <a:lstStyle/>
          <a:p>
            <a:endParaRPr lang="en-IN"/>
          </a:p>
        </p:txBody>
      </p:sp>
      <p:sp>
        <p:nvSpPr>
          <p:cNvPr id="71" name="Text 66"/>
          <p:cNvSpPr txBox="1"/>
          <p:nvPr/>
        </p:nvSpPr>
        <p:spPr>
          <a:xfrm>
            <a:off x="12161520" y="5413248"/>
            <a:ext cx="822960"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List</a:t>
            </a:r>
            <a:endParaRPr lang="en-US" sz="1050" dirty="0"/>
          </a:p>
        </p:txBody>
      </p:sp>
      <p:sp>
        <p:nvSpPr>
          <p:cNvPr id="72" name="Shape 67"/>
          <p:cNvSpPr/>
          <p:nvPr/>
        </p:nvSpPr>
        <p:spPr>
          <a:xfrm>
            <a:off x="13121640" y="5413248"/>
            <a:ext cx="1188720" cy="457200"/>
          </a:xfrm>
          <a:prstGeom prst="chevron">
            <a:avLst/>
          </a:prstGeom>
          <a:solidFill>
            <a:srgbClr val="F29A1F"/>
          </a:solidFill>
          <a:ln w="6350">
            <a:solidFill>
              <a:srgbClr val="FFFFFF"/>
            </a:solidFill>
            <a:prstDash val="solid"/>
          </a:ln>
        </p:spPr>
        <p:txBody>
          <a:bodyPr/>
          <a:lstStyle/>
          <a:p>
            <a:endParaRPr lang="en-IN"/>
          </a:p>
        </p:txBody>
      </p:sp>
      <p:sp>
        <p:nvSpPr>
          <p:cNvPr id="73" name="Text 68"/>
          <p:cNvSpPr txBox="1"/>
          <p:nvPr/>
        </p:nvSpPr>
        <p:spPr>
          <a:xfrm>
            <a:off x="13304520" y="5413248"/>
            <a:ext cx="822960"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Price</a:t>
            </a:r>
            <a:endParaRPr lang="en-US" sz="1050" dirty="0"/>
          </a:p>
        </p:txBody>
      </p:sp>
      <p:sp>
        <p:nvSpPr>
          <p:cNvPr id="74" name="Shape 69"/>
          <p:cNvSpPr/>
          <p:nvPr/>
        </p:nvSpPr>
        <p:spPr>
          <a:xfrm>
            <a:off x="14264640" y="5413248"/>
            <a:ext cx="1188720" cy="457200"/>
          </a:xfrm>
          <a:prstGeom prst="chevron">
            <a:avLst/>
          </a:prstGeom>
          <a:solidFill>
            <a:srgbClr val="F29A1F"/>
          </a:solidFill>
          <a:ln w="6350">
            <a:solidFill>
              <a:srgbClr val="FFFFFF"/>
            </a:solidFill>
            <a:prstDash val="solid"/>
          </a:ln>
        </p:spPr>
        <p:txBody>
          <a:bodyPr/>
          <a:lstStyle/>
          <a:p>
            <a:endParaRPr lang="en-IN"/>
          </a:p>
        </p:txBody>
      </p:sp>
      <p:sp>
        <p:nvSpPr>
          <p:cNvPr id="75" name="Text 70"/>
          <p:cNvSpPr txBox="1"/>
          <p:nvPr/>
        </p:nvSpPr>
        <p:spPr>
          <a:xfrm>
            <a:off x="14447520" y="5413248"/>
            <a:ext cx="822960"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Test</a:t>
            </a:r>
            <a:endParaRPr lang="en-US" sz="1050" dirty="0"/>
          </a:p>
        </p:txBody>
      </p:sp>
      <p:sp>
        <p:nvSpPr>
          <p:cNvPr id="76" name="Shape 71"/>
          <p:cNvSpPr/>
          <p:nvPr/>
        </p:nvSpPr>
        <p:spPr>
          <a:xfrm>
            <a:off x="15407640" y="5413248"/>
            <a:ext cx="1188720" cy="457200"/>
          </a:xfrm>
          <a:prstGeom prst="chevron">
            <a:avLst/>
          </a:prstGeom>
          <a:solidFill>
            <a:srgbClr val="F29A1F"/>
          </a:solidFill>
          <a:ln w="6350">
            <a:solidFill>
              <a:srgbClr val="FFFFFF"/>
            </a:solidFill>
            <a:prstDash val="solid"/>
          </a:ln>
        </p:spPr>
        <p:txBody>
          <a:bodyPr/>
          <a:lstStyle/>
          <a:p>
            <a:endParaRPr lang="en-IN"/>
          </a:p>
        </p:txBody>
      </p:sp>
      <p:sp>
        <p:nvSpPr>
          <p:cNvPr id="77" name="Text 72"/>
          <p:cNvSpPr txBox="1"/>
          <p:nvPr/>
        </p:nvSpPr>
        <p:spPr>
          <a:xfrm>
            <a:off x="15590520" y="5413248"/>
            <a:ext cx="822960"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Grow</a:t>
            </a:r>
            <a:endParaRPr lang="en-US" sz="1050" dirty="0"/>
          </a:p>
        </p:txBody>
      </p:sp>
      <p:sp>
        <p:nvSpPr>
          <p:cNvPr id="78" name="Shape 73"/>
          <p:cNvSpPr/>
          <p:nvPr/>
        </p:nvSpPr>
        <p:spPr>
          <a:xfrm>
            <a:off x="16550640" y="5413248"/>
            <a:ext cx="1188720" cy="457200"/>
          </a:xfrm>
          <a:prstGeom prst="chevron">
            <a:avLst/>
          </a:prstGeom>
          <a:solidFill>
            <a:srgbClr val="F29A1F"/>
          </a:solidFill>
          <a:ln w="6350">
            <a:solidFill>
              <a:srgbClr val="FFFFFF"/>
            </a:solidFill>
            <a:prstDash val="solid"/>
          </a:ln>
        </p:spPr>
        <p:txBody>
          <a:bodyPr/>
          <a:lstStyle/>
          <a:p>
            <a:endParaRPr lang="en-IN"/>
          </a:p>
        </p:txBody>
      </p:sp>
      <p:sp>
        <p:nvSpPr>
          <p:cNvPr id="79" name="Text 74"/>
          <p:cNvSpPr txBox="1"/>
          <p:nvPr/>
        </p:nvSpPr>
        <p:spPr>
          <a:xfrm>
            <a:off x="16733520" y="5413248"/>
            <a:ext cx="822960"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Clear</a:t>
            </a:r>
            <a:endParaRPr lang="en-US" sz="1050" dirty="0"/>
          </a:p>
        </p:txBody>
      </p:sp>
      <p:sp>
        <p:nvSpPr>
          <p:cNvPr id="80" name="Text 75"/>
          <p:cNvSpPr txBox="1"/>
          <p:nvPr/>
        </p:nvSpPr>
        <p:spPr>
          <a:xfrm>
            <a:off x="11962712" y="6181344"/>
            <a:ext cx="5760720" cy="822960"/>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Guided: </a:t>
            </a:r>
            <a:r>
              <a:rPr lang="en-US" sz="1400" dirty="0">
                <a:solidFill>
                  <a:srgbClr val="2B2B2B"/>
                </a:solidFill>
                <a:latin typeface="Arial" pitchFamily="34" charset="0"/>
                <a:ea typeface="Arial" pitchFamily="34" charset="-122"/>
                <a:cs typeface="Arial" pitchFamily="34" charset="-120"/>
              </a:rPr>
              <a:t>voice + Hindi, defaults, one-line ₹ answer (launch segment)</a:t>
            </a:r>
            <a:endParaRPr lang="en-US" sz="1400" dirty="0"/>
          </a:p>
          <a:p>
            <a:pPr marL="0" indent="0">
              <a:buNone/>
            </a:pPr>
            <a:r>
              <a:rPr lang="en-US" sz="1400" b="1" dirty="0">
                <a:solidFill>
                  <a:srgbClr val="5B0F4E"/>
                </a:solidFill>
                <a:latin typeface="Arial" pitchFamily="34" charset="0"/>
                <a:ea typeface="Arial" pitchFamily="34" charset="-122"/>
                <a:cs typeface="Arial" pitchFamily="34" charset="-120"/>
              </a:rPr>
              <a:t>Growing: </a:t>
            </a:r>
            <a:r>
              <a:rPr lang="en-US" sz="1400" dirty="0">
                <a:solidFill>
                  <a:srgbClr val="2B2B2B"/>
                </a:solidFill>
                <a:latin typeface="Arial" pitchFamily="34" charset="0"/>
                <a:ea typeface="Arial" pitchFamily="34" charset="-122"/>
                <a:cs typeface="Arial" pitchFamily="34" charset="-120"/>
              </a:rPr>
              <a:t>band, sliders, price tests</a:t>
            </a:r>
            <a:endParaRPr lang="en-US" sz="1400" dirty="0"/>
          </a:p>
          <a:p>
            <a:pPr marL="0" indent="0">
              <a:buNone/>
            </a:pPr>
            <a:r>
              <a:rPr lang="en-US" sz="1400" b="1" dirty="0">
                <a:solidFill>
                  <a:srgbClr val="5B0F4E"/>
                </a:solidFill>
                <a:latin typeface="Arial" pitchFamily="34" charset="0"/>
                <a:ea typeface="Arial" pitchFamily="34" charset="-122"/>
                <a:cs typeface="Arial" pitchFamily="34" charset="-120"/>
              </a:rPr>
              <a:t>Pro: </a:t>
            </a:r>
            <a:r>
              <a:rPr lang="en-US" sz="1400" dirty="0">
                <a:solidFill>
                  <a:srgbClr val="2B2B2B"/>
                </a:solidFill>
                <a:latin typeface="Arial" pitchFamily="34" charset="0"/>
                <a:ea typeface="Arial" pitchFamily="34" charset="-122"/>
                <a:cs typeface="Arial" pitchFamily="34" charset="-120"/>
              </a:rPr>
              <a:t>bulk SKUs, custom rules, exports</a:t>
            </a:r>
            <a:endParaRPr lang="en-US" sz="1400" dirty="0"/>
          </a:p>
        </p:txBody>
      </p:sp>
      <p:sp>
        <p:nvSpPr>
          <p:cNvPr id="81" name="Text 76"/>
          <p:cNvSpPr txBox="1"/>
          <p:nvPr/>
        </p:nvSpPr>
        <p:spPr>
          <a:xfrm>
            <a:off x="466344" y="7322515"/>
            <a:ext cx="10972800" cy="329184"/>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End-to-end system architecture and operations</a:t>
            </a:r>
            <a:endParaRPr lang="en-US" sz="1400" dirty="0"/>
          </a:p>
        </p:txBody>
      </p:sp>
      <p:sp>
        <p:nvSpPr>
          <p:cNvPr id="82" name="Shape 77"/>
          <p:cNvSpPr/>
          <p:nvPr/>
        </p:nvSpPr>
        <p:spPr>
          <a:xfrm>
            <a:off x="457200" y="7752283"/>
            <a:ext cx="502920" cy="502920"/>
          </a:xfrm>
          <a:prstGeom prst="ellipse">
            <a:avLst/>
          </a:prstGeom>
          <a:solidFill>
            <a:srgbClr val="5B0F4E"/>
          </a:solidFill>
          <a:ln w="12700">
            <a:solidFill>
              <a:srgbClr val="5B0F4E"/>
            </a:solidFill>
            <a:prstDash val="solid"/>
          </a:ln>
        </p:spPr>
        <p:txBody>
          <a:bodyPr/>
          <a:lstStyle/>
          <a:p>
            <a:endParaRPr lang="en-IN"/>
          </a:p>
        </p:txBody>
      </p:sp>
      <p:pic>
        <p:nvPicPr>
          <p:cNvPr id="83" name="Image 3" descr="preencoded.png"/>
          <p:cNvPicPr>
            <a:picLocks noChangeAspect="1"/>
          </p:cNvPicPr>
          <p:nvPr/>
        </p:nvPicPr>
        <p:blipFill>
          <a:blip r:embed="rId7"/>
          <a:stretch>
            <a:fillRect/>
          </a:stretch>
        </p:blipFill>
        <p:spPr>
          <a:xfrm>
            <a:off x="577901" y="7872984"/>
            <a:ext cx="261518" cy="261518"/>
          </a:xfrm>
          <a:prstGeom prst="rect">
            <a:avLst/>
          </a:prstGeom>
        </p:spPr>
      </p:pic>
      <p:sp>
        <p:nvSpPr>
          <p:cNvPr id="84" name="Text 78"/>
          <p:cNvSpPr txBox="1"/>
          <p:nvPr/>
        </p:nvSpPr>
        <p:spPr>
          <a:xfrm>
            <a:off x="1024128" y="7706563"/>
            <a:ext cx="2743200" cy="310896"/>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Data Meesho already holds</a:t>
            </a:r>
            <a:endParaRPr lang="en-US" sz="1400" dirty="0"/>
          </a:p>
        </p:txBody>
      </p:sp>
      <p:sp>
        <p:nvSpPr>
          <p:cNvPr id="85" name="Text 79"/>
          <p:cNvSpPr txBox="1"/>
          <p:nvPr/>
        </p:nvSpPr>
        <p:spPr>
          <a:xfrm>
            <a:off x="1024128" y="8017459"/>
            <a:ext cx="2743200" cy="685800"/>
          </a:xfrm>
          <a:prstGeom prst="rect">
            <a:avLst/>
          </a:prstGeom>
          <a:noFill/>
          <a:ln/>
        </p:spPr>
        <p:txBody>
          <a:bodyPr wrap="square" lIns="0" tIns="0" rIns="0" bIns="0" rtlCol="0" anchor="t"/>
          <a:lstStyle/>
          <a:p>
            <a:pPr marL="0" indent="0">
              <a:buNone/>
            </a:pPr>
            <a:r>
              <a:rPr lang="en-US" sz="1400" dirty="0">
                <a:solidFill>
                  <a:srgbClr val="2B2B2B"/>
                </a:solidFill>
                <a:latin typeface="Arial" pitchFamily="34" charset="0"/>
                <a:ea typeface="Arial" pitchFamily="34" charset="-122"/>
                <a:cs typeface="Arial" pitchFamily="34" charset="-120"/>
              </a:rPr>
              <a:t>Rate card &amp; slabs, category RTO / return rates, comparable listings · settlements</a:t>
            </a:r>
            <a:endParaRPr lang="en-US" sz="1400" dirty="0"/>
          </a:p>
        </p:txBody>
      </p:sp>
      <p:sp>
        <p:nvSpPr>
          <p:cNvPr id="86" name="Shape 80"/>
          <p:cNvSpPr/>
          <p:nvPr/>
        </p:nvSpPr>
        <p:spPr>
          <a:xfrm>
            <a:off x="3749040" y="7889443"/>
            <a:ext cx="182880" cy="219456"/>
          </a:xfrm>
          <a:prstGeom prst="rightArrow">
            <a:avLst/>
          </a:prstGeom>
          <a:solidFill>
            <a:srgbClr val="5B0F4E"/>
          </a:solidFill>
          <a:ln w="12700">
            <a:solidFill>
              <a:srgbClr val="5B0F4E"/>
            </a:solidFill>
            <a:prstDash val="solid"/>
          </a:ln>
        </p:spPr>
        <p:txBody>
          <a:bodyPr/>
          <a:lstStyle/>
          <a:p>
            <a:endParaRPr lang="en-IN"/>
          </a:p>
        </p:txBody>
      </p:sp>
      <p:sp>
        <p:nvSpPr>
          <p:cNvPr id="87" name="Shape 81"/>
          <p:cNvSpPr/>
          <p:nvPr/>
        </p:nvSpPr>
        <p:spPr>
          <a:xfrm>
            <a:off x="3950208" y="7752283"/>
            <a:ext cx="502920" cy="502920"/>
          </a:xfrm>
          <a:prstGeom prst="ellipse">
            <a:avLst/>
          </a:prstGeom>
          <a:solidFill>
            <a:srgbClr val="F29A1F"/>
          </a:solidFill>
          <a:ln w="12700">
            <a:solidFill>
              <a:srgbClr val="F29A1F"/>
            </a:solidFill>
            <a:prstDash val="solid"/>
          </a:ln>
        </p:spPr>
        <p:txBody>
          <a:bodyPr/>
          <a:lstStyle/>
          <a:p>
            <a:endParaRPr lang="en-IN"/>
          </a:p>
        </p:txBody>
      </p:sp>
      <p:pic>
        <p:nvPicPr>
          <p:cNvPr id="88" name="Image 4" descr="preencoded.png"/>
          <p:cNvPicPr>
            <a:picLocks noChangeAspect="1"/>
          </p:cNvPicPr>
          <p:nvPr/>
        </p:nvPicPr>
        <p:blipFill>
          <a:blip r:embed="rId8"/>
          <a:stretch>
            <a:fillRect/>
          </a:stretch>
        </p:blipFill>
        <p:spPr>
          <a:xfrm>
            <a:off x="4070909" y="7872984"/>
            <a:ext cx="261518" cy="261518"/>
          </a:xfrm>
          <a:prstGeom prst="rect">
            <a:avLst/>
          </a:prstGeom>
        </p:spPr>
      </p:pic>
      <p:sp>
        <p:nvSpPr>
          <p:cNvPr id="89" name="Text 82"/>
          <p:cNvSpPr txBox="1"/>
          <p:nvPr/>
        </p:nvSpPr>
        <p:spPr>
          <a:xfrm>
            <a:off x="4517136" y="7706563"/>
            <a:ext cx="2743200" cy="310896"/>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Seller inputs</a:t>
            </a:r>
            <a:endParaRPr lang="en-US" sz="1400" dirty="0"/>
          </a:p>
        </p:txBody>
      </p:sp>
      <p:sp>
        <p:nvSpPr>
          <p:cNvPr id="90" name="Text 83"/>
          <p:cNvSpPr txBox="1"/>
          <p:nvPr/>
        </p:nvSpPr>
        <p:spPr>
          <a:xfrm>
            <a:off x="4517136" y="8017459"/>
            <a:ext cx="2743200" cy="685800"/>
          </a:xfrm>
          <a:prstGeom prst="rect">
            <a:avLst/>
          </a:prstGeom>
          <a:noFill/>
          <a:ln/>
        </p:spPr>
        <p:txBody>
          <a:bodyPr wrap="square" lIns="0" tIns="0" rIns="0" bIns="0" rtlCol="0" anchor="t"/>
          <a:lstStyle/>
          <a:p>
            <a:pPr marL="0" indent="0">
              <a:buNone/>
            </a:pPr>
            <a:r>
              <a:rPr lang="en-US" sz="1400" dirty="0">
                <a:solidFill>
                  <a:srgbClr val="2B2B2B"/>
                </a:solidFill>
                <a:latin typeface="Arial" pitchFamily="34" charset="0"/>
                <a:ea typeface="Arial" pitchFamily="34" charset="-122"/>
                <a:cs typeface="Arial" pitchFamily="34" charset="-120"/>
              </a:rPr>
              <a:t>Purchase cost, packing, weight, box size (voice / Hindi)</a:t>
            </a:r>
            <a:endParaRPr lang="en-US" sz="1400" dirty="0"/>
          </a:p>
        </p:txBody>
      </p:sp>
      <p:sp>
        <p:nvSpPr>
          <p:cNvPr id="91" name="Shape 84"/>
          <p:cNvSpPr/>
          <p:nvPr/>
        </p:nvSpPr>
        <p:spPr>
          <a:xfrm>
            <a:off x="7242048" y="7889443"/>
            <a:ext cx="182880" cy="219456"/>
          </a:xfrm>
          <a:prstGeom prst="rightArrow">
            <a:avLst/>
          </a:prstGeom>
          <a:solidFill>
            <a:srgbClr val="5B0F4E"/>
          </a:solidFill>
          <a:ln w="12700">
            <a:solidFill>
              <a:srgbClr val="5B0F4E"/>
            </a:solidFill>
            <a:prstDash val="solid"/>
          </a:ln>
        </p:spPr>
        <p:txBody>
          <a:bodyPr/>
          <a:lstStyle/>
          <a:p>
            <a:endParaRPr lang="en-IN"/>
          </a:p>
        </p:txBody>
      </p:sp>
      <p:sp>
        <p:nvSpPr>
          <p:cNvPr id="92" name="Shape 85"/>
          <p:cNvSpPr/>
          <p:nvPr/>
        </p:nvSpPr>
        <p:spPr>
          <a:xfrm>
            <a:off x="7443216" y="7752283"/>
            <a:ext cx="502920" cy="502920"/>
          </a:xfrm>
          <a:prstGeom prst="ellipse">
            <a:avLst/>
          </a:prstGeom>
          <a:solidFill>
            <a:srgbClr val="5B0F4E"/>
          </a:solidFill>
          <a:ln w="12700">
            <a:solidFill>
              <a:srgbClr val="5B0F4E"/>
            </a:solidFill>
            <a:prstDash val="solid"/>
          </a:ln>
        </p:spPr>
        <p:txBody>
          <a:bodyPr/>
          <a:lstStyle/>
          <a:p>
            <a:endParaRPr lang="en-IN"/>
          </a:p>
        </p:txBody>
      </p:sp>
      <p:pic>
        <p:nvPicPr>
          <p:cNvPr id="93" name="Image 5" descr="preencoded.png"/>
          <p:cNvPicPr>
            <a:picLocks noChangeAspect="1"/>
          </p:cNvPicPr>
          <p:nvPr/>
        </p:nvPicPr>
        <p:blipFill>
          <a:blip r:embed="rId9"/>
          <a:stretch>
            <a:fillRect/>
          </a:stretch>
        </p:blipFill>
        <p:spPr>
          <a:xfrm>
            <a:off x="7563917" y="7872984"/>
            <a:ext cx="261518" cy="261518"/>
          </a:xfrm>
          <a:prstGeom prst="rect">
            <a:avLst/>
          </a:prstGeom>
        </p:spPr>
      </p:pic>
      <p:sp>
        <p:nvSpPr>
          <p:cNvPr id="94" name="Text 86"/>
          <p:cNvSpPr txBox="1"/>
          <p:nvPr/>
        </p:nvSpPr>
        <p:spPr>
          <a:xfrm>
            <a:off x="8010144" y="7706563"/>
            <a:ext cx="2743200" cy="310896"/>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Pricing engine</a:t>
            </a:r>
            <a:endParaRPr lang="en-US" sz="1400" dirty="0"/>
          </a:p>
        </p:txBody>
      </p:sp>
      <p:sp>
        <p:nvSpPr>
          <p:cNvPr id="95" name="Text 87"/>
          <p:cNvSpPr txBox="1"/>
          <p:nvPr/>
        </p:nvSpPr>
        <p:spPr>
          <a:xfrm>
            <a:off x="8010144" y="8017459"/>
            <a:ext cx="2743200" cy="685800"/>
          </a:xfrm>
          <a:prstGeom prst="rect">
            <a:avLst/>
          </a:prstGeom>
          <a:noFill/>
          <a:ln/>
        </p:spPr>
        <p:txBody>
          <a:bodyPr wrap="square" lIns="0" tIns="0" rIns="0" bIns="0" rtlCol="0" anchor="t"/>
          <a:lstStyle/>
          <a:p>
            <a:pPr marL="0" indent="0">
              <a:buNone/>
            </a:pPr>
            <a:r>
              <a:rPr lang="en-US" sz="1400" dirty="0">
                <a:solidFill>
                  <a:srgbClr val="2B2B2B"/>
                </a:solidFill>
                <a:latin typeface="Arial" pitchFamily="34" charset="0"/>
                <a:ea typeface="Arial" pitchFamily="34" charset="-122"/>
                <a:cs typeface="Arial" pitchFamily="34" charset="-120"/>
              </a:rPr>
              <a:t>Floor, band &amp; suggested price, prior blending </a:t>
            </a:r>
            <a:endParaRPr lang="en-US" sz="1400" dirty="0"/>
          </a:p>
        </p:txBody>
      </p:sp>
      <p:sp>
        <p:nvSpPr>
          <p:cNvPr id="96" name="Shape 88"/>
          <p:cNvSpPr/>
          <p:nvPr/>
        </p:nvSpPr>
        <p:spPr>
          <a:xfrm>
            <a:off x="10735056" y="7889443"/>
            <a:ext cx="182880" cy="219456"/>
          </a:xfrm>
          <a:prstGeom prst="rightArrow">
            <a:avLst/>
          </a:prstGeom>
          <a:solidFill>
            <a:srgbClr val="5B0F4E"/>
          </a:solidFill>
          <a:ln w="12700">
            <a:solidFill>
              <a:srgbClr val="5B0F4E"/>
            </a:solidFill>
            <a:prstDash val="solid"/>
          </a:ln>
        </p:spPr>
        <p:txBody>
          <a:bodyPr/>
          <a:lstStyle/>
          <a:p>
            <a:endParaRPr lang="en-IN"/>
          </a:p>
        </p:txBody>
      </p:sp>
      <p:sp>
        <p:nvSpPr>
          <p:cNvPr id="97" name="Shape 89"/>
          <p:cNvSpPr/>
          <p:nvPr/>
        </p:nvSpPr>
        <p:spPr>
          <a:xfrm>
            <a:off x="10936224" y="7752283"/>
            <a:ext cx="502920" cy="502920"/>
          </a:xfrm>
          <a:prstGeom prst="ellipse">
            <a:avLst/>
          </a:prstGeom>
          <a:solidFill>
            <a:srgbClr val="F29A1F"/>
          </a:solidFill>
          <a:ln w="12700">
            <a:solidFill>
              <a:srgbClr val="F29A1F"/>
            </a:solidFill>
            <a:prstDash val="solid"/>
          </a:ln>
        </p:spPr>
        <p:txBody>
          <a:bodyPr/>
          <a:lstStyle/>
          <a:p>
            <a:endParaRPr lang="en-IN"/>
          </a:p>
        </p:txBody>
      </p:sp>
      <p:pic>
        <p:nvPicPr>
          <p:cNvPr id="98" name="Image 6" descr="preencoded.png"/>
          <p:cNvPicPr>
            <a:picLocks noChangeAspect="1"/>
          </p:cNvPicPr>
          <p:nvPr/>
        </p:nvPicPr>
        <p:blipFill>
          <a:blip r:embed="rId10"/>
          <a:stretch>
            <a:fillRect/>
          </a:stretch>
        </p:blipFill>
        <p:spPr>
          <a:xfrm>
            <a:off x="11056925" y="7872984"/>
            <a:ext cx="261518" cy="261518"/>
          </a:xfrm>
          <a:prstGeom prst="rect">
            <a:avLst/>
          </a:prstGeom>
        </p:spPr>
      </p:pic>
      <p:sp>
        <p:nvSpPr>
          <p:cNvPr id="99" name="Text 90"/>
          <p:cNvSpPr txBox="1"/>
          <p:nvPr/>
        </p:nvSpPr>
        <p:spPr>
          <a:xfrm>
            <a:off x="11503152" y="7706563"/>
            <a:ext cx="2743200" cy="310896"/>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Touchpoints</a:t>
            </a:r>
            <a:endParaRPr lang="en-US" sz="1400" dirty="0"/>
          </a:p>
        </p:txBody>
      </p:sp>
      <p:sp>
        <p:nvSpPr>
          <p:cNvPr id="100" name="Text 91"/>
          <p:cNvSpPr txBox="1"/>
          <p:nvPr/>
        </p:nvSpPr>
        <p:spPr>
          <a:xfrm>
            <a:off x="11503152" y="8017459"/>
            <a:ext cx="2743200" cy="685800"/>
          </a:xfrm>
          <a:prstGeom prst="rect">
            <a:avLst/>
          </a:prstGeom>
          <a:noFill/>
          <a:ln/>
        </p:spPr>
        <p:txBody>
          <a:bodyPr wrap="square" lIns="0" tIns="0" rIns="0" bIns="0" rtlCol="0" anchor="t"/>
          <a:lstStyle/>
          <a:p>
            <a:pPr marL="0" indent="0">
              <a:buNone/>
            </a:pPr>
            <a:r>
              <a:rPr lang="en-US" sz="1400" dirty="0">
                <a:solidFill>
                  <a:srgbClr val="2B2B2B"/>
                </a:solidFill>
                <a:latin typeface="Arial" pitchFamily="34" charset="0"/>
                <a:ea typeface="Arial" pitchFamily="34" charset="-122"/>
                <a:cs typeface="Arial" pitchFamily="34" charset="-120"/>
              </a:rPr>
              <a:t>Listing flow, price edit, WhatsApp / app nudges</a:t>
            </a:r>
            <a:endParaRPr lang="en-US" sz="1400" dirty="0"/>
          </a:p>
        </p:txBody>
      </p:sp>
      <p:sp>
        <p:nvSpPr>
          <p:cNvPr id="101" name="Shape 92"/>
          <p:cNvSpPr/>
          <p:nvPr/>
        </p:nvSpPr>
        <p:spPr>
          <a:xfrm>
            <a:off x="14228064" y="7889443"/>
            <a:ext cx="182880" cy="219456"/>
          </a:xfrm>
          <a:prstGeom prst="rightArrow">
            <a:avLst/>
          </a:prstGeom>
          <a:solidFill>
            <a:srgbClr val="5B0F4E"/>
          </a:solidFill>
          <a:ln w="12700">
            <a:solidFill>
              <a:srgbClr val="5B0F4E"/>
            </a:solidFill>
            <a:prstDash val="solid"/>
          </a:ln>
        </p:spPr>
        <p:txBody>
          <a:bodyPr/>
          <a:lstStyle/>
          <a:p>
            <a:endParaRPr lang="en-IN"/>
          </a:p>
        </p:txBody>
      </p:sp>
      <p:sp>
        <p:nvSpPr>
          <p:cNvPr id="102" name="Shape 93"/>
          <p:cNvSpPr/>
          <p:nvPr/>
        </p:nvSpPr>
        <p:spPr>
          <a:xfrm>
            <a:off x="14429232" y="7752283"/>
            <a:ext cx="502920" cy="502920"/>
          </a:xfrm>
          <a:prstGeom prst="ellipse">
            <a:avLst/>
          </a:prstGeom>
          <a:solidFill>
            <a:srgbClr val="5B0F4E"/>
          </a:solidFill>
          <a:ln w="12700">
            <a:solidFill>
              <a:srgbClr val="5B0F4E"/>
            </a:solidFill>
            <a:prstDash val="solid"/>
          </a:ln>
        </p:spPr>
        <p:txBody>
          <a:bodyPr/>
          <a:lstStyle/>
          <a:p>
            <a:endParaRPr lang="en-IN"/>
          </a:p>
        </p:txBody>
      </p:sp>
      <p:pic>
        <p:nvPicPr>
          <p:cNvPr id="103" name="Image 7" descr="preencoded.png"/>
          <p:cNvPicPr>
            <a:picLocks noChangeAspect="1"/>
          </p:cNvPicPr>
          <p:nvPr/>
        </p:nvPicPr>
        <p:blipFill>
          <a:blip r:embed="rId11"/>
          <a:stretch>
            <a:fillRect/>
          </a:stretch>
        </p:blipFill>
        <p:spPr>
          <a:xfrm>
            <a:off x="14549933" y="7872984"/>
            <a:ext cx="261518" cy="261518"/>
          </a:xfrm>
          <a:prstGeom prst="rect">
            <a:avLst/>
          </a:prstGeom>
        </p:spPr>
      </p:pic>
      <p:sp>
        <p:nvSpPr>
          <p:cNvPr id="104" name="Text 94"/>
          <p:cNvSpPr txBox="1"/>
          <p:nvPr/>
        </p:nvSpPr>
        <p:spPr>
          <a:xfrm>
            <a:off x="14996160" y="7706563"/>
            <a:ext cx="2743200" cy="310896"/>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Feedback loop</a:t>
            </a:r>
            <a:endParaRPr lang="en-US" sz="1400" dirty="0"/>
          </a:p>
        </p:txBody>
      </p:sp>
      <p:sp>
        <p:nvSpPr>
          <p:cNvPr id="105" name="Text 95"/>
          <p:cNvSpPr txBox="1"/>
          <p:nvPr/>
        </p:nvSpPr>
        <p:spPr>
          <a:xfrm>
            <a:off x="14996160" y="8017459"/>
            <a:ext cx="2743200" cy="685800"/>
          </a:xfrm>
          <a:prstGeom prst="rect">
            <a:avLst/>
          </a:prstGeom>
          <a:noFill/>
          <a:ln/>
        </p:spPr>
        <p:txBody>
          <a:bodyPr wrap="square" lIns="0" tIns="0" rIns="0" bIns="0" rtlCol="0" anchor="t"/>
          <a:lstStyle/>
          <a:p>
            <a:pPr marL="0" indent="0">
              <a:buNone/>
            </a:pPr>
            <a:r>
              <a:rPr lang="en-US" sz="1400" dirty="0">
                <a:solidFill>
                  <a:srgbClr val="2B2B2B"/>
                </a:solidFill>
                <a:latin typeface="Arial" pitchFamily="34" charset="0"/>
                <a:ea typeface="Arial" pitchFamily="34" charset="-122"/>
                <a:cs typeface="Arial" pitchFamily="34" charset="-120"/>
              </a:rPr>
              <a:t>Orders, returns, settlements update priors and floors</a:t>
            </a:r>
            <a:endParaRPr lang="en-US" sz="1400" dirty="0"/>
          </a:p>
        </p:txBody>
      </p:sp>
      <p:sp>
        <p:nvSpPr>
          <p:cNvPr id="106" name="Shape 96"/>
          <p:cNvSpPr/>
          <p:nvPr/>
        </p:nvSpPr>
        <p:spPr>
          <a:xfrm>
            <a:off x="457200" y="8915400"/>
            <a:ext cx="17373600" cy="484632"/>
          </a:xfrm>
          <a:prstGeom prst="roundRect">
            <a:avLst>
              <a:gd name="adj" fmla="val 16000"/>
            </a:avLst>
          </a:prstGeom>
          <a:solidFill>
            <a:srgbClr val="FFF1DC"/>
          </a:solidFill>
          <a:ln w="12700">
            <a:solidFill>
              <a:srgbClr val="FFF1DC"/>
            </a:solidFill>
            <a:prstDash val="solid"/>
          </a:ln>
        </p:spPr>
        <p:txBody>
          <a:bodyPr/>
          <a:lstStyle/>
          <a:p>
            <a:endParaRPr lang="en-IN"/>
          </a:p>
        </p:txBody>
      </p:sp>
      <p:sp>
        <p:nvSpPr>
          <p:cNvPr id="107" name="Text 97"/>
          <p:cNvSpPr txBox="1"/>
          <p:nvPr/>
        </p:nvSpPr>
        <p:spPr>
          <a:xfrm>
            <a:off x="594360" y="8915400"/>
            <a:ext cx="17099280" cy="457200"/>
          </a:xfrm>
          <a:prstGeom prst="rect">
            <a:avLst/>
          </a:prstGeom>
          <a:noFill/>
          <a:ln/>
        </p:spPr>
        <p:txBody>
          <a:bodyPr wrap="square" lIns="0" tIns="0" rIns="0" bIns="0" rtlCol="0" anchor="ctr"/>
          <a:lstStyle/>
          <a:p>
            <a:pPr marL="0" indent="0">
              <a:buNone/>
            </a:pPr>
            <a:r>
              <a:rPr lang="en-US" sz="1400" b="1" dirty="0">
                <a:solidFill>
                  <a:srgbClr val="C9660A"/>
                </a:solidFill>
                <a:latin typeface="Arial" pitchFamily="34" charset="0"/>
                <a:ea typeface="Arial" pitchFamily="34" charset="-122"/>
                <a:cs typeface="Arial" pitchFamily="34" charset="-120"/>
              </a:rPr>
              <a:t>Working prototype: </a:t>
            </a:r>
            <a:r>
              <a:rPr lang="en-US" sz="1400" dirty="0">
                <a:solidFill>
                  <a:srgbClr val="2B2B2B"/>
                </a:solidFill>
                <a:latin typeface="Arial" pitchFamily="34" charset="0"/>
                <a:ea typeface="Arial" pitchFamily="34" charset="-122"/>
                <a:cs typeface="Arial" pitchFamily="34" charset="-120"/>
              </a:rPr>
              <a:t>desktop web app (React + TypeScript) </a:t>
            </a:r>
            <a:r>
              <a:rPr lang="en-US" sz="1400" dirty="0">
                <a:solidFill>
                  <a:srgbClr val="2B2B2B"/>
                </a:solidFill>
                <a:highlight>
                  <a:srgbClr val="00FF00"/>
                </a:highlight>
                <a:latin typeface="Arial" pitchFamily="34" charset="0"/>
                <a:ea typeface="Arial" pitchFamily="34" charset="-122"/>
                <a:cs typeface="Arial" pitchFamily="34" charset="-120"/>
                <a:hlinkClick r:id="rId12"/>
              </a:rPr>
              <a:t>LINK</a:t>
            </a:r>
            <a:endParaRPr lang="en-US" sz="1400" dirty="0">
              <a:highlight>
                <a:srgbClr val="00FF00"/>
              </a:highlight>
            </a:endParaRPr>
          </a:p>
        </p:txBody>
      </p:sp>
      <p:sp>
        <p:nvSpPr>
          <p:cNvPr id="109" name="Text 26">
            <a:extLst>
              <a:ext uri="{FF2B5EF4-FFF2-40B4-BE49-F238E27FC236}">
                <a16:creationId xmlns:a16="http://schemas.microsoft.com/office/drawing/2014/main" id="{B63197A9-6016-10DC-3F8E-8CCD9379E8FF}"/>
              </a:ext>
            </a:extLst>
          </p:cNvPr>
          <p:cNvSpPr txBox="1"/>
          <p:nvPr/>
        </p:nvSpPr>
        <p:spPr>
          <a:xfrm>
            <a:off x="3075168" y="4014968"/>
            <a:ext cx="3058853" cy="748304"/>
          </a:xfrm>
          <a:prstGeom prst="rect">
            <a:avLst/>
          </a:prstGeom>
          <a:noFill/>
          <a:ln/>
        </p:spPr>
        <p:txBody>
          <a:bodyPr wrap="square" lIns="762" tIns="762" rIns="762" bIns="762" rtlCol="0" anchor="t"/>
          <a:lstStyle/>
          <a:p>
            <a:r>
              <a:rPr lang="en-US" sz="1400" dirty="0">
                <a:solidFill>
                  <a:srgbClr val="2B2B2B"/>
                </a:solidFill>
                <a:latin typeface="Arial" pitchFamily="34" charset="0"/>
                <a:ea typeface="Arial" pitchFamily="34" charset="-122"/>
                <a:cs typeface="Arial" pitchFamily="34" charset="-120"/>
              </a:rPr>
              <a:t>F =blended cost per failed order,</a:t>
            </a:r>
          </a:p>
          <a:p>
            <a:r>
              <a:rPr lang="en-US" sz="1400" dirty="0">
                <a:solidFill>
                  <a:srgbClr val="2B2B2B"/>
                </a:solidFill>
                <a:latin typeface="Arial" pitchFamily="34" charset="0"/>
                <a:ea typeface="Arial" pitchFamily="34" charset="-122"/>
                <a:cs typeface="Arial" pitchFamily="34" charset="-120"/>
              </a:rPr>
              <a:t>A =ads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480560" y="502920"/>
            <a:ext cx="8778240" cy="868680"/>
          </a:xfrm>
          <a:prstGeom prst="rect">
            <a:avLst/>
          </a:prstGeom>
          <a:noFill/>
          <a:ln/>
        </p:spPr>
        <p:txBody>
          <a:bodyPr wrap="square" lIns="0" tIns="0" rIns="0" bIns="0" rtlCol="0" anchor="ctr"/>
          <a:lstStyle/>
          <a:p>
            <a:pPr marL="0" indent="0">
              <a:buNone/>
            </a:pPr>
            <a:r>
              <a:rPr lang="en-US" sz="4000" b="1" dirty="0">
                <a:solidFill>
                  <a:srgbClr val="5B0F4E"/>
                </a:solidFill>
                <a:latin typeface="Arial" pitchFamily="34" charset="0"/>
                <a:ea typeface="Arial" pitchFamily="34" charset="-122"/>
                <a:cs typeface="Arial" pitchFamily="34" charset="-120"/>
              </a:rPr>
              <a:t>Munafa Meter</a:t>
            </a:r>
            <a:endParaRPr lang="en-US" sz="4000" dirty="0"/>
          </a:p>
        </p:txBody>
      </p:sp>
      <p:sp>
        <p:nvSpPr>
          <p:cNvPr id="3" name="Text 1"/>
          <p:cNvSpPr txBox="1"/>
          <p:nvPr/>
        </p:nvSpPr>
        <p:spPr>
          <a:xfrm>
            <a:off x="4480560" y="1371600"/>
            <a:ext cx="8778240" cy="502920"/>
          </a:xfrm>
          <a:prstGeom prst="rect">
            <a:avLst/>
          </a:prstGeom>
          <a:noFill/>
          <a:ln/>
        </p:spPr>
        <p:txBody>
          <a:bodyPr wrap="square" lIns="0" tIns="0" rIns="0" bIns="0" rtlCol="0" anchor="ctr"/>
          <a:lstStyle/>
          <a:p>
            <a:pPr marL="0" indent="0">
              <a:buNone/>
            </a:pPr>
            <a:r>
              <a:rPr lang="en-US" sz="1700" i="1" dirty="0">
                <a:solidFill>
                  <a:srgbClr val="C9660A"/>
                </a:solidFill>
                <a:latin typeface="Arial" pitchFamily="34" charset="0"/>
                <a:ea typeface="Arial" pitchFamily="34" charset="-122"/>
                <a:cs typeface="Arial" pitchFamily="34" charset="-120"/>
              </a:rPr>
              <a:t>Feature 1 · The True Floor Price, before the product goes live</a:t>
            </a:r>
            <a:endParaRPr lang="en-US" sz="1700" dirty="0"/>
          </a:p>
        </p:txBody>
      </p:sp>
      <p:sp>
        <p:nvSpPr>
          <p:cNvPr id="4" name="Shape 2"/>
          <p:cNvSpPr/>
          <p:nvPr/>
        </p:nvSpPr>
        <p:spPr>
          <a:xfrm>
            <a:off x="45720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5" name="Text 3"/>
          <p:cNvSpPr txBox="1"/>
          <p:nvPr/>
        </p:nvSpPr>
        <p:spPr>
          <a:xfrm>
            <a:off x="45720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PROBLEM</a:t>
            </a:r>
            <a:endParaRPr lang="en-US" sz="1250" dirty="0"/>
          </a:p>
        </p:txBody>
      </p:sp>
      <p:sp>
        <p:nvSpPr>
          <p:cNvPr id="6" name="Shape 4"/>
          <p:cNvSpPr/>
          <p:nvPr/>
        </p:nvSpPr>
        <p:spPr>
          <a:xfrm>
            <a:off x="219456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7" name="Text 5"/>
          <p:cNvSpPr txBox="1"/>
          <p:nvPr/>
        </p:nvSpPr>
        <p:spPr>
          <a:xfrm>
            <a:off x="219456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SEGMENTATION</a:t>
            </a:r>
            <a:endParaRPr lang="en-US" sz="1250" dirty="0"/>
          </a:p>
        </p:txBody>
      </p:sp>
      <p:sp>
        <p:nvSpPr>
          <p:cNvPr id="8" name="Shape 6"/>
          <p:cNvSpPr/>
          <p:nvPr/>
        </p:nvSpPr>
        <p:spPr>
          <a:xfrm>
            <a:off x="393192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9" name="Text 7"/>
          <p:cNvSpPr txBox="1"/>
          <p:nvPr/>
        </p:nvSpPr>
        <p:spPr>
          <a:xfrm>
            <a:off x="393192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PRIORITISATION</a:t>
            </a:r>
            <a:endParaRPr lang="en-US" sz="1250" dirty="0"/>
          </a:p>
        </p:txBody>
      </p:sp>
      <p:sp>
        <p:nvSpPr>
          <p:cNvPr id="10" name="Shape 8"/>
          <p:cNvSpPr/>
          <p:nvPr/>
        </p:nvSpPr>
        <p:spPr>
          <a:xfrm>
            <a:off x="566928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1" name="Text 9"/>
          <p:cNvSpPr txBox="1"/>
          <p:nvPr/>
        </p:nvSpPr>
        <p:spPr>
          <a:xfrm>
            <a:off x="566928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BENCHMARKING</a:t>
            </a:r>
            <a:endParaRPr lang="en-US" sz="1250" dirty="0"/>
          </a:p>
        </p:txBody>
      </p:sp>
      <p:sp>
        <p:nvSpPr>
          <p:cNvPr id="12" name="Shape 10"/>
          <p:cNvSpPr/>
          <p:nvPr/>
        </p:nvSpPr>
        <p:spPr>
          <a:xfrm>
            <a:off x="740664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3" name="Text 11"/>
          <p:cNvSpPr txBox="1"/>
          <p:nvPr/>
        </p:nvSpPr>
        <p:spPr>
          <a:xfrm>
            <a:off x="740664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SOLUTION</a:t>
            </a:r>
            <a:endParaRPr lang="en-US" sz="1250" dirty="0"/>
          </a:p>
        </p:txBody>
      </p:sp>
      <p:sp>
        <p:nvSpPr>
          <p:cNvPr id="14" name="Shape 12"/>
          <p:cNvSpPr/>
          <p:nvPr/>
        </p:nvSpPr>
        <p:spPr>
          <a:xfrm>
            <a:off x="9144000" y="2542032"/>
            <a:ext cx="1700784" cy="420624"/>
          </a:xfrm>
          <a:prstGeom prst="rect">
            <a:avLst/>
          </a:prstGeom>
          <a:solidFill>
            <a:srgbClr val="F29A1F"/>
          </a:solidFill>
          <a:ln w="12700">
            <a:solidFill>
              <a:srgbClr val="F29A1F"/>
            </a:solidFill>
            <a:prstDash val="solid"/>
          </a:ln>
        </p:spPr>
        <p:txBody>
          <a:bodyPr/>
          <a:lstStyle/>
          <a:p>
            <a:endParaRPr lang="en-IN"/>
          </a:p>
        </p:txBody>
      </p:sp>
      <p:sp>
        <p:nvSpPr>
          <p:cNvPr id="15" name="Text 13"/>
          <p:cNvSpPr txBox="1"/>
          <p:nvPr/>
        </p:nvSpPr>
        <p:spPr>
          <a:xfrm>
            <a:off x="914400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MUNAFA METER</a:t>
            </a:r>
            <a:endParaRPr lang="en-US" sz="1250" dirty="0"/>
          </a:p>
        </p:txBody>
      </p:sp>
      <p:sp>
        <p:nvSpPr>
          <p:cNvPr id="16" name="Shape 14"/>
          <p:cNvSpPr/>
          <p:nvPr/>
        </p:nvSpPr>
        <p:spPr>
          <a:xfrm>
            <a:off x="1088136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7" name="Text 15"/>
          <p:cNvSpPr txBox="1"/>
          <p:nvPr/>
        </p:nvSpPr>
        <p:spPr>
          <a:xfrm>
            <a:off x="1088136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SMART BAND</a:t>
            </a:r>
            <a:endParaRPr lang="en-US" sz="1250" dirty="0"/>
          </a:p>
        </p:txBody>
      </p:sp>
      <p:sp>
        <p:nvSpPr>
          <p:cNvPr id="18" name="Shape 16"/>
          <p:cNvSpPr/>
          <p:nvPr/>
        </p:nvSpPr>
        <p:spPr>
          <a:xfrm>
            <a:off x="1261872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9" name="Text 17"/>
          <p:cNvSpPr txBox="1"/>
          <p:nvPr/>
        </p:nvSpPr>
        <p:spPr>
          <a:xfrm>
            <a:off x="1261872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AUTOPILOT</a:t>
            </a:r>
            <a:endParaRPr lang="en-US" sz="1250" dirty="0"/>
          </a:p>
        </p:txBody>
      </p:sp>
      <p:sp>
        <p:nvSpPr>
          <p:cNvPr id="20" name="Shape 18"/>
          <p:cNvSpPr/>
          <p:nvPr/>
        </p:nvSpPr>
        <p:spPr>
          <a:xfrm>
            <a:off x="1435608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21" name="Text 19"/>
          <p:cNvSpPr txBox="1"/>
          <p:nvPr/>
        </p:nvSpPr>
        <p:spPr>
          <a:xfrm>
            <a:off x="1435608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IMPACT</a:t>
            </a:r>
            <a:endParaRPr lang="en-US" sz="1250" dirty="0"/>
          </a:p>
        </p:txBody>
      </p:sp>
      <p:sp>
        <p:nvSpPr>
          <p:cNvPr id="22" name="Shape 20"/>
          <p:cNvSpPr/>
          <p:nvPr/>
        </p:nvSpPr>
        <p:spPr>
          <a:xfrm>
            <a:off x="1609344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23" name="Text 21"/>
          <p:cNvSpPr txBox="1"/>
          <p:nvPr/>
        </p:nvSpPr>
        <p:spPr>
          <a:xfrm>
            <a:off x="1609344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PITFALLS</a:t>
            </a:r>
            <a:endParaRPr lang="en-US" sz="1250" dirty="0"/>
          </a:p>
        </p:txBody>
      </p:sp>
      <p:sp>
        <p:nvSpPr>
          <p:cNvPr id="24" name="Shape 22"/>
          <p:cNvSpPr/>
          <p:nvPr/>
        </p:nvSpPr>
        <p:spPr>
          <a:xfrm>
            <a:off x="457200" y="3127248"/>
            <a:ext cx="5303520" cy="1463040"/>
          </a:xfrm>
          <a:prstGeom prst="roundRect">
            <a:avLst>
              <a:gd name="adj" fmla="val 7500"/>
            </a:avLst>
          </a:prstGeom>
          <a:solidFill>
            <a:srgbClr val="F3E8F1"/>
          </a:solidFill>
          <a:ln w="12700">
            <a:solidFill>
              <a:srgbClr val="F3E8F1"/>
            </a:solidFill>
            <a:prstDash val="solid"/>
          </a:ln>
        </p:spPr>
        <p:txBody>
          <a:bodyPr/>
          <a:lstStyle/>
          <a:p>
            <a:endParaRPr lang="en-IN"/>
          </a:p>
        </p:txBody>
      </p:sp>
      <p:sp>
        <p:nvSpPr>
          <p:cNvPr id="25" name="Text 23"/>
          <p:cNvSpPr txBox="1"/>
          <p:nvPr/>
        </p:nvSpPr>
        <p:spPr>
          <a:xfrm>
            <a:off x="594360" y="3182112"/>
            <a:ext cx="5029200" cy="329184"/>
          </a:xfrm>
          <a:prstGeom prst="rect">
            <a:avLst/>
          </a:prstGeom>
          <a:noFill/>
          <a:ln/>
        </p:spPr>
        <p:txBody>
          <a:bodyPr wrap="square" lIns="0" tIns="0" rIns="0" bIns="0" rtlCol="0" anchor="t"/>
          <a:lstStyle/>
          <a:p>
            <a:pPr marL="0" indent="0">
              <a:buNone/>
            </a:pPr>
            <a:r>
              <a:rPr lang="en-US" b="1" dirty="0">
                <a:solidFill>
                  <a:srgbClr val="5B0F4E"/>
                </a:solidFill>
                <a:latin typeface="Arial" pitchFamily="34" charset="0"/>
                <a:ea typeface="Arial" pitchFamily="34" charset="-122"/>
                <a:cs typeface="Arial" pitchFamily="34" charset="-120"/>
              </a:rPr>
              <a:t>About the feature</a:t>
            </a:r>
            <a:endParaRPr lang="en-US" dirty="0"/>
          </a:p>
        </p:txBody>
      </p:sp>
      <p:sp>
        <p:nvSpPr>
          <p:cNvPr id="26" name="Text 24"/>
          <p:cNvSpPr txBox="1"/>
          <p:nvPr/>
        </p:nvSpPr>
        <p:spPr>
          <a:xfrm>
            <a:off x="605721" y="3520440"/>
            <a:ext cx="5029200" cy="1051560"/>
          </a:xfrm>
          <a:prstGeom prst="rect">
            <a:avLst/>
          </a:prstGeom>
          <a:noFill/>
          <a:ln/>
        </p:spPr>
        <p:txBody>
          <a:bodyPr wrap="square" lIns="0" tIns="0" rIns="0" bIns="0" rtlCol="0" anchor="t"/>
          <a:lstStyle/>
          <a:p>
            <a:pPr marL="0" indent="0">
              <a:buNone/>
            </a:pPr>
            <a:r>
              <a:rPr lang="en-US" sz="1200" dirty="0">
                <a:solidFill>
                  <a:srgbClr val="2B2B2B"/>
                </a:solidFill>
                <a:latin typeface="Arial" pitchFamily="34" charset="0"/>
                <a:ea typeface="Arial" pitchFamily="34" charset="-122"/>
                <a:cs typeface="Arial" pitchFamily="34" charset="-120"/>
              </a:rPr>
              <a:t>A cost wizard inside the listing flow. The seller types purchase cost and package size; Munafa Meter auto-fills the shipping slab, 18% GST on fees and category RTO / return rates, then shows the floor price and a price → bank → profit breakdown. A built-in weight check stops slab errors before they go live.</a:t>
            </a:r>
            <a:endParaRPr lang="en-US" sz="1200" dirty="0"/>
          </a:p>
        </p:txBody>
      </p:sp>
      <p:sp>
        <p:nvSpPr>
          <p:cNvPr id="27" name="Text 25"/>
          <p:cNvSpPr txBox="1"/>
          <p:nvPr/>
        </p:nvSpPr>
        <p:spPr>
          <a:xfrm>
            <a:off x="475488" y="4753723"/>
            <a:ext cx="4663440" cy="256032"/>
          </a:xfrm>
          <a:prstGeom prst="rect">
            <a:avLst/>
          </a:prstGeom>
          <a:noFill/>
          <a:ln/>
        </p:spPr>
        <p:txBody>
          <a:bodyPr wrap="square" lIns="0" tIns="0" rIns="0" bIns="0" rtlCol="0" anchor="t"/>
          <a:lstStyle/>
          <a:p>
            <a:pPr marL="0" indent="0">
              <a:buNone/>
            </a:pPr>
            <a:r>
              <a:rPr lang="en-US" b="1" dirty="0">
                <a:solidFill>
                  <a:srgbClr val="5B0F4E"/>
                </a:solidFill>
                <a:latin typeface="Arial" pitchFamily="34" charset="0"/>
                <a:ea typeface="Arial" pitchFamily="34" charset="-122"/>
                <a:cs typeface="Arial" pitchFamily="34" charset="-120"/>
              </a:rPr>
              <a:t>Pain points addressed</a:t>
            </a:r>
            <a:endParaRPr lang="en-US" dirty="0"/>
          </a:p>
        </p:txBody>
      </p:sp>
      <p:sp>
        <p:nvSpPr>
          <p:cNvPr id="28" name="Shape 26"/>
          <p:cNvSpPr/>
          <p:nvPr/>
        </p:nvSpPr>
        <p:spPr>
          <a:xfrm>
            <a:off x="457200" y="5074920"/>
            <a:ext cx="566928" cy="566928"/>
          </a:xfrm>
          <a:prstGeom prst="roundRect">
            <a:avLst>
              <a:gd name="adj" fmla="val 12903"/>
            </a:avLst>
          </a:prstGeom>
          <a:solidFill>
            <a:srgbClr val="5B0F4E"/>
          </a:solidFill>
          <a:ln w="12700">
            <a:solidFill>
              <a:srgbClr val="5B0F4E"/>
            </a:solidFill>
            <a:prstDash val="solid"/>
          </a:ln>
        </p:spPr>
        <p:txBody>
          <a:bodyPr/>
          <a:lstStyle/>
          <a:p>
            <a:endParaRPr lang="en-IN"/>
          </a:p>
        </p:txBody>
      </p:sp>
      <p:sp>
        <p:nvSpPr>
          <p:cNvPr id="29" name="Text 27"/>
          <p:cNvSpPr txBox="1"/>
          <p:nvPr/>
        </p:nvSpPr>
        <p:spPr>
          <a:xfrm>
            <a:off x="457200" y="5074920"/>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P1</a:t>
            </a:r>
            <a:endParaRPr lang="en-US" sz="1300" dirty="0"/>
          </a:p>
        </p:txBody>
      </p:sp>
      <p:sp>
        <p:nvSpPr>
          <p:cNvPr id="30" name="Text 28"/>
          <p:cNvSpPr txBox="1"/>
          <p:nvPr/>
        </p:nvSpPr>
        <p:spPr>
          <a:xfrm>
            <a:off x="1097280" y="5138928"/>
            <a:ext cx="4663440" cy="274320"/>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Wrong cost base</a:t>
            </a:r>
            <a:endParaRPr lang="en-US" sz="1400" dirty="0"/>
          </a:p>
        </p:txBody>
      </p:sp>
      <p:sp>
        <p:nvSpPr>
          <p:cNvPr id="31" name="Text 29"/>
          <p:cNvSpPr txBox="1"/>
          <p:nvPr/>
        </p:nvSpPr>
        <p:spPr>
          <a:xfrm>
            <a:off x="2624328" y="5188526"/>
            <a:ext cx="2711601" cy="320734"/>
          </a:xfrm>
          <a:prstGeom prst="rect">
            <a:avLst/>
          </a:prstGeom>
          <a:noFill/>
          <a:ln/>
        </p:spPr>
        <p:txBody>
          <a:bodyPr wrap="square" lIns="0" tIns="0" rIns="0" bIns="0" rtlCol="0" anchor="t"/>
          <a:lstStyle/>
          <a:p>
            <a:pPr marL="0" indent="0">
              <a:buNone/>
            </a:pPr>
            <a:r>
              <a:rPr lang="en-US" sz="1200" i="1" dirty="0">
                <a:solidFill>
                  <a:srgbClr val="555555"/>
                </a:solidFill>
                <a:latin typeface="Arial" pitchFamily="34" charset="0"/>
                <a:ea typeface="Arial" pitchFamily="34" charset="-122"/>
                <a:cs typeface="Arial" pitchFamily="34" charset="-120"/>
              </a:rPr>
              <a:t>“Shop me 320 chalta hai, so online bhi 320. Nobody told me box size matters.”</a:t>
            </a:r>
            <a:endParaRPr lang="en-US" sz="1200" dirty="0"/>
          </a:p>
        </p:txBody>
      </p:sp>
      <p:sp>
        <p:nvSpPr>
          <p:cNvPr id="32" name="Shape 30"/>
          <p:cNvSpPr/>
          <p:nvPr/>
        </p:nvSpPr>
        <p:spPr>
          <a:xfrm>
            <a:off x="457200" y="5733288"/>
            <a:ext cx="566928" cy="566928"/>
          </a:xfrm>
          <a:prstGeom prst="roundRect">
            <a:avLst>
              <a:gd name="adj" fmla="val 12903"/>
            </a:avLst>
          </a:prstGeom>
          <a:solidFill>
            <a:srgbClr val="5B0F4E"/>
          </a:solidFill>
          <a:ln w="12700">
            <a:solidFill>
              <a:srgbClr val="5B0F4E"/>
            </a:solidFill>
            <a:prstDash val="solid"/>
          </a:ln>
        </p:spPr>
        <p:txBody>
          <a:bodyPr/>
          <a:lstStyle/>
          <a:p>
            <a:endParaRPr lang="en-IN"/>
          </a:p>
        </p:txBody>
      </p:sp>
      <p:sp>
        <p:nvSpPr>
          <p:cNvPr id="33" name="Text 31"/>
          <p:cNvSpPr txBox="1"/>
          <p:nvPr/>
        </p:nvSpPr>
        <p:spPr>
          <a:xfrm>
            <a:off x="457200" y="5733288"/>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P4</a:t>
            </a:r>
            <a:endParaRPr lang="en-US" sz="1300" dirty="0"/>
          </a:p>
        </p:txBody>
      </p:sp>
      <p:sp>
        <p:nvSpPr>
          <p:cNvPr id="34" name="Text 32"/>
          <p:cNvSpPr txBox="1"/>
          <p:nvPr/>
        </p:nvSpPr>
        <p:spPr>
          <a:xfrm>
            <a:off x="1097280" y="5797296"/>
            <a:ext cx="1348740" cy="301752"/>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Returns &amp; RTO not priced in</a:t>
            </a:r>
            <a:endParaRPr lang="en-US" sz="1400" dirty="0"/>
          </a:p>
        </p:txBody>
      </p:sp>
      <p:sp>
        <p:nvSpPr>
          <p:cNvPr id="35" name="Text 33"/>
          <p:cNvSpPr txBox="1"/>
          <p:nvPr/>
        </p:nvSpPr>
        <p:spPr>
          <a:xfrm>
            <a:off x="2624328" y="5808309"/>
            <a:ext cx="2921508" cy="297684"/>
          </a:xfrm>
          <a:prstGeom prst="rect">
            <a:avLst/>
          </a:prstGeom>
          <a:noFill/>
          <a:ln/>
        </p:spPr>
        <p:txBody>
          <a:bodyPr wrap="square" lIns="0" tIns="0" rIns="0" bIns="0" rtlCol="0" anchor="t"/>
          <a:lstStyle/>
          <a:p>
            <a:pPr marL="0" indent="0">
              <a:buNone/>
            </a:pPr>
            <a:r>
              <a:rPr lang="en-US" sz="1200" i="1" dirty="0">
                <a:solidFill>
                  <a:srgbClr val="555555"/>
                </a:solidFill>
                <a:latin typeface="Arial" pitchFamily="34" charset="0"/>
                <a:ea typeface="Arial" pitchFamily="34" charset="-122"/>
                <a:cs typeface="Arial" pitchFamily="34" charset="-120"/>
              </a:rPr>
              <a:t>“~8–9 of 30 orders come back”; a customer return costs ~₹153, an RTO ~₹15</a:t>
            </a:r>
            <a:endParaRPr lang="en-US" sz="1200" dirty="0"/>
          </a:p>
        </p:txBody>
      </p:sp>
      <p:sp>
        <p:nvSpPr>
          <p:cNvPr id="36" name="Shape 34"/>
          <p:cNvSpPr/>
          <p:nvPr/>
        </p:nvSpPr>
        <p:spPr>
          <a:xfrm>
            <a:off x="457200" y="6391656"/>
            <a:ext cx="566928" cy="566928"/>
          </a:xfrm>
          <a:prstGeom prst="roundRect">
            <a:avLst>
              <a:gd name="adj" fmla="val 12903"/>
            </a:avLst>
          </a:prstGeom>
          <a:solidFill>
            <a:srgbClr val="F29A1F"/>
          </a:solidFill>
          <a:ln w="12700">
            <a:solidFill>
              <a:srgbClr val="F29A1F"/>
            </a:solidFill>
            <a:prstDash val="solid"/>
          </a:ln>
        </p:spPr>
        <p:txBody>
          <a:bodyPr/>
          <a:lstStyle/>
          <a:p>
            <a:endParaRPr lang="en-IN"/>
          </a:p>
        </p:txBody>
      </p:sp>
      <p:sp>
        <p:nvSpPr>
          <p:cNvPr id="37" name="Text 35"/>
          <p:cNvSpPr txBox="1"/>
          <p:nvPr/>
        </p:nvSpPr>
        <p:spPr>
          <a:xfrm>
            <a:off x="457200" y="6391656"/>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P5</a:t>
            </a:r>
            <a:endParaRPr lang="en-US" sz="1300" dirty="0"/>
          </a:p>
        </p:txBody>
      </p:sp>
      <p:sp>
        <p:nvSpPr>
          <p:cNvPr id="38" name="Text 36"/>
          <p:cNvSpPr txBox="1"/>
          <p:nvPr/>
        </p:nvSpPr>
        <p:spPr>
          <a:xfrm>
            <a:off x="1097280" y="6455664"/>
            <a:ext cx="1348740" cy="258231"/>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Weight error moves the slab</a:t>
            </a:r>
            <a:endParaRPr lang="en-US" sz="1400" dirty="0"/>
          </a:p>
        </p:txBody>
      </p:sp>
      <p:sp>
        <p:nvSpPr>
          <p:cNvPr id="39" name="Text 37"/>
          <p:cNvSpPr txBox="1"/>
          <p:nvPr/>
        </p:nvSpPr>
        <p:spPr>
          <a:xfrm>
            <a:off x="2624328" y="6455664"/>
            <a:ext cx="2496312" cy="347472"/>
          </a:xfrm>
          <a:prstGeom prst="rect">
            <a:avLst/>
          </a:prstGeom>
          <a:noFill/>
          <a:ln/>
        </p:spPr>
        <p:txBody>
          <a:bodyPr wrap="square" lIns="0" tIns="0" rIns="0" bIns="0" rtlCol="0" anchor="t"/>
          <a:lstStyle/>
          <a:p>
            <a:pPr marL="0" indent="0">
              <a:buNone/>
            </a:pPr>
            <a:r>
              <a:rPr lang="en-US" sz="1200" i="1" dirty="0">
                <a:solidFill>
                  <a:srgbClr val="555555"/>
                </a:solidFill>
                <a:latin typeface="Arial" pitchFamily="34" charset="0"/>
                <a:ea typeface="Arial" pitchFamily="34" charset="-122"/>
                <a:cs typeface="Arial" pitchFamily="34" charset="-120"/>
              </a:rPr>
              <a:t>750 g pack billed as 7.5 kg; orders fell from 500+ to 8–10 a day</a:t>
            </a:r>
            <a:endParaRPr lang="en-US" sz="1200" dirty="0"/>
          </a:p>
        </p:txBody>
      </p:sp>
      <p:sp>
        <p:nvSpPr>
          <p:cNvPr id="40" name="Text 38"/>
          <p:cNvSpPr txBox="1"/>
          <p:nvPr/>
        </p:nvSpPr>
        <p:spPr>
          <a:xfrm>
            <a:off x="457200" y="7287768"/>
            <a:ext cx="5303520" cy="329184"/>
          </a:xfrm>
          <a:prstGeom prst="rect">
            <a:avLst/>
          </a:prstGeom>
          <a:noFill/>
          <a:ln/>
        </p:spPr>
        <p:txBody>
          <a:bodyPr wrap="square" lIns="0" tIns="0" rIns="0" bIns="0" rtlCol="0" anchor="t"/>
          <a:lstStyle/>
          <a:p>
            <a:pPr marL="0" indent="0">
              <a:buNone/>
            </a:pPr>
            <a:r>
              <a:rPr lang="en-US" b="1" dirty="0">
                <a:solidFill>
                  <a:srgbClr val="5B0F4E"/>
                </a:solidFill>
                <a:latin typeface="Arial" pitchFamily="34" charset="0"/>
                <a:ea typeface="Arial" pitchFamily="34" charset="-122"/>
                <a:cs typeface="Arial" pitchFamily="34" charset="-120"/>
              </a:rPr>
              <a:t>Why this feature</a:t>
            </a:r>
            <a:endParaRPr lang="en-US" dirty="0"/>
          </a:p>
        </p:txBody>
      </p:sp>
      <p:sp>
        <p:nvSpPr>
          <p:cNvPr id="41" name="Text 39"/>
          <p:cNvSpPr txBox="1"/>
          <p:nvPr/>
        </p:nvSpPr>
        <p:spPr>
          <a:xfrm>
            <a:off x="457200" y="7616952"/>
            <a:ext cx="5303520" cy="1920240"/>
          </a:xfrm>
          <a:prstGeom prst="rect">
            <a:avLst/>
          </a:prstGeom>
          <a:noFill/>
          <a:ln/>
        </p:spPr>
        <p:txBody>
          <a:bodyPr wrap="square" lIns="254" tIns="254" rIns="254" bIns="254" rtlCol="0" anchor="t"/>
          <a:lstStyle/>
          <a:p>
            <a:pPr marL="342900" indent="-342900">
              <a:spcAft>
                <a:spcPts val="300"/>
              </a:spcAft>
              <a:buSzPct val="100000"/>
              <a:buChar char="•"/>
            </a:pPr>
            <a:r>
              <a:rPr lang="en-US" sz="1400" dirty="0">
                <a:solidFill>
                  <a:srgbClr val="2B2B2B"/>
                </a:solidFill>
                <a:latin typeface="Arial" pitchFamily="34" charset="0"/>
                <a:ea typeface="Arial" pitchFamily="34" charset="-122"/>
                <a:cs typeface="Arial" pitchFamily="34" charset="-120"/>
              </a:rPr>
              <a:t>P4 and P1 have the two highest Reach × Impact scores (21.0, 19.5)</a:t>
            </a:r>
            <a:endParaRPr lang="en-US" sz="1400" dirty="0"/>
          </a:p>
          <a:p>
            <a:pPr marL="342900" indent="-342900">
              <a:spcAft>
                <a:spcPts val="300"/>
              </a:spcAft>
              <a:buSzPct val="100000"/>
              <a:buChar char="•"/>
            </a:pPr>
            <a:r>
              <a:rPr lang="en-US" sz="1400" dirty="0">
                <a:solidFill>
                  <a:srgbClr val="2B2B2B"/>
                </a:solidFill>
                <a:latin typeface="Arial" pitchFamily="34" charset="0"/>
                <a:ea typeface="Arial" pitchFamily="34" charset="-122"/>
                <a:cs typeface="Arial" pitchFamily="34" charset="-120"/>
              </a:rPr>
              <a:t>0 of 5 benchmarked platforms builds a floor from the seller's own cost and returns</a:t>
            </a:r>
            <a:endParaRPr lang="en-US" sz="1400" dirty="0"/>
          </a:p>
          <a:p>
            <a:pPr marL="342900" indent="-342900">
              <a:spcAft>
                <a:spcPts val="300"/>
              </a:spcAft>
              <a:buSzPct val="100000"/>
              <a:buChar char="•"/>
            </a:pPr>
            <a:r>
              <a:rPr lang="en-US" sz="1400" dirty="0">
                <a:solidFill>
                  <a:srgbClr val="2B2B2B"/>
                </a:solidFill>
                <a:latin typeface="Arial" pitchFamily="34" charset="0"/>
                <a:ea typeface="Arial" pitchFamily="34" charset="-122"/>
                <a:cs typeface="Arial" pitchFamily="34" charset="-120"/>
              </a:rPr>
              <a:t>A transparent formula earns trust; every number has a 'How we calculated this' panel</a:t>
            </a:r>
            <a:endParaRPr lang="en-US" sz="1400" dirty="0"/>
          </a:p>
          <a:p>
            <a:pPr marL="342900" indent="-342900">
              <a:spcAft>
                <a:spcPts val="300"/>
              </a:spcAft>
              <a:buSzPct val="100000"/>
              <a:buChar char="•"/>
            </a:pPr>
            <a:r>
              <a:rPr lang="en-US" sz="1400" dirty="0">
                <a:solidFill>
                  <a:srgbClr val="2B2B2B"/>
                </a:solidFill>
                <a:latin typeface="Arial" pitchFamily="34" charset="0"/>
                <a:ea typeface="Arial" pitchFamily="34" charset="-122"/>
                <a:cs typeface="Arial" pitchFamily="34" charset="-120"/>
              </a:rPr>
              <a:t>Uses data Meesho already holds: rate card, category priors</a:t>
            </a:r>
            <a:endParaRPr lang="en-US" sz="1400" dirty="0"/>
          </a:p>
        </p:txBody>
      </p:sp>
      <p:sp>
        <p:nvSpPr>
          <p:cNvPr id="42" name="Text 40"/>
          <p:cNvSpPr txBox="1"/>
          <p:nvPr/>
        </p:nvSpPr>
        <p:spPr>
          <a:xfrm>
            <a:off x="5989320" y="3127248"/>
            <a:ext cx="6217920" cy="329184"/>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Wireframe (desktop prototype)</a:t>
            </a:r>
            <a:endParaRPr lang="en-US" sz="1400" dirty="0"/>
          </a:p>
        </p:txBody>
      </p:sp>
      <p:sp>
        <p:nvSpPr>
          <p:cNvPr id="43" name="Shape 41"/>
          <p:cNvSpPr/>
          <p:nvPr/>
        </p:nvSpPr>
        <p:spPr>
          <a:xfrm>
            <a:off x="5989320" y="3474720"/>
            <a:ext cx="4343400" cy="3154680"/>
          </a:xfrm>
          <a:prstGeom prst="roundRect">
            <a:avLst>
              <a:gd name="adj" fmla="val 2319"/>
            </a:avLst>
          </a:prstGeom>
          <a:solidFill>
            <a:srgbClr val="FFFFFF"/>
          </a:solidFill>
          <a:ln w="12700">
            <a:solidFill>
              <a:srgbClr val="C9C9D1"/>
            </a:solidFill>
            <a:prstDash val="solid"/>
          </a:ln>
          <a:effectLst>
            <a:outerShdw blurRad="50800" dist="19050" dir="5400000" algn="bl" rotWithShape="0">
              <a:srgbClr val="999999">
                <a:alpha val="25000"/>
              </a:srgbClr>
            </a:outerShdw>
          </a:effectLst>
        </p:spPr>
        <p:txBody>
          <a:bodyPr/>
          <a:lstStyle/>
          <a:p>
            <a:endParaRPr lang="en-IN"/>
          </a:p>
        </p:txBody>
      </p:sp>
      <p:sp>
        <p:nvSpPr>
          <p:cNvPr id="44" name="Shape 42"/>
          <p:cNvSpPr/>
          <p:nvPr/>
        </p:nvSpPr>
        <p:spPr>
          <a:xfrm>
            <a:off x="6007608" y="3493008"/>
            <a:ext cx="4306824" cy="219456"/>
          </a:xfrm>
          <a:prstGeom prst="rect">
            <a:avLst/>
          </a:prstGeom>
          <a:solidFill>
            <a:srgbClr val="EDEDF2"/>
          </a:solidFill>
          <a:ln w="12700">
            <a:solidFill>
              <a:srgbClr val="EDEDF2"/>
            </a:solidFill>
            <a:prstDash val="solid"/>
          </a:ln>
        </p:spPr>
        <p:txBody>
          <a:bodyPr/>
          <a:lstStyle/>
          <a:p>
            <a:endParaRPr lang="en-IN"/>
          </a:p>
        </p:txBody>
      </p:sp>
      <p:sp>
        <p:nvSpPr>
          <p:cNvPr id="45" name="Shape 43"/>
          <p:cNvSpPr/>
          <p:nvPr/>
        </p:nvSpPr>
        <p:spPr>
          <a:xfrm>
            <a:off x="6080760" y="3538728"/>
            <a:ext cx="91440" cy="91440"/>
          </a:xfrm>
          <a:prstGeom prst="ellipse">
            <a:avLst/>
          </a:prstGeom>
          <a:solidFill>
            <a:srgbClr val="F28B82"/>
          </a:solidFill>
          <a:ln w="12700">
            <a:solidFill>
              <a:srgbClr val="F28B82"/>
            </a:solidFill>
            <a:prstDash val="solid"/>
          </a:ln>
        </p:spPr>
        <p:txBody>
          <a:bodyPr/>
          <a:lstStyle/>
          <a:p>
            <a:endParaRPr lang="en-IN"/>
          </a:p>
        </p:txBody>
      </p:sp>
      <p:sp>
        <p:nvSpPr>
          <p:cNvPr id="46" name="Shape 44"/>
          <p:cNvSpPr/>
          <p:nvPr/>
        </p:nvSpPr>
        <p:spPr>
          <a:xfrm>
            <a:off x="6227064" y="3538728"/>
            <a:ext cx="91440" cy="91440"/>
          </a:xfrm>
          <a:prstGeom prst="ellipse">
            <a:avLst/>
          </a:prstGeom>
          <a:solidFill>
            <a:srgbClr val="FDD663"/>
          </a:solidFill>
          <a:ln w="12700">
            <a:solidFill>
              <a:srgbClr val="FDD663"/>
            </a:solidFill>
            <a:prstDash val="solid"/>
          </a:ln>
        </p:spPr>
        <p:txBody>
          <a:bodyPr/>
          <a:lstStyle/>
          <a:p>
            <a:endParaRPr lang="en-IN"/>
          </a:p>
        </p:txBody>
      </p:sp>
      <p:sp>
        <p:nvSpPr>
          <p:cNvPr id="47" name="Shape 45"/>
          <p:cNvSpPr/>
          <p:nvPr/>
        </p:nvSpPr>
        <p:spPr>
          <a:xfrm>
            <a:off x="6373368" y="3538728"/>
            <a:ext cx="91440" cy="91440"/>
          </a:xfrm>
          <a:prstGeom prst="ellipse">
            <a:avLst/>
          </a:prstGeom>
          <a:solidFill>
            <a:srgbClr val="A8DAB5"/>
          </a:solidFill>
          <a:ln w="12700">
            <a:solidFill>
              <a:srgbClr val="A8DAB5"/>
            </a:solidFill>
            <a:prstDash val="solid"/>
          </a:ln>
        </p:spPr>
        <p:txBody>
          <a:bodyPr/>
          <a:lstStyle/>
          <a:p>
            <a:endParaRPr lang="en-IN"/>
          </a:p>
        </p:txBody>
      </p:sp>
      <p:sp>
        <p:nvSpPr>
          <p:cNvPr id="48" name="Text 46"/>
          <p:cNvSpPr txBox="1"/>
          <p:nvPr/>
        </p:nvSpPr>
        <p:spPr>
          <a:xfrm>
            <a:off x="6629400" y="3493008"/>
            <a:ext cx="1828800" cy="219456"/>
          </a:xfrm>
          <a:prstGeom prst="rect">
            <a:avLst/>
          </a:prstGeom>
          <a:noFill/>
          <a:ln/>
        </p:spPr>
        <p:txBody>
          <a:bodyPr wrap="square" lIns="0" tIns="0" rIns="0" bIns="0" rtlCol="0" anchor="ctr"/>
          <a:lstStyle/>
          <a:p>
            <a:pPr marL="0" indent="0">
              <a:buNone/>
            </a:pPr>
            <a:r>
              <a:rPr lang="en-US" sz="750" dirty="0">
                <a:solidFill>
                  <a:srgbClr val="555555"/>
                </a:solidFill>
                <a:latin typeface="Arial" pitchFamily="34" charset="0"/>
                <a:ea typeface="Arial" pitchFamily="34" charset="-122"/>
                <a:cs typeface="Arial" pitchFamily="34" charset="-120"/>
              </a:rPr>
              <a:t>sahidaam.app (demo)</a:t>
            </a:r>
            <a:endParaRPr lang="en-US" sz="750" dirty="0"/>
          </a:p>
        </p:txBody>
      </p:sp>
      <p:sp>
        <p:nvSpPr>
          <p:cNvPr id="49" name="Shape 47"/>
          <p:cNvSpPr/>
          <p:nvPr/>
        </p:nvSpPr>
        <p:spPr>
          <a:xfrm>
            <a:off x="6007608" y="3712464"/>
            <a:ext cx="4306824" cy="310896"/>
          </a:xfrm>
          <a:prstGeom prst="rect">
            <a:avLst/>
          </a:prstGeom>
          <a:solidFill>
            <a:srgbClr val="FFFFFF"/>
          </a:solidFill>
          <a:ln w="12700">
            <a:solidFill>
              <a:srgbClr val="FFFFFF"/>
            </a:solidFill>
            <a:prstDash val="solid"/>
          </a:ln>
        </p:spPr>
        <p:txBody>
          <a:bodyPr/>
          <a:lstStyle/>
          <a:p>
            <a:endParaRPr lang="en-IN"/>
          </a:p>
        </p:txBody>
      </p:sp>
      <p:sp>
        <p:nvSpPr>
          <p:cNvPr id="50" name="Shape 48"/>
          <p:cNvSpPr/>
          <p:nvPr/>
        </p:nvSpPr>
        <p:spPr>
          <a:xfrm>
            <a:off x="6007608" y="4023360"/>
            <a:ext cx="4306824" cy="0"/>
          </a:xfrm>
          <a:prstGeom prst="line">
            <a:avLst/>
          </a:prstGeom>
          <a:noFill/>
          <a:ln w="9525">
            <a:solidFill>
              <a:srgbClr val="E6E6EB"/>
            </a:solidFill>
            <a:prstDash val="solid"/>
          </a:ln>
        </p:spPr>
        <p:txBody>
          <a:bodyPr/>
          <a:lstStyle/>
          <a:p>
            <a:endParaRPr lang="en-IN"/>
          </a:p>
        </p:txBody>
      </p:sp>
      <p:sp>
        <p:nvSpPr>
          <p:cNvPr id="51" name="Text 49"/>
          <p:cNvSpPr txBox="1"/>
          <p:nvPr/>
        </p:nvSpPr>
        <p:spPr>
          <a:xfrm>
            <a:off x="6099048" y="3730752"/>
            <a:ext cx="914400" cy="274320"/>
          </a:xfrm>
          <a:prstGeom prst="rect">
            <a:avLst/>
          </a:prstGeom>
          <a:noFill/>
          <a:ln/>
        </p:spPr>
        <p:txBody>
          <a:bodyPr wrap="square" lIns="0" tIns="0" rIns="0" bIns="0" rtlCol="0" anchor="ctr"/>
          <a:lstStyle/>
          <a:p>
            <a:pPr marL="0" indent="0">
              <a:buNone/>
            </a:pPr>
            <a:r>
              <a:rPr lang="en-US" sz="1000" b="1" dirty="0">
                <a:solidFill>
                  <a:srgbClr val="5B0F4E"/>
                </a:solidFill>
                <a:latin typeface="Arial" pitchFamily="34" charset="0"/>
                <a:ea typeface="Arial" pitchFamily="34" charset="-122"/>
                <a:cs typeface="Arial" pitchFamily="34" charset="-120"/>
              </a:rPr>
              <a:t>Sahi Daam</a:t>
            </a:r>
            <a:endParaRPr lang="en-US" sz="1000" dirty="0"/>
          </a:p>
        </p:txBody>
      </p:sp>
      <p:sp>
        <p:nvSpPr>
          <p:cNvPr id="52" name="Text 50"/>
          <p:cNvSpPr txBox="1"/>
          <p:nvPr/>
        </p:nvSpPr>
        <p:spPr>
          <a:xfrm>
            <a:off x="7086600" y="3730752"/>
            <a:ext cx="868680" cy="274320"/>
          </a:xfrm>
          <a:prstGeom prst="rect">
            <a:avLst/>
          </a:prstGeom>
          <a:noFill/>
          <a:ln/>
        </p:spPr>
        <p:txBody>
          <a:bodyPr wrap="square" lIns="0" tIns="0" rIns="0" bIns="0" rtlCol="0" anchor="ctr"/>
          <a:lstStyle/>
          <a:p>
            <a:pPr marL="0" indent="0">
              <a:buNone/>
            </a:pPr>
            <a:r>
              <a:rPr lang="en-US" sz="750" b="1" dirty="0">
                <a:solidFill>
                  <a:srgbClr val="F43397"/>
                </a:solidFill>
                <a:latin typeface="Arial" pitchFamily="34" charset="0"/>
                <a:ea typeface="Arial" pitchFamily="34" charset="-122"/>
                <a:cs typeface="Arial" pitchFamily="34" charset="-120"/>
              </a:rPr>
              <a:t>Munafa Meter</a:t>
            </a:r>
            <a:endParaRPr lang="en-US" sz="750" dirty="0"/>
          </a:p>
        </p:txBody>
      </p:sp>
      <p:sp>
        <p:nvSpPr>
          <p:cNvPr id="53" name="Text 51"/>
          <p:cNvSpPr txBox="1"/>
          <p:nvPr/>
        </p:nvSpPr>
        <p:spPr>
          <a:xfrm>
            <a:off x="7955280" y="3730752"/>
            <a:ext cx="868680" cy="274320"/>
          </a:xfrm>
          <a:prstGeom prst="rect">
            <a:avLst/>
          </a:prstGeom>
          <a:noFill/>
          <a:ln/>
        </p:spPr>
        <p:txBody>
          <a:bodyPr wrap="square" lIns="0" tIns="0" rIns="0" bIns="0" rtlCol="0" anchor="ctr"/>
          <a:lstStyle/>
          <a:p>
            <a:pPr marL="0" indent="0">
              <a:buNone/>
            </a:pPr>
            <a:r>
              <a:rPr lang="en-US" sz="750" dirty="0">
                <a:solidFill>
                  <a:srgbClr val="2B2B2B"/>
                </a:solidFill>
                <a:latin typeface="Arial" pitchFamily="34" charset="0"/>
                <a:ea typeface="Arial" pitchFamily="34" charset="-122"/>
                <a:cs typeface="Arial" pitchFamily="34" charset="-120"/>
              </a:rPr>
              <a:t>Smart Band</a:t>
            </a:r>
            <a:endParaRPr lang="en-US" sz="750" dirty="0"/>
          </a:p>
        </p:txBody>
      </p:sp>
      <p:sp>
        <p:nvSpPr>
          <p:cNvPr id="54" name="Text 52"/>
          <p:cNvSpPr txBox="1"/>
          <p:nvPr/>
        </p:nvSpPr>
        <p:spPr>
          <a:xfrm>
            <a:off x="8823960" y="3730752"/>
            <a:ext cx="868680" cy="274320"/>
          </a:xfrm>
          <a:prstGeom prst="rect">
            <a:avLst/>
          </a:prstGeom>
          <a:noFill/>
          <a:ln/>
        </p:spPr>
        <p:txBody>
          <a:bodyPr wrap="square" lIns="0" tIns="0" rIns="0" bIns="0" rtlCol="0" anchor="ctr"/>
          <a:lstStyle/>
          <a:p>
            <a:pPr marL="0" indent="0">
              <a:buNone/>
            </a:pPr>
            <a:r>
              <a:rPr lang="en-US" sz="750" dirty="0">
                <a:solidFill>
                  <a:srgbClr val="2B2B2B"/>
                </a:solidFill>
                <a:latin typeface="Arial" pitchFamily="34" charset="0"/>
                <a:ea typeface="Arial" pitchFamily="34" charset="-122"/>
                <a:cs typeface="Arial" pitchFamily="34" charset="-120"/>
              </a:rPr>
              <a:t>Autopilot</a:t>
            </a:r>
            <a:endParaRPr lang="en-US" sz="750" dirty="0"/>
          </a:p>
        </p:txBody>
      </p:sp>
      <p:sp>
        <p:nvSpPr>
          <p:cNvPr id="55" name="Shape 53"/>
          <p:cNvSpPr/>
          <p:nvPr/>
        </p:nvSpPr>
        <p:spPr>
          <a:xfrm>
            <a:off x="9464040" y="3758184"/>
            <a:ext cx="758952" cy="219456"/>
          </a:xfrm>
          <a:prstGeom prst="roundRect">
            <a:avLst>
              <a:gd name="adj" fmla="val 20833"/>
            </a:avLst>
          </a:prstGeom>
          <a:solidFill>
            <a:srgbClr val="4A2BD0"/>
          </a:solidFill>
          <a:ln w="12700">
            <a:solidFill>
              <a:srgbClr val="4A2BD0"/>
            </a:solidFill>
            <a:prstDash val="solid"/>
          </a:ln>
        </p:spPr>
        <p:txBody>
          <a:bodyPr/>
          <a:lstStyle/>
          <a:p>
            <a:endParaRPr lang="en-IN"/>
          </a:p>
        </p:txBody>
      </p:sp>
      <p:sp>
        <p:nvSpPr>
          <p:cNvPr id="56" name="Text 54"/>
          <p:cNvSpPr txBox="1"/>
          <p:nvPr/>
        </p:nvSpPr>
        <p:spPr>
          <a:xfrm>
            <a:off x="9464040" y="3758184"/>
            <a:ext cx="758952" cy="219456"/>
          </a:xfrm>
          <a:prstGeom prst="rect">
            <a:avLst/>
          </a:prstGeom>
          <a:noFill/>
          <a:ln/>
        </p:spPr>
        <p:txBody>
          <a:bodyPr wrap="square" lIns="0" tIns="0" rIns="0" bIns="0"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Start pricing</a:t>
            </a:r>
            <a:endParaRPr lang="en-US" sz="700" dirty="0"/>
          </a:p>
        </p:txBody>
      </p:sp>
      <p:sp>
        <p:nvSpPr>
          <p:cNvPr id="57" name="Shape 55"/>
          <p:cNvSpPr/>
          <p:nvPr/>
        </p:nvSpPr>
        <p:spPr>
          <a:xfrm>
            <a:off x="6099048" y="4114800"/>
            <a:ext cx="1783080" cy="2331720"/>
          </a:xfrm>
          <a:prstGeom prst="roundRect">
            <a:avLst>
              <a:gd name="adj" fmla="val 2564"/>
            </a:avLst>
          </a:prstGeom>
          <a:solidFill>
            <a:srgbClr val="F4F4F4"/>
          </a:solidFill>
          <a:ln w="12700">
            <a:solidFill>
              <a:srgbClr val="F4F4F4"/>
            </a:solidFill>
            <a:prstDash val="solid"/>
          </a:ln>
        </p:spPr>
        <p:txBody>
          <a:bodyPr/>
          <a:lstStyle/>
          <a:p>
            <a:endParaRPr lang="en-IN"/>
          </a:p>
        </p:txBody>
      </p:sp>
      <p:sp>
        <p:nvSpPr>
          <p:cNvPr id="58" name="Text 56"/>
          <p:cNvSpPr txBox="1"/>
          <p:nvPr/>
        </p:nvSpPr>
        <p:spPr>
          <a:xfrm>
            <a:off x="6144768" y="4133088"/>
            <a:ext cx="1645920" cy="201168"/>
          </a:xfrm>
          <a:prstGeom prst="rect">
            <a:avLst/>
          </a:prstGeom>
          <a:noFill/>
          <a:ln/>
        </p:spPr>
        <p:txBody>
          <a:bodyPr wrap="square" lIns="0" tIns="0" rIns="0" bIns="0" rtlCol="0" anchor="t"/>
          <a:lstStyle/>
          <a:p>
            <a:pPr marL="0" indent="0">
              <a:buNone/>
            </a:pPr>
            <a:r>
              <a:rPr lang="en-US" sz="800" b="1" dirty="0">
                <a:solidFill>
                  <a:srgbClr val="5B0F4E"/>
                </a:solidFill>
                <a:latin typeface="Arial" pitchFamily="34" charset="0"/>
                <a:ea typeface="Arial" pitchFamily="34" charset="-122"/>
                <a:cs typeface="Arial" pitchFamily="34" charset="-120"/>
              </a:rPr>
              <a:t>Costs</a:t>
            </a:r>
            <a:endParaRPr lang="en-US" sz="800" dirty="0"/>
          </a:p>
        </p:txBody>
      </p:sp>
      <p:sp>
        <p:nvSpPr>
          <p:cNvPr id="59" name="Text 57"/>
          <p:cNvSpPr txBox="1"/>
          <p:nvPr/>
        </p:nvSpPr>
        <p:spPr>
          <a:xfrm>
            <a:off x="6144768" y="4343400"/>
            <a:ext cx="914400" cy="182880"/>
          </a:xfrm>
          <a:prstGeom prst="rect">
            <a:avLst/>
          </a:prstGeom>
          <a:noFill/>
          <a:ln/>
        </p:spPr>
        <p:txBody>
          <a:bodyPr wrap="square" lIns="0" tIns="0" rIns="0" bIns="0" rtlCol="0" anchor="t"/>
          <a:lstStyle/>
          <a:p>
            <a:pPr marL="0" indent="0">
              <a:buNone/>
            </a:pPr>
            <a:r>
              <a:rPr lang="en-US" sz="700" dirty="0">
                <a:solidFill>
                  <a:srgbClr val="2B2B2B"/>
                </a:solidFill>
                <a:latin typeface="Arial" pitchFamily="34" charset="0"/>
                <a:ea typeface="Arial" pitchFamily="34" charset="-122"/>
                <a:cs typeface="Arial" pitchFamily="34" charset="-120"/>
              </a:rPr>
              <a:t>Purchase</a:t>
            </a:r>
            <a:endParaRPr lang="en-US" sz="700" dirty="0"/>
          </a:p>
        </p:txBody>
      </p:sp>
      <p:sp>
        <p:nvSpPr>
          <p:cNvPr id="60" name="Shape 58"/>
          <p:cNvSpPr/>
          <p:nvPr/>
        </p:nvSpPr>
        <p:spPr>
          <a:xfrm>
            <a:off x="7059168" y="4352544"/>
            <a:ext cx="731520" cy="164592"/>
          </a:xfrm>
          <a:prstGeom prst="roundRect">
            <a:avLst>
              <a:gd name="adj" fmla="val 16667"/>
            </a:avLst>
          </a:prstGeom>
          <a:solidFill>
            <a:srgbClr val="FFFFFF"/>
          </a:solidFill>
          <a:ln w="6350">
            <a:solidFill>
              <a:srgbClr val="D9C8D5"/>
            </a:solidFill>
            <a:prstDash val="solid"/>
          </a:ln>
        </p:spPr>
        <p:txBody>
          <a:bodyPr/>
          <a:lstStyle/>
          <a:p>
            <a:endParaRPr lang="en-IN"/>
          </a:p>
        </p:txBody>
      </p:sp>
      <p:sp>
        <p:nvSpPr>
          <p:cNvPr id="61" name="Text 59"/>
          <p:cNvSpPr txBox="1"/>
          <p:nvPr/>
        </p:nvSpPr>
        <p:spPr>
          <a:xfrm>
            <a:off x="7086600" y="4352544"/>
            <a:ext cx="685800" cy="164592"/>
          </a:xfrm>
          <a:prstGeom prst="rect">
            <a:avLst/>
          </a:prstGeom>
          <a:noFill/>
          <a:ln/>
        </p:spPr>
        <p:txBody>
          <a:bodyPr wrap="square" lIns="0" tIns="0" rIns="0" bIns="0" rtlCol="0" anchor="ctr"/>
          <a:lstStyle/>
          <a:p>
            <a:pPr marL="0" indent="0">
              <a:buNone/>
            </a:pPr>
            <a:r>
              <a:rPr lang="en-US" sz="700" dirty="0">
                <a:solidFill>
                  <a:srgbClr val="2B2B2B"/>
                </a:solidFill>
                <a:latin typeface="Arial" pitchFamily="34" charset="0"/>
                <a:ea typeface="Arial" pitchFamily="34" charset="-122"/>
                <a:cs typeface="Arial" pitchFamily="34" charset="-120"/>
              </a:rPr>
              <a:t>₹160</a:t>
            </a:r>
            <a:endParaRPr lang="en-US" sz="700" dirty="0"/>
          </a:p>
        </p:txBody>
      </p:sp>
      <p:sp>
        <p:nvSpPr>
          <p:cNvPr id="62" name="Text 60"/>
          <p:cNvSpPr txBox="1"/>
          <p:nvPr/>
        </p:nvSpPr>
        <p:spPr>
          <a:xfrm>
            <a:off x="6144768" y="4544568"/>
            <a:ext cx="914400" cy="182880"/>
          </a:xfrm>
          <a:prstGeom prst="rect">
            <a:avLst/>
          </a:prstGeom>
          <a:noFill/>
          <a:ln/>
        </p:spPr>
        <p:txBody>
          <a:bodyPr wrap="square" lIns="0" tIns="0" rIns="0" bIns="0" rtlCol="0" anchor="t"/>
          <a:lstStyle/>
          <a:p>
            <a:pPr marL="0" indent="0">
              <a:buNone/>
            </a:pPr>
            <a:r>
              <a:rPr lang="en-US" sz="700" dirty="0">
                <a:solidFill>
                  <a:srgbClr val="2B2B2B"/>
                </a:solidFill>
                <a:latin typeface="Arial" pitchFamily="34" charset="0"/>
                <a:ea typeface="Arial" pitchFamily="34" charset="-122"/>
                <a:cs typeface="Arial" pitchFamily="34" charset="-120"/>
              </a:rPr>
              <a:t>Packing</a:t>
            </a:r>
            <a:endParaRPr lang="en-US" sz="700" dirty="0"/>
          </a:p>
        </p:txBody>
      </p:sp>
      <p:sp>
        <p:nvSpPr>
          <p:cNvPr id="63" name="Shape 61"/>
          <p:cNvSpPr/>
          <p:nvPr/>
        </p:nvSpPr>
        <p:spPr>
          <a:xfrm>
            <a:off x="7059168" y="4553712"/>
            <a:ext cx="731520" cy="164592"/>
          </a:xfrm>
          <a:prstGeom prst="roundRect">
            <a:avLst>
              <a:gd name="adj" fmla="val 16667"/>
            </a:avLst>
          </a:prstGeom>
          <a:solidFill>
            <a:srgbClr val="FFFFFF"/>
          </a:solidFill>
          <a:ln w="6350">
            <a:solidFill>
              <a:srgbClr val="D9C8D5"/>
            </a:solidFill>
            <a:prstDash val="solid"/>
          </a:ln>
        </p:spPr>
        <p:txBody>
          <a:bodyPr/>
          <a:lstStyle/>
          <a:p>
            <a:endParaRPr lang="en-IN"/>
          </a:p>
        </p:txBody>
      </p:sp>
      <p:sp>
        <p:nvSpPr>
          <p:cNvPr id="64" name="Text 62"/>
          <p:cNvSpPr txBox="1"/>
          <p:nvPr/>
        </p:nvSpPr>
        <p:spPr>
          <a:xfrm>
            <a:off x="7086600" y="4553712"/>
            <a:ext cx="685800" cy="164592"/>
          </a:xfrm>
          <a:prstGeom prst="rect">
            <a:avLst/>
          </a:prstGeom>
          <a:noFill/>
          <a:ln/>
        </p:spPr>
        <p:txBody>
          <a:bodyPr wrap="square" lIns="0" tIns="0" rIns="0" bIns="0" rtlCol="0" anchor="ctr"/>
          <a:lstStyle/>
          <a:p>
            <a:pPr marL="0" indent="0">
              <a:buNone/>
            </a:pPr>
            <a:r>
              <a:rPr lang="en-US" sz="700" dirty="0">
                <a:solidFill>
                  <a:srgbClr val="2B2B2B"/>
                </a:solidFill>
                <a:latin typeface="Arial" pitchFamily="34" charset="0"/>
                <a:ea typeface="Arial" pitchFamily="34" charset="-122"/>
                <a:cs typeface="Arial" pitchFamily="34" charset="-120"/>
              </a:rPr>
              <a:t>₹15</a:t>
            </a:r>
            <a:endParaRPr lang="en-US" sz="700" dirty="0"/>
          </a:p>
        </p:txBody>
      </p:sp>
      <p:sp>
        <p:nvSpPr>
          <p:cNvPr id="65" name="Text 63"/>
          <p:cNvSpPr txBox="1"/>
          <p:nvPr/>
        </p:nvSpPr>
        <p:spPr>
          <a:xfrm>
            <a:off x="6144768" y="4745736"/>
            <a:ext cx="914400" cy="182880"/>
          </a:xfrm>
          <a:prstGeom prst="rect">
            <a:avLst/>
          </a:prstGeom>
          <a:noFill/>
          <a:ln/>
        </p:spPr>
        <p:txBody>
          <a:bodyPr wrap="square" lIns="0" tIns="0" rIns="0" bIns="0" rtlCol="0" anchor="t"/>
          <a:lstStyle/>
          <a:p>
            <a:pPr marL="0" indent="0">
              <a:buNone/>
            </a:pPr>
            <a:r>
              <a:rPr lang="en-US" sz="700" dirty="0">
                <a:solidFill>
                  <a:srgbClr val="2B2B2B"/>
                </a:solidFill>
                <a:latin typeface="Arial" pitchFamily="34" charset="0"/>
                <a:ea typeface="Arial" pitchFamily="34" charset="-122"/>
                <a:cs typeface="Arial" pitchFamily="34" charset="-120"/>
              </a:rPr>
              <a:t>Labour</a:t>
            </a:r>
            <a:endParaRPr lang="en-US" sz="700" dirty="0"/>
          </a:p>
        </p:txBody>
      </p:sp>
      <p:sp>
        <p:nvSpPr>
          <p:cNvPr id="66" name="Shape 64"/>
          <p:cNvSpPr/>
          <p:nvPr/>
        </p:nvSpPr>
        <p:spPr>
          <a:xfrm>
            <a:off x="7059168" y="4754880"/>
            <a:ext cx="731520" cy="164592"/>
          </a:xfrm>
          <a:prstGeom prst="roundRect">
            <a:avLst>
              <a:gd name="adj" fmla="val 16667"/>
            </a:avLst>
          </a:prstGeom>
          <a:solidFill>
            <a:srgbClr val="FFFFFF"/>
          </a:solidFill>
          <a:ln w="6350">
            <a:solidFill>
              <a:srgbClr val="D9C8D5"/>
            </a:solidFill>
            <a:prstDash val="solid"/>
          </a:ln>
        </p:spPr>
        <p:txBody>
          <a:bodyPr/>
          <a:lstStyle/>
          <a:p>
            <a:endParaRPr lang="en-IN"/>
          </a:p>
        </p:txBody>
      </p:sp>
      <p:sp>
        <p:nvSpPr>
          <p:cNvPr id="67" name="Text 65"/>
          <p:cNvSpPr txBox="1"/>
          <p:nvPr/>
        </p:nvSpPr>
        <p:spPr>
          <a:xfrm>
            <a:off x="7086600" y="4754880"/>
            <a:ext cx="685800" cy="164592"/>
          </a:xfrm>
          <a:prstGeom prst="rect">
            <a:avLst/>
          </a:prstGeom>
          <a:noFill/>
          <a:ln/>
        </p:spPr>
        <p:txBody>
          <a:bodyPr wrap="square" lIns="0" tIns="0" rIns="0" bIns="0" rtlCol="0" anchor="ctr"/>
          <a:lstStyle/>
          <a:p>
            <a:pPr marL="0" indent="0">
              <a:buNone/>
            </a:pPr>
            <a:r>
              <a:rPr lang="en-US" sz="700" dirty="0">
                <a:solidFill>
                  <a:srgbClr val="2B2B2B"/>
                </a:solidFill>
                <a:latin typeface="Arial" pitchFamily="34" charset="0"/>
                <a:ea typeface="Arial" pitchFamily="34" charset="-122"/>
                <a:cs typeface="Arial" pitchFamily="34" charset="-120"/>
              </a:rPr>
              <a:t>₹15</a:t>
            </a:r>
            <a:endParaRPr lang="en-US" sz="700" dirty="0"/>
          </a:p>
        </p:txBody>
      </p:sp>
      <p:sp>
        <p:nvSpPr>
          <p:cNvPr id="68" name="Text 66"/>
          <p:cNvSpPr txBox="1"/>
          <p:nvPr/>
        </p:nvSpPr>
        <p:spPr>
          <a:xfrm>
            <a:off x="6144768" y="4983480"/>
            <a:ext cx="1645920" cy="201168"/>
          </a:xfrm>
          <a:prstGeom prst="rect">
            <a:avLst/>
          </a:prstGeom>
          <a:noFill/>
          <a:ln/>
        </p:spPr>
        <p:txBody>
          <a:bodyPr wrap="square" lIns="0" tIns="0" rIns="0" bIns="0" rtlCol="0" anchor="t"/>
          <a:lstStyle/>
          <a:p>
            <a:pPr marL="0" indent="0">
              <a:buNone/>
            </a:pPr>
            <a:r>
              <a:rPr lang="en-US" sz="800" b="1" dirty="0">
                <a:solidFill>
                  <a:srgbClr val="5B0F4E"/>
                </a:solidFill>
                <a:latin typeface="Arial" pitchFamily="34" charset="0"/>
                <a:ea typeface="Arial" pitchFamily="34" charset="-122"/>
                <a:cs typeface="Arial" pitchFamily="34" charset="-120"/>
              </a:rPr>
              <a:t>Package</a:t>
            </a:r>
            <a:endParaRPr lang="en-US" sz="800" dirty="0"/>
          </a:p>
        </p:txBody>
      </p:sp>
      <p:sp>
        <p:nvSpPr>
          <p:cNvPr id="69" name="Text 67"/>
          <p:cNvSpPr txBox="1"/>
          <p:nvPr/>
        </p:nvSpPr>
        <p:spPr>
          <a:xfrm>
            <a:off x="6144768" y="5166360"/>
            <a:ext cx="1691640" cy="182880"/>
          </a:xfrm>
          <a:prstGeom prst="rect">
            <a:avLst/>
          </a:prstGeom>
          <a:noFill/>
          <a:ln/>
        </p:spPr>
        <p:txBody>
          <a:bodyPr wrap="square" lIns="0" tIns="0" rIns="0" bIns="0" rtlCol="0" anchor="t"/>
          <a:lstStyle/>
          <a:p>
            <a:pPr marL="0" indent="0">
              <a:buNone/>
            </a:pPr>
            <a:r>
              <a:rPr lang="en-US" sz="700" dirty="0">
                <a:solidFill>
                  <a:srgbClr val="2B2B2B"/>
                </a:solidFill>
                <a:latin typeface="Arial" pitchFamily="34" charset="0"/>
                <a:ea typeface="Arial" pitchFamily="34" charset="-122"/>
                <a:cs typeface="Arial" pitchFamily="34" charset="-120"/>
              </a:rPr>
              <a:t>0.45 kg · 30×25×3 cm · zonal</a:t>
            </a:r>
            <a:endParaRPr lang="en-US" sz="700" dirty="0"/>
          </a:p>
        </p:txBody>
      </p:sp>
      <p:sp>
        <p:nvSpPr>
          <p:cNvPr id="70" name="Text 68"/>
          <p:cNvSpPr txBox="1"/>
          <p:nvPr/>
        </p:nvSpPr>
        <p:spPr>
          <a:xfrm>
            <a:off x="6144768" y="5330952"/>
            <a:ext cx="1691640" cy="182880"/>
          </a:xfrm>
          <a:prstGeom prst="rect">
            <a:avLst/>
          </a:prstGeom>
          <a:noFill/>
          <a:ln/>
        </p:spPr>
        <p:txBody>
          <a:bodyPr wrap="square" lIns="0" tIns="0" rIns="0" bIns="0" rtlCol="0" anchor="t"/>
          <a:lstStyle/>
          <a:p>
            <a:pPr marL="0" indent="0">
              <a:buNone/>
            </a:pPr>
            <a:r>
              <a:rPr lang="en-US" sz="700" b="1" dirty="0">
                <a:solidFill>
                  <a:srgbClr val="4A2BD0"/>
                </a:solidFill>
                <a:latin typeface="Arial" pitchFamily="34" charset="0"/>
                <a:ea typeface="Arial" pitchFamily="34" charset="-122"/>
                <a:cs typeface="Arial" pitchFamily="34" charset="-120"/>
              </a:rPr>
              <a:t>Slab 0–0.5 kg · ship + GST ₹76.70</a:t>
            </a:r>
            <a:endParaRPr lang="en-US" sz="700" dirty="0"/>
          </a:p>
        </p:txBody>
      </p:sp>
      <p:sp>
        <p:nvSpPr>
          <p:cNvPr id="71" name="Shape 69"/>
          <p:cNvSpPr/>
          <p:nvPr/>
        </p:nvSpPr>
        <p:spPr>
          <a:xfrm>
            <a:off x="6144768" y="5532120"/>
            <a:ext cx="1691640" cy="274320"/>
          </a:xfrm>
          <a:prstGeom prst="roundRect">
            <a:avLst>
              <a:gd name="adj" fmla="val 10000"/>
            </a:avLst>
          </a:prstGeom>
          <a:solidFill>
            <a:srgbClr val="FCE8E6"/>
          </a:solidFill>
          <a:ln w="12700">
            <a:solidFill>
              <a:srgbClr val="FCE8E6"/>
            </a:solidFill>
            <a:prstDash val="solid"/>
          </a:ln>
        </p:spPr>
        <p:txBody>
          <a:bodyPr/>
          <a:lstStyle/>
          <a:p>
            <a:endParaRPr lang="en-IN"/>
          </a:p>
        </p:txBody>
      </p:sp>
      <p:sp>
        <p:nvSpPr>
          <p:cNvPr id="72" name="Text 70"/>
          <p:cNvSpPr txBox="1"/>
          <p:nvPr/>
        </p:nvSpPr>
        <p:spPr>
          <a:xfrm>
            <a:off x="6172200" y="5532120"/>
            <a:ext cx="1645920" cy="274320"/>
          </a:xfrm>
          <a:prstGeom prst="rect">
            <a:avLst/>
          </a:prstGeom>
          <a:noFill/>
          <a:ln/>
        </p:spPr>
        <p:txBody>
          <a:bodyPr wrap="square" lIns="0" tIns="0" rIns="0" bIns="0" rtlCol="0" anchor="ctr"/>
          <a:lstStyle/>
          <a:p>
            <a:pPr marL="0" indent="0">
              <a:buNone/>
            </a:pPr>
            <a:r>
              <a:rPr lang="en-US" sz="650" dirty="0">
                <a:solidFill>
                  <a:srgbClr val="C62828"/>
                </a:solidFill>
                <a:latin typeface="Arial" pitchFamily="34" charset="0"/>
                <a:ea typeface="Arial" pitchFamily="34" charset="-122"/>
                <a:cs typeface="Arial" pitchFamily="34" charset="-120"/>
              </a:rPr>
              <a:t>⚠ 7.5 kg would jump to 5–10 kg slab</a:t>
            </a:r>
            <a:endParaRPr lang="en-US" sz="650" dirty="0"/>
          </a:p>
        </p:txBody>
      </p:sp>
      <p:sp>
        <p:nvSpPr>
          <p:cNvPr id="73" name="Text 71"/>
          <p:cNvSpPr txBox="1"/>
          <p:nvPr/>
        </p:nvSpPr>
        <p:spPr>
          <a:xfrm>
            <a:off x="6144768" y="5852160"/>
            <a:ext cx="1691640" cy="182880"/>
          </a:xfrm>
          <a:prstGeom prst="rect">
            <a:avLst/>
          </a:prstGeom>
          <a:noFill/>
          <a:ln/>
        </p:spPr>
        <p:txBody>
          <a:bodyPr wrap="square" lIns="0" tIns="0" rIns="0" bIns="0" rtlCol="0" anchor="t"/>
          <a:lstStyle/>
          <a:p>
            <a:pPr marL="0" indent="0">
              <a:buNone/>
            </a:pPr>
            <a:r>
              <a:rPr lang="en-US" sz="800" b="1" dirty="0">
                <a:solidFill>
                  <a:srgbClr val="5B0F4E"/>
                </a:solidFill>
                <a:latin typeface="Arial" pitchFamily="34" charset="0"/>
                <a:ea typeface="Arial" pitchFamily="34" charset="-122"/>
                <a:cs typeface="Arial" pitchFamily="34" charset="-120"/>
              </a:rPr>
              <a:t>Returns (category data)</a:t>
            </a:r>
            <a:endParaRPr lang="en-US" sz="800" dirty="0"/>
          </a:p>
        </p:txBody>
      </p:sp>
      <p:sp>
        <p:nvSpPr>
          <p:cNvPr id="74" name="Text 72"/>
          <p:cNvSpPr txBox="1"/>
          <p:nvPr/>
        </p:nvSpPr>
        <p:spPr>
          <a:xfrm>
            <a:off x="6144768" y="6035040"/>
            <a:ext cx="640080" cy="164592"/>
          </a:xfrm>
          <a:prstGeom prst="rect">
            <a:avLst/>
          </a:prstGeom>
          <a:noFill/>
          <a:ln/>
        </p:spPr>
        <p:txBody>
          <a:bodyPr wrap="square" lIns="0" tIns="0" rIns="0" bIns="0" rtlCol="0" anchor="t"/>
          <a:lstStyle/>
          <a:p>
            <a:pPr marL="0" indent="0">
              <a:buNone/>
            </a:pPr>
            <a:r>
              <a:rPr lang="en-US" sz="700" dirty="0">
                <a:solidFill>
                  <a:srgbClr val="2B2B2B"/>
                </a:solidFill>
                <a:latin typeface="Arial" pitchFamily="34" charset="0"/>
                <a:ea typeface="Arial" pitchFamily="34" charset="-122"/>
                <a:cs typeface="Arial" pitchFamily="34" charset="-120"/>
              </a:rPr>
              <a:t>RTO 15%</a:t>
            </a:r>
            <a:endParaRPr lang="en-US" sz="700" dirty="0"/>
          </a:p>
        </p:txBody>
      </p:sp>
      <p:sp>
        <p:nvSpPr>
          <p:cNvPr id="75" name="Shape 73"/>
          <p:cNvSpPr/>
          <p:nvPr/>
        </p:nvSpPr>
        <p:spPr>
          <a:xfrm>
            <a:off x="6830568" y="6099048"/>
            <a:ext cx="914400" cy="45720"/>
          </a:xfrm>
          <a:prstGeom prst="rect">
            <a:avLst/>
          </a:prstGeom>
          <a:solidFill>
            <a:srgbClr val="D9C8D5"/>
          </a:solidFill>
          <a:ln w="12700">
            <a:solidFill>
              <a:srgbClr val="D9C8D5"/>
            </a:solidFill>
            <a:prstDash val="solid"/>
          </a:ln>
        </p:spPr>
        <p:txBody>
          <a:bodyPr/>
          <a:lstStyle/>
          <a:p>
            <a:endParaRPr lang="en-IN"/>
          </a:p>
        </p:txBody>
      </p:sp>
      <p:sp>
        <p:nvSpPr>
          <p:cNvPr id="76" name="Shape 74"/>
          <p:cNvSpPr/>
          <p:nvPr/>
        </p:nvSpPr>
        <p:spPr>
          <a:xfrm>
            <a:off x="7013448" y="6062472"/>
            <a:ext cx="109728" cy="109728"/>
          </a:xfrm>
          <a:prstGeom prst="ellipse">
            <a:avLst/>
          </a:prstGeom>
          <a:solidFill>
            <a:srgbClr val="4A2BD0"/>
          </a:solidFill>
          <a:ln w="12700">
            <a:solidFill>
              <a:srgbClr val="4A2BD0"/>
            </a:solidFill>
            <a:prstDash val="solid"/>
          </a:ln>
        </p:spPr>
        <p:txBody>
          <a:bodyPr/>
          <a:lstStyle/>
          <a:p>
            <a:endParaRPr lang="en-IN"/>
          </a:p>
        </p:txBody>
      </p:sp>
      <p:sp>
        <p:nvSpPr>
          <p:cNvPr id="77" name="Text 75"/>
          <p:cNvSpPr txBox="1"/>
          <p:nvPr/>
        </p:nvSpPr>
        <p:spPr>
          <a:xfrm>
            <a:off x="6144768" y="6217920"/>
            <a:ext cx="640080" cy="164592"/>
          </a:xfrm>
          <a:prstGeom prst="rect">
            <a:avLst/>
          </a:prstGeom>
          <a:noFill/>
          <a:ln/>
        </p:spPr>
        <p:txBody>
          <a:bodyPr wrap="square" lIns="0" tIns="0" rIns="0" bIns="0" rtlCol="0" anchor="t"/>
          <a:lstStyle/>
          <a:p>
            <a:pPr marL="0" indent="0">
              <a:buNone/>
            </a:pPr>
            <a:r>
              <a:rPr lang="en-US" sz="700" dirty="0">
                <a:solidFill>
                  <a:srgbClr val="2B2B2B"/>
                </a:solidFill>
                <a:latin typeface="Arial" pitchFamily="34" charset="0"/>
                <a:ea typeface="Arial" pitchFamily="34" charset="-122"/>
                <a:cs typeface="Arial" pitchFamily="34" charset="-120"/>
              </a:rPr>
              <a:t>Returns 15%</a:t>
            </a:r>
            <a:endParaRPr lang="en-US" sz="700" dirty="0"/>
          </a:p>
        </p:txBody>
      </p:sp>
      <p:sp>
        <p:nvSpPr>
          <p:cNvPr id="78" name="Shape 76"/>
          <p:cNvSpPr/>
          <p:nvPr/>
        </p:nvSpPr>
        <p:spPr>
          <a:xfrm>
            <a:off x="6830568" y="6281928"/>
            <a:ext cx="914400" cy="45720"/>
          </a:xfrm>
          <a:prstGeom prst="rect">
            <a:avLst/>
          </a:prstGeom>
          <a:solidFill>
            <a:srgbClr val="D9C8D5"/>
          </a:solidFill>
          <a:ln w="12700">
            <a:solidFill>
              <a:srgbClr val="D9C8D5"/>
            </a:solidFill>
            <a:prstDash val="solid"/>
          </a:ln>
        </p:spPr>
        <p:txBody>
          <a:bodyPr/>
          <a:lstStyle/>
          <a:p>
            <a:endParaRPr lang="en-IN"/>
          </a:p>
        </p:txBody>
      </p:sp>
      <p:sp>
        <p:nvSpPr>
          <p:cNvPr id="79" name="Shape 77"/>
          <p:cNvSpPr/>
          <p:nvPr/>
        </p:nvSpPr>
        <p:spPr>
          <a:xfrm>
            <a:off x="7059168" y="6245352"/>
            <a:ext cx="109728" cy="109728"/>
          </a:xfrm>
          <a:prstGeom prst="ellipse">
            <a:avLst/>
          </a:prstGeom>
          <a:solidFill>
            <a:srgbClr val="4A2BD0"/>
          </a:solidFill>
          <a:ln w="12700">
            <a:solidFill>
              <a:srgbClr val="4A2BD0"/>
            </a:solidFill>
            <a:prstDash val="solid"/>
          </a:ln>
        </p:spPr>
        <p:txBody>
          <a:bodyPr/>
          <a:lstStyle/>
          <a:p>
            <a:endParaRPr lang="en-IN"/>
          </a:p>
        </p:txBody>
      </p:sp>
      <p:sp>
        <p:nvSpPr>
          <p:cNvPr id="80" name="Shape 78"/>
          <p:cNvSpPr/>
          <p:nvPr/>
        </p:nvSpPr>
        <p:spPr>
          <a:xfrm>
            <a:off x="8001000" y="4114800"/>
            <a:ext cx="2221992" cy="2331720"/>
          </a:xfrm>
          <a:prstGeom prst="roundRect">
            <a:avLst>
              <a:gd name="adj" fmla="val 2058"/>
            </a:avLst>
          </a:prstGeom>
          <a:solidFill>
            <a:srgbClr val="FFFFFF"/>
          </a:solidFill>
          <a:ln w="9525">
            <a:solidFill>
              <a:srgbClr val="E6E6EB"/>
            </a:solidFill>
            <a:prstDash val="solid"/>
          </a:ln>
        </p:spPr>
        <p:txBody>
          <a:bodyPr/>
          <a:lstStyle/>
          <a:p>
            <a:endParaRPr lang="en-IN"/>
          </a:p>
        </p:txBody>
      </p:sp>
      <p:sp>
        <p:nvSpPr>
          <p:cNvPr id="81" name="Text 79"/>
          <p:cNvSpPr txBox="1"/>
          <p:nvPr/>
        </p:nvSpPr>
        <p:spPr>
          <a:xfrm>
            <a:off x="8074152" y="4142232"/>
            <a:ext cx="2011680" cy="182880"/>
          </a:xfrm>
          <a:prstGeom prst="rect">
            <a:avLst/>
          </a:prstGeom>
          <a:noFill/>
          <a:ln/>
        </p:spPr>
        <p:txBody>
          <a:bodyPr wrap="square" lIns="0" tIns="0" rIns="0" bIns="0" rtlCol="0" anchor="t"/>
          <a:lstStyle/>
          <a:p>
            <a:pPr marL="0" indent="0">
              <a:buNone/>
            </a:pPr>
            <a:r>
              <a:rPr lang="en-US" sz="750" dirty="0">
                <a:solidFill>
                  <a:srgbClr val="555555"/>
                </a:solidFill>
                <a:latin typeface="Arial" pitchFamily="34" charset="0"/>
                <a:ea typeface="Arial" pitchFamily="34" charset="-122"/>
                <a:cs typeface="Arial" pitchFamily="34" charset="-120"/>
              </a:rPr>
              <a:t>Your floor price</a:t>
            </a:r>
            <a:endParaRPr lang="en-US" sz="750" dirty="0"/>
          </a:p>
        </p:txBody>
      </p:sp>
      <p:sp>
        <p:nvSpPr>
          <p:cNvPr id="82" name="Text 80"/>
          <p:cNvSpPr txBox="1"/>
          <p:nvPr/>
        </p:nvSpPr>
        <p:spPr>
          <a:xfrm>
            <a:off x="8074152" y="4297680"/>
            <a:ext cx="1188720" cy="384048"/>
          </a:xfrm>
          <a:prstGeom prst="rect">
            <a:avLst/>
          </a:prstGeom>
          <a:noFill/>
          <a:ln/>
        </p:spPr>
        <p:txBody>
          <a:bodyPr wrap="square" lIns="0" tIns="0" rIns="0" bIns="0" rtlCol="0" anchor="t"/>
          <a:lstStyle/>
          <a:p>
            <a:pPr marL="0" indent="0">
              <a:buNone/>
            </a:pPr>
            <a:r>
              <a:rPr lang="en-US" sz="2200" b="1" dirty="0">
                <a:solidFill>
                  <a:srgbClr val="5B0F4E"/>
                </a:solidFill>
                <a:latin typeface="Arial" pitchFamily="34" charset="0"/>
                <a:ea typeface="Arial" pitchFamily="34" charset="-122"/>
                <a:cs typeface="Arial" pitchFamily="34" charset="-120"/>
              </a:rPr>
              <a:t>₹314</a:t>
            </a:r>
            <a:endParaRPr lang="en-US" sz="2200" dirty="0"/>
          </a:p>
        </p:txBody>
      </p:sp>
      <p:sp>
        <p:nvSpPr>
          <p:cNvPr id="83" name="Text 81"/>
          <p:cNvSpPr txBox="1"/>
          <p:nvPr/>
        </p:nvSpPr>
        <p:spPr>
          <a:xfrm>
            <a:off x="8074152" y="4681728"/>
            <a:ext cx="2103120" cy="201168"/>
          </a:xfrm>
          <a:prstGeom prst="rect">
            <a:avLst/>
          </a:prstGeom>
          <a:noFill/>
          <a:ln/>
        </p:spPr>
        <p:txBody>
          <a:bodyPr wrap="square" lIns="0" tIns="0" rIns="0" bIns="0" rtlCol="0" anchor="t"/>
          <a:lstStyle/>
          <a:p>
            <a:pPr marL="0" indent="0">
              <a:buNone/>
            </a:pPr>
            <a:r>
              <a:rPr lang="en-US" sz="750" b="1" dirty="0">
                <a:solidFill>
                  <a:srgbClr val="C62828"/>
                </a:solidFill>
                <a:latin typeface="Arial" pitchFamily="34" charset="0"/>
                <a:ea typeface="Arial" pitchFamily="34" charset="-122"/>
                <a:cs typeface="Arial" pitchFamily="34" charset="-120"/>
              </a:rPr>
              <a:t>At ₹299 you lose ₹10.59 / order</a:t>
            </a:r>
            <a:endParaRPr lang="en-US" sz="750" dirty="0"/>
          </a:p>
        </p:txBody>
      </p:sp>
      <p:sp>
        <p:nvSpPr>
          <p:cNvPr id="84" name="Text 82"/>
          <p:cNvSpPr txBox="1"/>
          <p:nvPr/>
        </p:nvSpPr>
        <p:spPr>
          <a:xfrm>
            <a:off x="8074152" y="4937760"/>
            <a:ext cx="777240" cy="182880"/>
          </a:xfrm>
          <a:prstGeom prst="rect">
            <a:avLst/>
          </a:prstGeom>
          <a:noFill/>
          <a:ln/>
        </p:spPr>
        <p:txBody>
          <a:bodyPr wrap="square" lIns="0" tIns="0" rIns="0" bIns="0" rtlCol="0" anchor="t"/>
          <a:lstStyle/>
          <a:p>
            <a:pPr marL="0" indent="0">
              <a:buNone/>
            </a:pPr>
            <a:r>
              <a:rPr lang="en-US" sz="650" dirty="0">
                <a:solidFill>
                  <a:srgbClr val="2B2B2B"/>
                </a:solidFill>
                <a:latin typeface="Arial" pitchFamily="34" charset="0"/>
                <a:ea typeface="Arial" pitchFamily="34" charset="-122"/>
                <a:cs typeface="Arial" pitchFamily="34" charset="-120"/>
              </a:rPr>
              <a:t>Product</a:t>
            </a:r>
            <a:endParaRPr lang="en-US" sz="650" dirty="0"/>
          </a:p>
        </p:txBody>
      </p:sp>
      <p:sp>
        <p:nvSpPr>
          <p:cNvPr id="85" name="Shape 83"/>
          <p:cNvSpPr/>
          <p:nvPr/>
        </p:nvSpPr>
        <p:spPr>
          <a:xfrm>
            <a:off x="8842248" y="4983480"/>
            <a:ext cx="1005840" cy="109728"/>
          </a:xfrm>
          <a:prstGeom prst="rect">
            <a:avLst/>
          </a:prstGeom>
          <a:solidFill>
            <a:srgbClr val="5B0F4E"/>
          </a:solidFill>
          <a:ln w="12700">
            <a:solidFill>
              <a:srgbClr val="5B0F4E"/>
            </a:solidFill>
            <a:prstDash val="solid"/>
          </a:ln>
        </p:spPr>
        <p:txBody>
          <a:bodyPr/>
          <a:lstStyle/>
          <a:p>
            <a:endParaRPr lang="en-IN"/>
          </a:p>
        </p:txBody>
      </p:sp>
      <p:sp>
        <p:nvSpPr>
          <p:cNvPr id="86" name="Text 84"/>
          <p:cNvSpPr txBox="1"/>
          <p:nvPr/>
        </p:nvSpPr>
        <p:spPr>
          <a:xfrm>
            <a:off x="9875520" y="4937760"/>
            <a:ext cx="320040" cy="182880"/>
          </a:xfrm>
          <a:prstGeom prst="rect">
            <a:avLst/>
          </a:prstGeom>
          <a:noFill/>
          <a:ln/>
        </p:spPr>
        <p:txBody>
          <a:bodyPr wrap="square" lIns="0" tIns="0" rIns="0" bIns="0" rtlCol="0" anchor="t"/>
          <a:lstStyle/>
          <a:p>
            <a:pPr marL="0" indent="0">
              <a:buNone/>
            </a:pPr>
            <a:r>
              <a:rPr lang="en-US" sz="650" dirty="0">
                <a:solidFill>
                  <a:srgbClr val="2B2B2B"/>
                </a:solidFill>
                <a:latin typeface="Arial" pitchFamily="34" charset="0"/>
                <a:ea typeface="Arial" pitchFamily="34" charset="-122"/>
                <a:cs typeface="Arial" pitchFamily="34" charset="-120"/>
              </a:rPr>
              <a:t>₹190</a:t>
            </a:r>
            <a:endParaRPr lang="en-US" sz="650" dirty="0"/>
          </a:p>
        </p:txBody>
      </p:sp>
      <p:sp>
        <p:nvSpPr>
          <p:cNvPr id="87" name="Text 85"/>
          <p:cNvSpPr txBox="1"/>
          <p:nvPr/>
        </p:nvSpPr>
        <p:spPr>
          <a:xfrm>
            <a:off x="8074152" y="5138928"/>
            <a:ext cx="777240" cy="182880"/>
          </a:xfrm>
          <a:prstGeom prst="rect">
            <a:avLst/>
          </a:prstGeom>
          <a:noFill/>
          <a:ln/>
        </p:spPr>
        <p:txBody>
          <a:bodyPr wrap="square" lIns="0" tIns="0" rIns="0" bIns="0" rtlCol="0" anchor="t"/>
          <a:lstStyle/>
          <a:p>
            <a:pPr marL="0" indent="0">
              <a:buNone/>
            </a:pPr>
            <a:r>
              <a:rPr lang="en-US" sz="650" dirty="0">
                <a:solidFill>
                  <a:srgbClr val="2B2B2B"/>
                </a:solidFill>
                <a:latin typeface="Arial" pitchFamily="34" charset="0"/>
                <a:ea typeface="Arial" pitchFamily="34" charset="-122"/>
                <a:cs typeface="Arial" pitchFamily="34" charset="-120"/>
              </a:rPr>
              <a:t>Ship + GST</a:t>
            </a:r>
            <a:endParaRPr lang="en-US" sz="650" dirty="0"/>
          </a:p>
        </p:txBody>
      </p:sp>
      <p:sp>
        <p:nvSpPr>
          <p:cNvPr id="88" name="Shape 86"/>
          <p:cNvSpPr/>
          <p:nvPr/>
        </p:nvSpPr>
        <p:spPr>
          <a:xfrm>
            <a:off x="8842248" y="5184648"/>
            <a:ext cx="407630" cy="109728"/>
          </a:xfrm>
          <a:prstGeom prst="rect">
            <a:avLst/>
          </a:prstGeom>
          <a:solidFill>
            <a:srgbClr val="5B0F4E"/>
          </a:solidFill>
          <a:ln w="12700">
            <a:solidFill>
              <a:srgbClr val="5B0F4E"/>
            </a:solidFill>
            <a:prstDash val="solid"/>
          </a:ln>
        </p:spPr>
        <p:txBody>
          <a:bodyPr/>
          <a:lstStyle/>
          <a:p>
            <a:endParaRPr lang="en-IN"/>
          </a:p>
        </p:txBody>
      </p:sp>
      <p:sp>
        <p:nvSpPr>
          <p:cNvPr id="89" name="Text 87"/>
          <p:cNvSpPr txBox="1"/>
          <p:nvPr/>
        </p:nvSpPr>
        <p:spPr>
          <a:xfrm>
            <a:off x="9875520" y="5138928"/>
            <a:ext cx="320040" cy="182880"/>
          </a:xfrm>
          <a:prstGeom prst="rect">
            <a:avLst/>
          </a:prstGeom>
          <a:noFill/>
          <a:ln/>
        </p:spPr>
        <p:txBody>
          <a:bodyPr wrap="square" lIns="0" tIns="0" rIns="0" bIns="0" rtlCol="0" anchor="t"/>
          <a:lstStyle/>
          <a:p>
            <a:pPr marL="0" indent="0">
              <a:buNone/>
            </a:pPr>
            <a:r>
              <a:rPr lang="en-US" sz="650" dirty="0">
                <a:solidFill>
                  <a:srgbClr val="2B2B2B"/>
                </a:solidFill>
                <a:latin typeface="Arial" pitchFamily="34" charset="0"/>
                <a:ea typeface="Arial" pitchFamily="34" charset="-122"/>
                <a:cs typeface="Arial" pitchFamily="34" charset="-120"/>
              </a:rPr>
              <a:t>₹77</a:t>
            </a:r>
            <a:endParaRPr lang="en-US" sz="650" dirty="0"/>
          </a:p>
        </p:txBody>
      </p:sp>
      <p:sp>
        <p:nvSpPr>
          <p:cNvPr id="90" name="Text 88"/>
          <p:cNvSpPr txBox="1"/>
          <p:nvPr/>
        </p:nvSpPr>
        <p:spPr>
          <a:xfrm>
            <a:off x="8074152" y="5340096"/>
            <a:ext cx="777240" cy="182880"/>
          </a:xfrm>
          <a:prstGeom prst="rect">
            <a:avLst/>
          </a:prstGeom>
          <a:noFill/>
          <a:ln/>
        </p:spPr>
        <p:txBody>
          <a:bodyPr wrap="square" lIns="0" tIns="0" rIns="0" bIns="0" rtlCol="0" anchor="t"/>
          <a:lstStyle/>
          <a:p>
            <a:pPr marL="0" indent="0">
              <a:buNone/>
            </a:pPr>
            <a:r>
              <a:rPr lang="en-US" sz="650" dirty="0">
                <a:solidFill>
                  <a:srgbClr val="2B2B2B"/>
                </a:solidFill>
                <a:latin typeface="Arial" pitchFamily="34" charset="0"/>
                <a:ea typeface="Arial" pitchFamily="34" charset="-122"/>
                <a:cs typeface="Arial" pitchFamily="34" charset="-120"/>
              </a:rPr>
              <a:t>Returns &amp; RTO</a:t>
            </a:r>
            <a:endParaRPr lang="en-US" sz="650" dirty="0"/>
          </a:p>
        </p:txBody>
      </p:sp>
      <p:sp>
        <p:nvSpPr>
          <p:cNvPr id="91" name="Shape 89"/>
          <p:cNvSpPr/>
          <p:nvPr/>
        </p:nvSpPr>
        <p:spPr>
          <a:xfrm>
            <a:off x="8842248" y="5385816"/>
            <a:ext cx="190580" cy="109728"/>
          </a:xfrm>
          <a:prstGeom prst="rect">
            <a:avLst/>
          </a:prstGeom>
          <a:solidFill>
            <a:srgbClr val="F29A1F"/>
          </a:solidFill>
          <a:ln w="12700">
            <a:solidFill>
              <a:srgbClr val="F29A1F"/>
            </a:solidFill>
            <a:prstDash val="solid"/>
          </a:ln>
        </p:spPr>
        <p:txBody>
          <a:bodyPr/>
          <a:lstStyle/>
          <a:p>
            <a:endParaRPr lang="en-IN"/>
          </a:p>
        </p:txBody>
      </p:sp>
      <p:sp>
        <p:nvSpPr>
          <p:cNvPr id="92" name="Text 90"/>
          <p:cNvSpPr txBox="1"/>
          <p:nvPr/>
        </p:nvSpPr>
        <p:spPr>
          <a:xfrm>
            <a:off x="9875520" y="5340096"/>
            <a:ext cx="320040" cy="182880"/>
          </a:xfrm>
          <a:prstGeom prst="rect">
            <a:avLst/>
          </a:prstGeom>
          <a:noFill/>
          <a:ln/>
        </p:spPr>
        <p:txBody>
          <a:bodyPr wrap="square" lIns="0" tIns="0" rIns="0" bIns="0" rtlCol="0" anchor="t"/>
          <a:lstStyle/>
          <a:p>
            <a:pPr marL="0" indent="0">
              <a:buNone/>
            </a:pPr>
            <a:r>
              <a:rPr lang="en-US" sz="650" dirty="0">
                <a:solidFill>
                  <a:srgbClr val="2B2B2B"/>
                </a:solidFill>
                <a:latin typeface="Arial" pitchFamily="34" charset="0"/>
                <a:ea typeface="Arial" pitchFamily="34" charset="-122"/>
                <a:cs typeface="Arial" pitchFamily="34" charset="-120"/>
              </a:rPr>
              <a:t>₹36</a:t>
            </a:r>
            <a:endParaRPr lang="en-US" sz="650" dirty="0"/>
          </a:p>
        </p:txBody>
      </p:sp>
      <p:sp>
        <p:nvSpPr>
          <p:cNvPr id="93" name="Text 91"/>
          <p:cNvSpPr txBox="1"/>
          <p:nvPr/>
        </p:nvSpPr>
        <p:spPr>
          <a:xfrm>
            <a:off x="8074152" y="5541264"/>
            <a:ext cx="777240" cy="182880"/>
          </a:xfrm>
          <a:prstGeom prst="rect">
            <a:avLst/>
          </a:prstGeom>
          <a:noFill/>
          <a:ln/>
        </p:spPr>
        <p:txBody>
          <a:bodyPr wrap="square" lIns="0" tIns="0" rIns="0" bIns="0" rtlCol="0" anchor="t"/>
          <a:lstStyle/>
          <a:p>
            <a:pPr marL="0" indent="0">
              <a:buNone/>
            </a:pPr>
            <a:r>
              <a:rPr lang="en-US" sz="650" dirty="0">
                <a:solidFill>
                  <a:srgbClr val="2B2B2B"/>
                </a:solidFill>
                <a:latin typeface="Arial" pitchFamily="34" charset="0"/>
                <a:ea typeface="Arial" pitchFamily="34" charset="-122"/>
                <a:cs typeface="Arial" pitchFamily="34" charset="-120"/>
              </a:rPr>
              <a:t>Ads</a:t>
            </a:r>
            <a:endParaRPr lang="en-US" sz="650" dirty="0"/>
          </a:p>
        </p:txBody>
      </p:sp>
      <p:sp>
        <p:nvSpPr>
          <p:cNvPr id="94" name="Shape 92"/>
          <p:cNvSpPr/>
          <p:nvPr/>
        </p:nvSpPr>
        <p:spPr>
          <a:xfrm>
            <a:off x="8842248" y="5586984"/>
            <a:ext cx="58233" cy="109728"/>
          </a:xfrm>
          <a:prstGeom prst="rect">
            <a:avLst/>
          </a:prstGeom>
          <a:solidFill>
            <a:srgbClr val="5B0F4E"/>
          </a:solidFill>
          <a:ln w="12700">
            <a:solidFill>
              <a:srgbClr val="5B0F4E"/>
            </a:solidFill>
            <a:prstDash val="solid"/>
          </a:ln>
        </p:spPr>
        <p:txBody>
          <a:bodyPr/>
          <a:lstStyle/>
          <a:p>
            <a:endParaRPr lang="en-IN"/>
          </a:p>
        </p:txBody>
      </p:sp>
      <p:sp>
        <p:nvSpPr>
          <p:cNvPr id="95" name="Text 93"/>
          <p:cNvSpPr txBox="1"/>
          <p:nvPr/>
        </p:nvSpPr>
        <p:spPr>
          <a:xfrm>
            <a:off x="9875520" y="5541264"/>
            <a:ext cx="320040" cy="182880"/>
          </a:xfrm>
          <a:prstGeom prst="rect">
            <a:avLst/>
          </a:prstGeom>
          <a:noFill/>
          <a:ln/>
        </p:spPr>
        <p:txBody>
          <a:bodyPr wrap="square" lIns="0" tIns="0" rIns="0" bIns="0" rtlCol="0" anchor="t"/>
          <a:lstStyle/>
          <a:p>
            <a:pPr marL="0" indent="0">
              <a:buNone/>
            </a:pPr>
            <a:r>
              <a:rPr lang="en-US" sz="650" dirty="0">
                <a:solidFill>
                  <a:srgbClr val="2B2B2B"/>
                </a:solidFill>
                <a:latin typeface="Arial" pitchFamily="34" charset="0"/>
                <a:ea typeface="Arial" pitchFamily="34" charset="-122"/>
                <a:cs typeface="Arial" pitchFamily="34" charset="-120"/>
              </a:rPr>
              <a:t>₹11</a:t>
            </a:r>
            <a:endParaRPr lang="en-US" sz="650" dirty="0"/>
          </a:p>
        </p:txBody>
      </p:sp>
      <p:sp>
        <p:nvSpPr>
          <p:cNvPr id="96" name="Text 94"/>
          <p:cNvSpPr txBox="1"/>
          <p:nvPr/>
        </p:nvSpPr>
        <p:spPr>
          <a:xfrm>
            <a:off x="8074152" y="5779008"/>
            <a:ext cx="1371600" cy="182880"/>
          </a:xfrm>
          <a:prstGeom prst="rect">
            <a:avLst/>
          </a:prstGeom>
          <a:noFill/>
          <a:ln/>
        </p:spPr>
        <p:txBody>
          <a:bodyPr wrap="square" lIns="0" tIns="0" rIns="0" bIns="0" rtlCol="0" anchor="t"/>
          <a:lstStyle/>
          <a:p>
            <a:pPr marL="0" indent="0">
              <a:buNone/>
            </a:pPr>
            <a:r>
              <a:rPr lang="en-US" sz="750" b="1" dirty="0">
                <a:solidFill>
                  <a:srgbClr val="5B0F4E"/>
                </a:solidFill>
                <a:latin typeface="Arial" pitchFamily="34" charset="0"/>
                <a:ea typeface="Arial" pitchFamily="34" charset="-122"/>
                <a:cs typeface="Arial" pitchFamily="34" charset="-120"/>
              </a:rPr>
              <a:t>What if…</a:t>
            </a:r>
            <a:endParaRPr lang="en-US" sz="750" dirty="0"/>
          </a:p>
        </p:txBody>
      </p:sp>
      <p:sp>
        <p:nvSpPr>
          <p:cNvPr id="97" name="Shape 95"/>
          <p:cNvSpPr/>
          <p:nvPr/>
        </p:nvSpPr>
        <p:spPr>
          <a:xfrm>
            <a:off x="8074152" y="5971032"/>
            <a:ext cx="1005840" cy="182880"/>
          </a:xfrm>
          <a:prstGeom prst="roundRect">
            <a:avLst>
              <a:gd name="adj" fmla="val 20000"/>
            </a:avLst>
          </a:prstGeom>
          <a:solidFill>
            <a:srgbClr val="FFFFFF"/>
          </a:solidFill>
          <a:ln w="6350">
            <a:solidFill>
              <a:srgbClr val="4A2BD0"/>
            </a:solidFill>
            <a:prstDash val="solid"/>
          </a:ln>
        </p:spPr>
        <p:txBody>
          <a:bodyPr/>
          <a:lstStyle/>
          <a:p>
            <a:endParaRPr lang="en-IN"/>
          </a:p>
        </p:txBody>
      </p:sp>
      <p:sp>
        <p:nvSpPr>
          <p:cNvPr id="98" name="Text 96"/>
          <p:cNvSpPr txBox="1"/>
          <p:nvPr/>
        </p:nvSpPr>
        <p:spPr>
          <a:xfrm>
            <a:off x="8074152" y="5971032"/>
            <a:ext cx="1005840" cy="182880"/>
          </a:xfrm>
          <a:prstGeom prst="rect">
            <a:avLst/>
          </a:prstGeom>
          <a:noFill/>
          <a:ln/>
        </p:spPr>
        <p:txBody>
          <a:bodyPr wrap="square" lIns="0" tIns="0" rIns="0" bIns="0" rtlCol="0" anchor="ctr"/>
          <a:lstStyle/>
          <a:p>
            <a:pPr marL="0" indent="0" algn="ctr">
              <a:buNone/>
            </a:pPr>
            <a:r>
              <a:rPr lang="en-US" sz="600" dirty="0">
                <a:solidFill>
                  <a:srgbClr val="4A2BD0"/>
                </a:solidFill>
                <a:latin typeface="Arial" pitchFamily="34" charset="0"/>
                <a:ea typeface="Arial" pitchFamily="34" charset="-122"/>
                <a:cs typeface="Arial" pitchFamily="34" charset="-120"/>
              </a:rPr>
              <a:t>Defective-only returns</a:t>
            </a:r>
            <a:endParaRPr lang="en-US" sz="600" dirty="0"/>
          </a:p>
        </p:txBody>
      </p:sp>
      <p:sp>
        <p:nvSpPr>
          <p:cNvPr id="99" name="Shape 97"/>
          <p:cNvSpPr/>
          <p:nvPr/>
        </p:nvSpPr>
        <p:spPr>
          <a:xfrm>
            <a:off x="9125712" y="5971032"/>
            <a:ext cx="1005840" cy="182880"/>
          </a:xfrm>
          <a:prstGeom prst="roundRect">
            <a:avLst>
              <a:gd name="adj" fmla="val 20000"/>
            </a:avLst>
          </a:prstGeom>
          <a:solidFill>
            <a:srgbClr val="4A2BD0"/>
          </a:solidFill>
          <a:ln w="6350">
            <a:solidFill>
              <a:srgbClr val="4A2BD0"/>
            </a:solidFill>
            <a:prstDash val="solid"/>
          </a:ln>
        </p:spPr>
        <p:txBody>
          <a:bodyPr/>
          <a:lstStyle/>
          <a:p>
            <a:endParaRPr lang="en-IN"/>
          </a:p>
        </p:txBody>
      </p:sp>
      <p:sp>
        <p:nvSpPr>
          <p:cNvPr id="100" name="Text 98"/>
          <p:cNvSpPr txBox="1"/>
          <p:nvPr/>
        </p:nvSpPr>
        <p:spPr>
          <a:xfrm>
            <a:off x="9125712" y="5971032"/>
            <a:ext cx="1005840" cy="182880"/>
          </a:xfrm>
          <a:prstGeom prst="rect">
            <a:avLst/>
          </a:prstGeom>
          <a:noFill/>
          <a:ln/>
        </p:spPr>
        <p:txBody>
          <a:bodyPr wrap="square" lIns="0" tIns="0" rIns="0" bIns="0" rtlCol="0" anchor="ctr"/>
          <a:lstStyle/>
          <a:p>
            <a:pPr marL="0" indent="0" algn="ctr">
              <a:buNone/>
            </a:pPr>
            <a:r>
              <a:rPr lang="en-US" sz="600" dirty="0">
                <a:solidFill>
                  <a:srgbClr val="FFFFFF"/>
                </a:solidFill>
                <a:latin typeface="Arial" pitchFamily="34" charset="0"/>
                <a:ea typeface="Arial" pitchFamily="34" charset="-122"/>
                <a:cs typeface="Arial" pitchFamily="34" charset="-120"/>
              </a:rPr>
              <a:t>Size chart + photos</a:t>
            </a:r>
            <a:endParaRPr lang="en-US" sz="600" dirty="0"/>
          </a:p>
        </p:txBody>
      </p:sp>
      <p:sp>
        <p:nvSpPr>
          <p:cNvPr id="101" name="Shape 99"/>
          <p:cNvSpPr/>
          <p:nvPr/>
        </p:nvSpPr>
        <p:spPr>
          <a:xfrm>
            <a:off x="8074152" y="6190488"/>
            <a:ext cx="1005840" cy="182880"/>
          </a:xfrm>
          <a:prstGeom prst="roundRect">
            <a:avLst>
              <a:gd name="adj" fmla="val 20000"/>
            </a:avLst>
          </a:prstGeom>
          <a:solidFill>
            <a:srgbClr val="FFFFFF"/>
          </a:solidFill>
          <a:ln w="6350">
            <a:solidFill>
              <a:srgbClr val="4A2BD0"/>
            </a:solidFill>
            <a:prstDash val="solid"/>
          </a:ln>
        </p:spPr>
        <p:txBody>
          <a:bodyPr/>
          <a:lstStyle/>
          <a:p>
            <a:endParaRPr lang="en-IN"/>
          </a:p>
        </p:txBody>
      </p:sp>
      <p:sp>
        <p:nvSpPr>
          <p:cNvPr id="102" name="Text 100"/>
          <p:cNvSpPr txBox="1"/>
          <p:nvPr/>
        </p:nvSpPr>
        <p:spPr>
          <a:xfrm>
            <a:off x="8074152" y="6190488"/>
            <a:ext cx="1005840" cy="182880"/>
          </a:xfrm>
          <a:prstGeom prst="rect">
            <a:avLst/>
          </a:prstGeom>
          <a:noFill/>
          <a:ln/>
        </p:spPr>
        <p:txBody>
          <a:bodyPr wrap="square" lIns="0" tIns="0" rIns="0" bIns="0" rtlCol="0" anchor="ctr"/>
          <a:lstStyle/>
          <a:p>
            <a:pPr marL="0" indent="0" algn="ctr">
              <a:buNone/>
            </a:pPr>
            <a:r>
              <a:rPr lang="en-US" sz="600" dirty="0">
                <a:solidFill>
                  <a:srgbClr val="4A2BD0"/>
                </a:solidFill>
                <a:latin typeface="Arial" pitchFamily="34" charset="0"/>
                <a:ea typeface="Arial" pitchFamily="34" charset="-122"/>
                <a:cs typeface="Arial" pitchFamily="34" charset="-120"/>
              </a:rPr>
              <a:t>Smaller box</a:t>
            </a:r>
            <a:endParaRPr lang="en-US" sz="600" dirty="0"/>
          </a:p>
        </p:txBody>
      </p:sp>
      <p:sp>
        <p:nvSpPr>
          <p:cNvPr id="103" name="Text 101"/>
          <p:cNvSpPr txBox="1"/>
          <p:nvPr/>
        </p:nvSpPr>
        <p:spPr>
          <a:xfrm>
            <a:off x="9098280" y="6190488"/>
            <a:ext cx="1097280" cy="182880"/>
          </a:xfrm>
          <a:prstGeom prst="rect">
            <a:avLst/>
          </a:prstGeom>
          <a:noFill/>
          <a:ln/>
        </p:spPr>
        <p:txBody>
          <a:bodyPr wrap="square" lIns="0" tIns="0" rIns="0" bIns="0" rtlCol="0" anchor="t"/>
          <a:lstStyle/>
          <a:p>
            <a:pPr marL="0" indent="0">
              <a:buNone/>
            </a:pPr>
            <a:r>
              <a:rPr lang="en-US" sz="700" b="1" dirty="0">
                <a:solidFill>
                  <a:srgbClr val="1E8E3E"/>
                </a:solidFill>
                <a:latin typeface="Arial" pitchFamily="34" charset="0"/>
                <a:ea typeface="Arial" pitchFamily="34" charset="-122"/>
                <a:cs typeface="Arial" pitchFamily="34" charset="-120"/>
              </a:rPr>
              <a:t>Floor ₹314 → ₹301</a:t>
            </a:r>
            <a:endParaRPr lang="en-US" sz="700" dirty="0"/>
          </a:p>
        </p:txBody>
      </p:sp>
      <p:sp>
        <p:nvSpPr>
          <p:cNvPr id="104" name="Shape 102"/>
          <p:cNvSpPr/>
          <p:nvPr/>
        </p:nvSpPr>
        <p:spPr>
          <a:xfrm>
            <a:off x="10515600" y="3538728"/>
            <a:ext cx="256032" cy="256032"/>
          </a:xfrm>
          <a:prstGeom prst="ellipse">
            <a:avLst/>
          </a:prstGeom>
          <a:solidFill>
            <a:srgbClr val="E0457B"/>
          </a:solidFill>
          <a:ln w="12700">
            <a:solidFill>
              <a:srgbClr val="FFFFFF"/>
            </a:solidFill>
            <a:prstDash val="solid"/>
          </a:ln>
        </p:spPr>
        <p:txBody>
          <a:bodyPr/>
          <a:lstStyle/>
          <a:p>
            <a:endParaRPr lang="en-IN"/>
          </a:p>
        </p:txBody>
      </p:sp>
      <p:sp>
        <p:nvSpPr>
          <p:cNvPr id="105" name="Text 103"/>
          <p:cNvSpPr txBox="1"/>
          <p:nvPr/>
        </p:nvSpPr>
        <p:spPr>
          <a:xfrm>
            <a:off x="10515600" y="353872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06" name="Text 104"/>
          <p:cNvSpPr txBox="1"/>
          <p:nvPr/>
        </p:nvSpPr>
        <p:spPr>
          <a:xfrm>
            <a:off x="10808208" y="3493008"/>
            <a:ext cx="1417320" cy="603504"/>
          </a:xfrm>
          <a:prstGeom prst="rect">
            <a:avLst/>
          </a:prstGeom>
          <a:noFill/>
          <a:ln/>
        </p:spPr>
        <p:txBody>
          <a:bodyPr wrap="square" lIns="0" tIns="0" rIns="0" bIns="0" rtlCol="0" anchor="t"/>
          <a:lstStyle/>
          <a:p>
            <a:pPr marL="0" indent="0">
              <a:buNone/>
            </a:pPr>
            <a:r>
              <a:rPr lang="en-US" sz="850" dirty="0">
                <a:solidFill>
                  <a:srgbClr val="2B2B2B"/>
                </a:solidFill>
                <a:latin typeface="Arial" pitchFamily="34" charset="0"/>
                <a:ea typeface="Arial" pitchFamily="34" charset="-122"/>
                <a:cs typeface="Arial" pitchFamily="34" charset="-120"/>
              </a:rPr>
              <a:t>Floor price and the ₹ loss at the market price</a:t>
            </a:r>
            <a:endParaRPr lang="en-US" sz="850" dirty="0"/>
          </a:p>
        </p:txBody>
      </p:sp>
      <p:sp>
        <p:nvSpPr>
          <p:cNvPr id="107" name="Shape 105"/>
          <p:cNvSpPr/>
          <p:nvPr/>
        </p:nvSpPr>
        <p:spPr>
          <a:xfrm>
            <a:off x="9107424" y="4370832"/>
            <a:ext cx="219456" cy="219456"/>
          </a:xfrm>
          <a:prstGeom prst="ellipse">
            <a:avLst/>
          </a:prstGeom>
          <a:solidFill>
            <a:srgbClr val="E0457B"/>
          </a:solidFill>
          <a:ln w="12700">
            <a:solidFill>
              <a:srgbClr val="FFFFFF"/>
            </a:solidFill>
            <a:prstDash val="solid"/>
          </a:ln>
        </p:spPr>
        <p:txBody>
          <a:bodyPr/>
          <a:lstStyle/>
          <a:p>
            <a:endParaRPr lang="en-IN"/>
          </a:p>
        </p:txBody>
      </p:sp>
      <p:sp>
        <p:nvSpPr>
          <p:cNvPr id="108" name="Text 106"/>
          <p:cNvSpPr txBox="1"/>
          <p:nvPr/>
        </p:nvSpPr>
        <p:spPr>
          <a:xfrm>
            <a:off x="9107424" y="4370832"/>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09" name="Shape 107"/>
          <p:cNvSpPr/>
          <p:nvPr/>
        </p:nvSpPr>
        <p:spPr>
          <a:xfrm flipH="1">
            <a:off x="9345168" y="3666744"/>
            <a:ext cx="1152144" cy="832104"/>
          </a:xfrm>
          <a:prstGeom prst="line">
            <a:avLst/>
          </a:prstGeom>
          <a:noFill/>
          <a:ln w="19050">
            <a:solidFill>
              <a:srgbClr val="E0457B"/>
            </a:solidFill>
            <a:prstDash val="solid"/>
            <a:tailEnd type="triangle"/>
          </a:ln>
        </p:spPr>
        <p:txBody>
          <a:bodyPr/>
          <a:lstStyle/>
          <a:p>
            <a:endParaRPr lang="en-IN"/>
          </a:p>
        </p:txBody>
      </p:sp>
      <p:sp>
        <p:nvSpPr>
          <p:cNvPr id="110" name="Shape 108"/>
          <p:cNvSpPr/>
          <p:nvPr/>
        </p:nvSpPr>
        <p:spPr>
          <a:xfrm>
            <a:off x="10515600" y="4160520"/>
            <a:ext cx="256032" cy="256032"/>
          </a:xfrm>
          <a:prstGeom prst="ellipse">
            <a:avLst/>
          </a:prstGeom>
          <a:solidFill>
            <a:srgbClr val="E0457B"/>
          </a:solidFill>
          <a:ln w="12700">
            <a:solidFill>
              <a:srgbClr val="FFFFFF"/>
            </a:solidFill>
            <a:prstDash val="solid"/>
          </a:ln>
        </p:spPr>
        <p:txBody>
          <a:bodyPr/>
          <a:lstStyle/>
          <a:p>
            <a:endParaRPr lang="en-IN"/>
          </a:p>
        </p:txBody>
      </p:sp>
      <p:sp>
        <p:nvSpPr>
          <p:cNvPr id="111" name="Text 109"/>
          <p:cNvSpPr txBox="1"/>
          <p:nvPr/>
        </p:nvSpPr>
        <p:spPr>
          <a:xfrm>
            <a:off x="10515600" y="41605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2" name="Text 110"/>
          <p:cNvSpPr txBox="1"/>
          <p:nvPr/>
        </p:nvSpPr>
        <p:spPr>
          <a:xfrm>
            <a:off x="10808208" y="4114800"/>
            <a:ext cx="1417320" cy="603504"/>
          </a:xfrm>
          <a:prstGeom prst="rect">
            <a:avLst/>
          </a:prstGeom>
          <a:noFill/>
          <a:ln/>
        </p:spPr>
        <p:txBody>
          <a:bodyPr wrap="square" lIns="0" tIns="0" rIns="0" bIns="0" rtlCol="0" anchor="t"/>
          <a:lstStyle/>
          <a:p>
            <a:pPr marL="0" indent="0">
              <a:buNone/>
            </a:pPr>
            <a:r>
              <a:rPr lang="en-US" sz="850" dirty="0">
                <a:solidFill>
                  <a:srgbClr val="2B2B2B"/>
                </a:solidFill>
                <a:latin typeface="Arial" pitchFamily="34" charset="0"/>
                <a:ea typeface="Arial" pitchFamily="34" charset="-122"/>
                <a:cs typeface="Arial" pitchFamily="34" charset="-120"/>
              </a:rPr>
              <a:t>Slab and 18% GST on fees auto-filled from the rate card</a:t>
            </a:r>
            <a:endParaRPr lang="en-US" sz="850" dirty="0"/>
          </a:p>
        </p:txBody>
      </p:sp>
      <p:sp>
        <p:nvSpPr>
          <p:cNvPr id="113" name="Shape 111"/>
          <p:cNvSpPr/>
          <p:nvPr/>
        </p:nvSpPr>
        <p:spPr>
          <a:xfrm>
            <a:off x="7708392" y="5294376"/>
            <a:ext cx="219456" cy="219456"/>
          </a:xfrm>
          <a:prstGeom prst="ellipse">
            <a:avLst/>
          </a:prstGeom>
          <a:solidFill>
            <a:srgbClr val="E0457B"/>
          </a:solidFill>
          <a:ln w="12700">
            <a:solidFill>
              <a:srgbClr val="FFFFFF"/>
            </a:solidFill>
            <a:prstDash val="solid"/>
          </a:ln>
        </p:spPr>
        <p:txBody>
          <a:bodyPr/>
          <a:lstStyle/>
          <a:p>
            <a:endParaRPr lang="en-IN"/>
          </a:p>
        </p:txBody>
      </p:sp>
      <p:sp>
        <p:nvSpPr>
          <p:cNvPr id="114" name="Text 112"/>
          <p:cNvSpPr txBox="1"/>
          <p:nvPr/>
        </p:nvSpPr>
        <p:spPr>
          <a:xfrm>
            <a:off x="7708392" y="5294376"/>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5" name="Shape 113"/>
          <p:cNvSpPr/>
          <p:nvPr/>
        </p:nvSpPr>
        <p:spPr>
          <a:xfrm flipH="1">
            <a:off x="7946136" y="4288536"/>
            <a:ext cx="2551176" cy="1133856"/>
          </a:xfrm>
          <a:prstGeom prst="line">
            <a:avLst/>
          </a:prstGeom>
          <a:noFill/>
          <a:ln w="19050">
            <a:solidFill>
              <a:srgbClr val="E0457B"/>
            </a:solidFill>
            <a:prstDash val="solid"/>
            <a:tailEnd type="triangle"/>
          </a:ln>
        </p:spPr>
        <p:txBody>
          <a:bodyPr/>
          <a:lstStyle/>
          <a:p>
            <a:endParaRPr lang="en-IN"/>
          </a:p>
        </p:txBody>
      </p:sp>
      <p:sp>
        <p:nvSpPr>
          <p:cNvPr id="116" name="Shape 114"/>
          <p:cNvSpPr/>
          <p:nvPr/>
        </p:nvSpPr>
        <p:spPr>
          <a:xfrm>
            <a:off x="10515600" y="4782312"/>
            <a:ext cx="256032" cy="256032"/>
          </a:xfrm>
          <a:prstGeom prst="ellipse">
            <a:avLst/>
          </a:prstGeom>
          <a:solidFill>
            <a:srgbClr val="E0457B"/>
          </a:solidFill>
          <a:ln w="12700">
            <a:solidFill>
              <a:srgbClr val="FFFFFF"/>
            </a:solidFill>
            <a:prstDash val="solid"/>
          </a:ln>
        </p:spPr>
        <p:txBody>
          <a:bodyPr/>
          <a:lstStyle/>
          <a:p>
            <a:endParaRPr lang="en-IN"/>
          </a:p>
        </p:txBody>
      </p:sp>
      <p:sp>
        <p:nvSpPr>
          <p:cNvPr id="117" name="Text 115"/>
          <p:cNvSpPr txBox="1"/>
          <p:nvPr/>
        </p:nvSpPr>
        <p:spPr>
          <a:xfrm>
            <a:off x="10515600" y="478231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18" name="Text 116"/>
          <p:cNvSpPr txBox="1"/>
          <p:nvPr/>
        </p:nvSpPr>
        <p:spPr>
          <a:xfrm>
            <a:off x="10808208" y="4736592"/>
            <a:ext cx="1417320" cy="603504"/>
          </a:xfrm>
          <a:prstGeom prst="rect">
            <a:avLst/>
          </a:prstGeom>
          <a:noFill/>
          <a:ln/>
        </p:spPr>
        <p:txBody>
          <a:bodyPr wrap="square" lIns="0" tIns="0" rIns="0" bIns="0" rtlCol="0" anchor="t"/>
          <a:lstStyle/>
          <a:p>
            <a:pPr marL="0" indent="0">
              <a:buNone/>
            </a:pPr>
            <a:r>
              <a:rPr lang="en-US" sz="850" dirty="0">
                <a:solidFill>
                  <a:srgbClr val="2B2B2B"/>
                </a:solidFill>
                <a:latin typeface="Arial" pitchFamily="34" charset="0"/>
                <a:ea typeface="Arial" pitchFamily="34" charset="-122"/>
                <a:cs typeface="Arial" pitchFamily="34" charset="-120"/>
              </a:rPr>
              <a:t>Weight check flags a slab jump before saving (P5)</a:t>
            </a:r>
            <a:endParaRPr lang="en-US" sz="850" dirty="0"/>
          </a:p>
        </p:txBody>
      </p:sp>
      <p:sp>
        <p:nvSpPr>
          <p:cNvPr id="119" name="Shape 117"/>
          <p:cNvSpPr/>
          <p:nvPr/>
        </p:nvSpPr>
        <p:spPr>
          <a:xfrm>
            <a:off x="7708392" y="5541264"/>
            <a:ext cx="219456" cy="219456"/>
          </a:xfrm>
          <a:prstGeom prst="ellipse">
            <a:avLst/>
          </a:prstGeom>
          <a:solidFill>
            <a:srgbClr val="E0457B"/>
          </a:solidFill>
          <a:ln w="12700">
            <a:solidFill>
              <a:srgbClr val="FFFFFF"/>
            </a:solidFill>
            <a:prstDash val="solid"/>
          </a:ln>
        </p:spPr>
        <p:txBody>
          <a:bodyPr/>
          <a:lstStyle/>
          <a:p>
            <a:endParaRPr lang="en-IN"/>
          </a:p>
        </p:txBody>
      </p:sp>
      <p:sp>
        <p:nvSpPr>
          <p:cNvPr id="120" name="Text 118"/>
          <p:cNvSpPr txBox="1"/>
          <p:nvPr/>
        </p:nvSpPr>
        <p:spPr>
          <a:xfrm>
            <a:off x="7708392" y="5541264"/>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21" name="Shape 119"/>
          <p:cNvSpPr/>
          <p:nvPr/>
        </p:nvSpPr>
        <p:spPr>
          <a:xfrm flipH="1">
            <a:off x="7946136" y="4910328"/>
            <a:ext cx="2551176" cy="758952"/>
          </a:xfrm>
          <a:prstGeom prst="line">
            <a:avLst/>
          </a:prstGeom>
          <a:noFill/>
          <a:ln w="19050">
            <a:solidFill>
              <a:srgbClr val="E0457B"/>
            </a:solidFill>
            <a:prstDash val="solid"/>
            <a:tailEnd type="triangle"/>
          </a:ln>
        </p:spPr>
        <p:txBody>
          <a:bodyPr/>
          <a:lstStyle/>
          <a:p>
            <a:endParaRPr lang="en-IN"/>
          </a:p>
        </p:txBody>
      </p:sp>
      <p:sp>
        <p:nvSpPr>
          <p:cNvPr id="122" name="Shape 120"/>
          <p:cNvSpPr/>
          <p:nvPr/>
        </p:nvSpPr>
        <p:spPr>
          <a:xfrm>
            <a:off x="10515600" y="5404104"/>
            <a:ext cx="256032" cy="256032"/>
          </a:xfrm>
          <a:prstGeom prst="ellipse">
            <a:avLst/>
          </a:prstGeom>
          <a:solidFill>
            <a:srgbClr val="E0457B"/>
          </a:solidFill>
          <a:ln w="12700">
            <a:solidFill>
              <a:srgbClr val="FFFFFF"/>
            </a:solidFill>
            <a:prstDash val="solid"/>
          </a:ln>
        </p:spPr>
        <p:txBody>
          <a:bodyPr/>
          <a:lstStyle/>
          <a:p>
            <a:endParaRPr lang="en-IN"/>
          </a:p>
        </p:txBody>
      </p:sp>
      <p:sp>
        <p:nvSpPr>
          <p:cNvPr id="123" name="Text 121"/>
          <p:cNvSpPr txBox="1"/>
          <p:nvPr/>
        </p:nvSpPr>
        <p:spPr>
          <a:xfrm>
            <a:off x="10515600" y="5404104"/>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24" name="Text 122"/>
          <p:cNvSpPr txBox="1"/>
          <p:nvPr/>
        </p:nvSpPr>
        <p:spPr>
          <a:xfrm>
            <a:off x="10808208" y="5358384"/>
            <a:ext cx="1417320" cy="603504"/>
          </a:xfrm>
          <a:prstGeom prst="rect">
            <a:avLst/>
          </a:prstGeom>
          <a:noFill/>
          <a:ln/>
        </p:spPr>
        <p:txBody>
          <a:bodyPr wrap="square" lIns="0" tIns="0" rIns="0" bIns="0" rtlCol="0" anchor="t"/>
          <a:lstStyle/>
          <a:p>
            <a:pPr marL="0" indent="0">
              <a:buNone/>
            </a:pPr>
            <a:r>
              <a:rPr lang="en-US" sz="850" dirty="0">
                <a:solidFill>
                  <a:srgbClr val="2B2B2B"/>
                </a:solidFill>
                <a:latin typeface="Arial" pitchFamily="34" charset="0"/>
                <a:ea typeface="Arial" pitchFamily="34" charset="-122"/>
                <a:cs typeface="Arial" pitchFamily="34" charset="-120"/>
              </a:rPr>
              <a:t>What-if levers show which change makes the SKU viable</a:t>
            </a:r>
            <a:endParaRPr lang="en-US" sz="850" dirty="0"/>
          </a:p>
        </p:txBody>
      </p:sp>
      <p:sp>
        <p:nvSpPr>
          <p:cNvPr id="125" name="Shape 123"/>
          <p:cNvSpPr/>
          <p:nvPr/>
        </p:nvSpPr>
        <p:spPr>
          <a:xfrm>
            <a:off x="8970264" y="5943600"/>
            <a:ext cx="219456" cy="219456"/>
          </a:xfrm>
          <a:prstGeom prst="ellipse">
            <a:avLst/>
          </a:prstGeom>
          <a:solidFill>
            <a:srgbClr val="E0457B"/>
          </a:solidFill>
          <a:ln w="12700">
            <a:solidFill>
              <a:srgbClr val="FFFFFF"/>
            </a:solidFill>
            <a:prstDash val="solid"/>
          </a:ln>
        </p:spPr>
        <p:txBody>
          <a:bodyPr/>
          <a:lstStyle/>
          <a:p>
            <a:endParaRPr lang="en-IN"/>
          </a:p>
        </p:txBody>
      </p:sp>
      <p:sp>
        <p:nvSpPr>
          <p:cNvPr id="126" name="Text 124"/>
          <p:cNvSpPr txBox="1"/>
          <p:nvPr/>
        </p:nvSpPr>
        <p:spPr>
          <a:xfrm>
            <a:off x="8970264" y="5943600"/>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27" name="Shape 125"/>
          <p:cNvSpPr/>
          <p:nvPr/>
        </p:nvSpPr>
        <p:spPr>
          <a:xfrm flipH="1">
            <a:off x="9208008" y="5532120"/>
            <a:ext cx="1289304" cy="539496"/>
          </a:xfrm>
          <a:prstGeom prst="line">
            <a:avLst/>
          </a:prstGeom>
          <a:noFill/>
          <a:ln w="19050">
            <a:solidFill>
              <a:srgbClr val="E0457B"/>
            </a:solidFill>
            <a:prstDash val="solid"/>
            <a:tailEnd type="triangle"/>
          </a:ln>
        </p:spPr>
        <p:txBody>
          <a:bodyPr/>
          <a:lstStyle/>
          <a:p>
            <a:endParaRPr lang="en-IN"/>
          </a:p>
        </p:txBody>
      </p:sp>
      <p:sp>
        <p:nvSpPr>
          <p:cNvPr id="128" name="Shape 126"/>
          <p:cNvSpPr/>
          <p:nvPr/>
        </p:nvSpPr>
        <p:spPr>
          <a:xfrm>
            <a:off x="10515600" y="6025896"/>
            <a:ext cx="256032" cy="256032"/>
          </a:xfrm>
          <a:prstGeom prst="ellipse">
            <a:avLst/>
          </a:prstGeom>
          <a:solidFill>
            <a:srgbClr val="E0457B"/>
          </a:solidFill>
          <a:ln w="12700">
            <a:solidFill>
              <a:srgbClr val="FFFFFF"/>
            </a:solidFill>
            <a:prstDash val="solid"/>
          </a:ln>
        </p:spPr>
        <p:txBody>
          <a:bodyPr/>
          <a:lstStyle/>
          <a:p>
            <a:endParaRPr lang="en-IN"/>
          </a:p>
        </p:txBody>
      </p:sp>
      <p:sp>
        <p:nvSpPr>
          <p:cNvPr id="129" name="Text 127"/>
          <p:cNvSpPr txBox="1"/>
          <p:nvPr/>
        </p:nvSpPr>
        <p:spPr>
          <a:xfrm>
            <a:off x="10515600" y="6025896"/>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30" name="Text 128"/>
          <p:cNvSpPr txBox="1"/>
          <p:nvPr/>
        </p:nvSpPr>
        <p:spPr>
          <a:xfrm>
            <a:off x="10808208" y="5980176"/>
            <a:ext cx="1417320" cy="603504"/>
          </a:xfrm>
          <a:prstGeom prst="rect">
            <a:avLst/>
          </a:prstGeom>
          <a:noFill/>
          <a:ln/>
        </p:spPr>
        <p:txBody>
          <a:bodyPr wrap="square" lIns="0" tIns="0" rIns="0" bIns="0" rtlCol="0" anchor="t"/>
          <a:lstStyle/>
          <a:p>
            <a:pPr marL="0" indent="0">
              <a:buNone/>
            </a:pPr>
            <a:r>
              <a:rPr lang="en-US" sz="850" dirty="0">
                <a:solidFill>
                  <a:srgbClr val="2B2B2B"/>
                </a:solidFill>
                <a:latin typeface="Arial" pitchFamily="34" charset="0"/>
                <a:ea typeface="Arial" pitchFamily="34" charset="-122"/>
                <a:cs typeface="Arial" pitchFamily="34" charset="-120"/>
              </a:rPr>
              <a:t>Category RTO / return rates, editable; RTO and returns costed separately</a:t>
            </a:r>
            <a:endParaRPr lang="en-US" sz="850" dirty="0"/>
          </a:p>
        </p:txBody>
      </p:sp>
      <p:sp>
        <p:nvSpPr>
          <p:cNvPr id="131" name="Shape 129"/>
          <p:cNvSpPr/>
          <p:nvPr/>
        </p:nvSpPr>
        <p:spPr>
          <a:xfrm>
            <a:off x="7708392" y="5998464"/>
            <a:ext cx="219456" cy="219456"/>
          </a:xfrm>
          <a:prstGeom prst="ellipse">
            <a:avLst/>
          </a:prstGeom>
          <a:solidFill>
            <a:srgbClr val="E0457B"/>
          </a:solidFill>
          <a:ln w="12700">
            <a:solidFill>
              <a:srgbClr val="FFFFFF"/>
            </a:solidFill>
            <a:prstDash val="solid"/>
          </a:ln>
        </p:spPr>
        <p:txBody>
          <a:bodyPr/>
          <a:lstStyle/>
          <a:p>
            <a:endParaRPr lang="en-IN"/>
          </a:p>
        </p:txBody>
      </p:sp>
      <p:sp>
        <p:nvSpPr>
          <p:cNvPr id="132" name="Text 130"/>
          <p:cNvSpPr txBox="1"/>
          <p:nvPr/>
        </p:nvSpPr>
        <p:spPr>
          <a:xfrm>
            <a:off x="7708392" y="5998464"/>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33" name="Shape 131"/>
          <p:cNvSpPr/>
          <p:nvPr/>
        </p:nvSpPr>
        <p:spPr>
          <a:xfrm flipH="1" flipV="1">
            <a:off x="7946136" y="6126480"/>
            <a:ext cx="2551176" cy="27432"/>
          </a:xfrm>
          <a:prstGeom prst="line">
            <a:avLst/>
          </a:prstGeom>
          <a:noFill/>
          <a:ln w="19050">
            <a:solidFill>
              <a:srgbClr val="E0457B"/>
            </a:solidFill>
            <a:prstDash val="solid"/>
            <a:tailEnd type="triangle"/>
          </a:ln>
        </p:spPr>
        <p:txBody>
          <a:bodyPr/>
          <a:lstStyle/>
          <a:p>
            <a:endParaRPr lang="en-IN"/>
          </a:p>
        </p:txBody>
      </p:sp>
      <p:sp>
        <p:nvSpPr>
          <p:cNvPr id="134" name="Text 132"/>
          <p:cNvSpPr txBox="1"/>
          <p:nvPr/>
        </p:nvSpPr>
        <p:spPr>
          <a:xfrm>
            <a:off x="5989320" y="6720840"/>
            <a:ext cx="6217920" cy="329184"/>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User flow</a:t>
            </a:r>
            <a:endParaRPr lang="en-US" sz="1400" dirty="0"/>
          </a:p>
        </p:txBody>
      </p:sp>
      <p:sp>
        <p:nvSpPr>
          <p:cNvPr id="135" name="Shape 133"/>
          <p:cNvSpPr/>
          <p:nvPr/>
        </p:nvSpPr>
        <p:spPr>
          <a:xfrm>
            <a:off x="5989320" y="7059168"/>
            <a:ext cx="1325880" cy="566928"/>
          </a:xfrm>
          <a:prstGeom prst="chevron">
            <a:avLst/>
          </a:prstGeom>
          <a:solidFill>
            <a:srgbClr val="5B0F4E"/>
          </a:solidFill>
          <a:ln w="6350">
            <a:solidFill>
              <a:srgbClr val="FFFFFF"/>
            </a:solidFill>
            <a:prstDash val="solid"/>
          </a:ln>
        </p:spPr>
        <p:txBody>
          <a:bodyPr/>
          <a:lstStyle/>
          <a:p>
            <a:endParaRPr lang="en-IN" sz="1000"/>
          </a:p>
        </p:txBody>
      </p:sp>
      <p:sp>
        <p:nvSpPr>
          <p:cNvPr id="136" name="Text 134"/>
          <p:cNvSpPr txBox="1"/>
          <p:nvPr/>
        </p:nvSpPr>
        <p:spPr>
          <a:xfrm>
            <a:off x="6172200" y="7059168"/>
            <a:ext cx="1005840" cy="56692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Enter cost</a:t>
            </a:r>
            <a:endParaRPr lang="en-US" sz="1000" dirty="0"/>
          </a:p>
        </p:txBody>
      </p:sp>
      <p:sp>
        <p:nvSpPr>
          <p:cNvPr id="137" name="Shape 135"/>
          <p:cNvSpPr/>
          <p:nvPr/>
        </p:nvSpPr>
        <p:spPr>
          <a:xfrm>
            <a:off x="7242048" y="7059168"/>
            <a:ext cx="1325880" cy="566928"/>
          </a:xfrm>
          <a:prstGeom prst="chevron">
            <a:avLst/>
          </a:prstGeom>
          <a:solidFill>
            <a:srgbClr val="8C5A80"/>
          </a:solidFill>
          <a:ln w="6350">
            <a:solidFill>
              <a:srgbClr val="FFFFFF"/>
            </a:solidFill>
            <a:prstDash val="solid"/>
          </a:ln>
        </p:spPr>
        <p:txBody>
          <a:bodyPr/>
          <a:lstStyle/>
          <a:p>
            <a:endParaRPr lang="en-IN" sz="1000"/>
          </a:p>
        </p:txBody>
      </p:sp>
      <p:sp>
        <p:nvSpPr>
          <p:cNvPr id="138" name="Text 136"/>
          <p:cNvSpPr txBox="1"/>
          <p:nvPr/>
        </p:nvSpPr>
        <p:spPr>
          <a:xfrm>
            <a:off x="7488936" y="7077456"/>
            <a:ext cx="1005840" cy="56692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Add weight &amp; box</a:t>
            </a:r>
            <a:endParaRPr lang="en-US" sz="1000" dirty="0"/>
          </a:p>
        </p:txBody>
      </p:sp>
      <p:sp>
        <p:nvSpPr>
          <p:cNvPr id="139" name="Shape 137"/>
          <p:cNvSpPr/>
          <p:nvPr/>
        </p:nvSpPr>
        <p:spPr>
          <a:xfrm>
            <a:off x="8494776" y="7059168"/>
            <a:ext cx="1325880" cy="566928"/>
          </a:xfrm>
          <a:prstGeom prst="chevron">
            <a:avLst/>
          </a:prstGeom>
          <a:solidFill>
            <a:srgbClr val="5B0F4E"/>
          </a:solidFill>
          <a:ln w="6350">
            <a:solidFill>
              <a:srgbClr val="FFFFFF"/>
            </a:solidFill>
            <a:prstDash val="solid"/>
          </a:ln>
        </p:spPr>
        <p:txBody>
          <a:bodyPr/>
          <a:lstStyle/>
          <a:p>
            <a:endParaRPr lang="en-IN" sz="1000"/>
          </a:p>
        </p:txBody>
      </p:sp>
      <p:sp>
        <p:nvSpPr>
          <p:cNvPr id="140" name="Text 138"/>
          <p:cNvSpPr txBox="1"/>
          <p:nvPr/>
        </p:nvSpPr>
        <p:spPr>
          <a:xfrm>
            <a:off x="8677656" y="7059168"/>
            <a:ext cx="1005840" cy="56692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Check returns</a:t>
            </a:r>
            <a:endParaRPr lang="en-US" sz="1000" dirty="0"/>
          </a:p>
        </p:txBody>
      </p:sp>
      <p:sp>
        <p:nvSpPr>
          <p:cNvPr id="141" name="Shape 139"/>
          <p:cNvSpPr/>
          <p:nvPr/>
        </p:nvSpPr>
        <p:spPr>
          <a:xfrm>
            <a:off x="9747504" y="7059168"/>
            <a:ext cx="1325880" cy="566928"/>
          </a:xfrm>
          <a:prstGeom prst="chevron">
            <a:avLst/>
          </a:prstGeom>
          <a:solidFill>
            <a:srgbClr val="8C5A80"/>
          </a:solidFill>
          <a:ln w="6350">
            <a:solidFill>
              <a:srgbClr val="FFFFFF"/>
            </a:solidFill>
            <a:prstDash val="solid"/>
          </a:ln>
        </p:spPr>
        <p:txBody>
          <a:bodyPr/>
          <a:lstStyle/>
          <a:p>
            <a:endParaRPr lang="en-IN" sz="1000"/>
          </a:p>
        </p:txBody>
      </p:sp>
      <p:sp>
        <p:nvSpPr>
          <p:cNvPr id="142" name="Text 140"/>
          <p:cNvSpPr txBox="1"/>
          <p:nvPr/>
        </p:nvSpPr>
        <p:spPr>
          <a:xfrm>
            <a:off x="9994392" y="7050024"/>
            <a:ext cx="1005840" cy="56692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See floor &amp; ₹ split</a:t>
            </a:r>
            <a:endParaRPr lang="en-US" sz="1000" dirty="0"/>
          </a:p>
        </p:txBody>
      </p:sp>
      <p:sp>
        <p:nvSpPr>
          <p:cNvPr id="143" name="Shape 141"/>
          <p:cNvSpPr/>
          <p:nvPr/>
        </p:nvSpPr>
        <p:spPr>
          <a:xfrm>
            <a:off x="11000232" y="7059168"/>
            <a:ext cx="1325880" cy="566928"/>
          </a:xfrm>
          <a:prstGeom prst="chevron">
            <a:avLst/>
          </a:prstGeom>
          <a:solidFill>
            <a:srgbClr val="5B0F4E"/>
          </a:solidFill>
          <a:ln w="6350">
            <a:solidFill>
              <a:srgbClr val="FFFFFF"/>
            </a:solidFill>
            <a:prstDash val="solid"/>
          </a:ln>
        </p:spPr>
        <p:txBody>
          <a:bodyPr/>
          <a:lstStyle/>
          <a:p>
            <a:endParaRPr lang="en-IN" sz="1000"/>
          </a:p>
        </p:txBody>
      </p:sp>
      <p:sp>
        <p:nvSpPr>
          <p:cNvPr id="144" name="Text 142"/>
          <p:cNvSpPr txBox="1"/>
          <p:nvPr/>
        </p:nvSpPr>
        <p:spPr>
          <a:xfrm>
            <a:off x="11183112" y="7059168"/>
            <a:ext cx="1005840" cy="56692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Pull lever, list</a:t>
            </a:r>
            <a:endParaRPr lang="en-US" sz="1000" dirty="0"/>
          </a:p>
        </p:txBody>
      </p:sp>
      <p:sp>
        <p:nvSpPr>
          <p:cNvPr id="145" name="Text 143"/>
          <p:cNvSpPr txBox="1"/>
          <p:nvPr/>
        </p:nvSpPr>
        <p:spPr>
          <a:xfrm>
            <a:off x="5989320" y="7790688"/>
            <a:ext cx="4526280" cy="329184"/>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System architecture</a:t>
            </a:r>
            <a:endParaRPr lang="en-US" sz="1400" dirty="0"/>
          </a:p>
        </p:txBody>
      </p:sp>
      <p:sp>
        <p:nvSpPr>
          <p:cNvPr id="146" name="Shape 144"/>
          <p:cNvSpPr/>
          <p:nvPr/>
        </p:nvSpPr>
        <p:spPr>
          <a:xfrm>
            <a:off x="5989320" y="8065008"/>
            <a:ext cx="1371600" cy="1298448"/>
          </a:xfrm>
          <a:prstGeom prst="roundRect">
            <a:avLst>
              <a:gd name="adj" fmla="val 5634"/>
            </a:avLst>
          </a:prstGeom>
          <a:solidFill>
            <a:srgbClr val="F4F4F4"/>
          </a:solidFill>
          <a:ln w="12700">
            <a:solidFill>
              <a:srgbClr val="F4F4F4"/>
            </a:solidFill>
            <a:prstDash val="solid"/>
          </a:ln>
        </p:spPr>
        <p:txBody>
          <a:bodyPr/>
          <a:lstStyle/>
          <a:p>
            <a:endParaRPr lang="en-IN"/>
          </a:p>
        </p:txBody>
      </p:sp>
      <p:sp>
        <p:nvSpPr>
          <p:cNvPr id="147" name="Text 145"/>
          <p:cNvSpPr txBox="1"/>
          <p:nvPr/>
        </p:nvSpPr>
        <p:spPr>
          <a:xfrm>
            <a:off x="6044184" y="8092440"/>
            <a:ext cx="1261872" cy="292608"/>
          </a:xfrm>
          <a:prstGeom prst="rect">
            <a:avLst/>
          </a:prstGeom>
          <a:noFill/>
          <a:ln/>
        </p:spPr>
        <p:txBody>
          <a:bodyPr wrap="square" lIns="0" tIns="0" rIns="0" bIns="0" rtlCol="0" anchor="t"/>
          <a:lstStyle/>
          <a:p>
            <a:pPr marL="0" indent="0">
              <a:buNone/>
            </a:pPr>
            <a:r>
              <a:rPr lang="en-US" sz="1050" b="1" dirty="0">
                <a:solidFill>
                  <a:srgbClr val="5B0F4E"/>
                </a:solidFill>
                <a:latin typeface="Arial" pitchFamily="34" charset="0"/>
                <a:ea typeface="Arial" pitchFamily="34" charset="-122"/>
                <a:cs typeface="Arial" pitchFamily="34" charset="-120"/>
              </a:rPr>
              <a:t>Inputs</a:t>
            </a:r>
            <a:endParaRPr lang="en-US" sz="1050" dirty="0"/>
          </a:p>
        </p:txBody>
      </p:sp>
      <p:sp>
        <p:nvSpPr>
          <p:cNvPr id="148" name="Text 146"/>
          <p:cNvSpPr txBox="1"/>
          <p:nvPr/>
        </p:nvSpPr>
        <p:spPr>
          <a:xfrm>
            <a:off x="6126480" y="8397240"/>
            <a:ext cx="1078992" cy="969264"/>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Seller: cost, weight, box, zone · Meesho: rate card, category priors</a:t>
            </a:r>
            <a:endParaRPr lang="en-US" sz="1000" dirty="0"/>
          </a:p>
        </p:txBody>
      </p:sp>
      <p:sp>
        <p:nvSpPr>
          <p:cNvPr id="149" name="Shape 147"/>
          <p:cNvSpPr/>
          <p:nvPr/>
        </p:nvSpPr>
        <p:spPr>
          <a:xfrm>
            <a:off x="7379208" y="8595360"/>
            <a:ext cx="182880" cy="219456"/>
          </a:xfrm>
          <a:prstGeom prst="rightArrow">
            <a:avLst/>
          </a:prstGeom>
          <a:solidFill>
            <a:srgbClr val="5B0F4E"/>
          </a:solidFill>
          <a:ln w="12700">
            <a:solidFill>
              <a:srgbClr val="5B0F4E"/>
            </a:solidFill>
            <a:prstDash val="solid"/>
          </a:ln>
        </p:spPr>
        <p:txBody>
          <a:bodyPr/>
          <a:lstStyle/>
          <a:p>
            <a:endParaRPr lang="en-IN" sz="1000"/>
          </a:p>
        </p:txBody>
      </p:sp>
      <p:sp>
        <p:nvSpPr>
          <p:cNvPr id="150" name="Shape 148"/>
          <p:cNvSpPr/>
          <p:nvPr/>
        </p:nvSpPr>
        <p:spPr>
          <a:xfrm>
            <a:off x="7571232" y="8065008"/>
            <a:ext cx="1371600" cy="1298448"/>
          </a:xfrm>
          <a:prstGeom prst="roundRect">
            <a:avLst>
              <a:gd name="adj" fmla="val 5634"/>
            </a:avLst>
          </a:prstGeom>
          <a:solidFill>
            <a:srgbClr val="FFF1DC"/>
          </a:solidFill>
          <a:ln w="12700">
            <a:solidFill>
              <a:srgbClr val="FFF1DC"/>
            </a:solidFill>
            <a:prstDash val="solid"/>
          </a:ln>
        </p:spPr>
        <p:txBody>
          <a:bodyPr/>
          <a:lstStyle/>
          <a:p>
            <a:endParaRPr lang="en-IN"/>
          </a:p>
        </p:txBody>
      </p:sp>
      <p:sp>
        <p:nvSpPr>
          <p:cNvPr id="151" name="Text 149"/>
          <p:cNvSpPr txBox="1"/>
          <p:nvPr/>
        </p:nvSpPr>
        <p:spPr>
          <a:xfrm>
            <a:off x="7626096" y="8092440"/>
            <a:ext cx="1261872" cy="292608"/>
          </a:xfrm>
          <a:prstGeom prst="rect">
            <a:avLst/>
          </a:prstGeom>
          <a:noFill/>
          <a:ln/>
        </p:spPr>
        <p:txBody>
          <a:bodyPr wrap="square" lIns="0" tIns="0" rIns="0" bIns="0" rtlCol="0" anchor="t"/>
          <a:lstStyle/>
          <a:p>
            <a:pPr marL="0" indent="0">
              <a:buNone/>
            </a:pPr>
            <a:r>
              <a:rPr lang="en-US" sz="1050" b="1" dirty="0">
                <a:solidFill>
                  <a:srgbClr val="C9660A"/>
                </a:solidFill>
                <a:latin typeface="Arial" pitchFamily="34" charset="0"/>
                <a:ea typeface="Arial" pitchFamily="34" charset="-122"/>
                <a:cs typeface="Arial" pitchFamily="34" charset="-120"/>
              </a:rPr>
              <a:t>Engine</a:t>
            </a:r>
            <a:endParaRPr lang="en-US" sz="1050" dirty="0"/>
          </a:p>
        </p:txBody>
      </p:sp>
      <p:sp>
        <p:nvSpPr>
          <p:cNvPr id="152" name="Text 150"/>
          <p:cNvSpPr txBox="1"/>
          <p:nvPr/>
        </p:nvSpPr>
        <p:spPr>
          <a:xfrm>
            <a:off x="7708392" y="8434832"/>
            <a:ext cx="1051560" cy="969264"/>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Billable kg → slab → S; RTO vs return cost; floor formula</a:t>
            </a:r>
            <a:endParaRPr lang="en-US" sz="1000" dirty="0"/>
          </a:p>
        </p:txBody>
      </p:sp>
      <p:sp>
        <p:nvSpPr>
          <p:cNvPr id="153" name="Shape 151"/>
          <p:cNvSpPr/>
          <p:nvPr/>
        </p:nvSpPr>
        <p:spPr>
          <a:xfrm>
            <a:off x="8961120" y="8595360"/>
            <a:ext cx="182880" cy="219456"/>
          </a:xfrm>
          <a:prstGeom prst="rightArrow">
            <a:avLst/>
          </a:prstGeom>
          <a:solidFill>
            <a:srgbClr val="5B0F4E"/>
          </a:solidFill>
          <a:ln w="12700">
            <a:solidFill>
              <a:srgbClr val="5B0F4E"/>
            </a:solidFill>
            <a:prstDash val="solid"/>
          </a:ln>
        </p:spPr>
        <p:txBody>
          <a:bodyPr/>
          <a:lstStyle/>
          <a:p>
            <a:endParaRPr lang="en-IN" sz="1000"/>
          </a:p>
        </p:txBody>
      </p:sp>
      <p:sp>
        <p:nvSpPr>
          <p:cNvPr id="154" name="Shape 152"/>
          <p:cNvSpPr/>
          <p:nvPr/>
        </p:nvSpPr>
        <p:spPr>
          <a:xfrm>
            <a:off x="9153144" y="8065008"/>
            <a:ext cx="1371600" cy="1298448"/>
          </a:xfrm>
          <a:prstGeom prst="roundRect">
            <a:avLst>
              <a:gd name="adj" fmla="val 5634"/>
            </a:avLst>
          </a:prstGeom>
          <a:solidFill>
            <a:srgbClr val="F4F4F4"/>
          </a:solidFill>
          <a:ln w="12700">
            <a:solidFill>
              <a:srgbClr val="F4F4F4"/>
            </a:solidFill>
            <a:prstDash val="solid"/>
          </a:ln>
        </p:spPr>
        <p:txBody>
          <a:bodyPr/>
          <a:lstStyle/>
          <a:p>
            <a:endParaRPr lang="en-IN"/>
          </a:p>
        </p:txBody>
      </p:sp>
      <p:sp>
        <p:nvSpPr>
          <p:cNvPr id="155" name="Text 153"/>
          <p:cNvSpPr txBox="1"/>
          <p:nvPr/>
        </p:nvSpPr>
        <p:spPr>
          <a:xfrm>
            <a:off x="9208008" y="8092440"/>
            <a:ext cx="1261872" cy="292608"/>
          </a:xfrm>
          <a:prstGeom prst="rect">
            <a:avLst/>
          </a:prstGeom>
          <a:noFill/>
          <a:ln/>
        </p:spPr>
        <p:txBody>
          <a:bodyPr wrap="square" lIns="0" tIns="0" rIns="0" bIns="0" rtlCol="0" anchor="t"/>
          <a:lstStyle/>
          <a:p>
            <a:pPr marL="0" indent="0">
              <a:buNone/>
            </a:pPr>
            <a:r>
              <a:rPr lang="en-US" sz="1050" b="1" dirty="0">
                <a:solidFill>
                  <a:srgbClr val="5B0F4E"/>
                </a:solidFill>
                <a:latin typeface="Arial" pitchFamily="34" charset="0"/>
                <a:ea typeface="Arial" pitchFamily="34" charset="-122"/>
                <a:cs typeface="Arial" pitchFamily="34" charset="-120"/>
              </a:rPr>
              <a:t>Outputs</a:t>
            </a:r>
            <a:endParaRPr lang="en-US" sz="1050" dirty="0"/>
          </a:p>
        </p:txBody>
      </p:sp>
      <p:sp>
        <p:nvSpPr>
          <p:cNvPr id="156" name="Text 154"/>
          <p:cNvSpPr txBox="1"/>
          <p:nvPr/>
        </p:nvSpPr>
        <p:spPr>
          <a:xfrm>
            <a:off x="9368028" y="8410448"/>
            <a:ext cx="1014984" cy="969264"/>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Floor, min price, price → bank → profit, weight alert</a:t>
            </a:r>
            <a:endParaRPr lang="en-US" sz="1000" dirty="0"/>
          </a:p>
        </p:txBody>
      </p:sp>
      <p:sp>
        <p:nvSpPr>
          <p:cNvPr id="157" name="Shape 155"/>
          <p:cNvSpPr/>
          <p:nvPr/>
        </p:nvSpPr>
        <p:spPr>
          <a:xfrm>
            <a:off x="10543032" y="8595360"/>
            <a:ext cx="182880" cy="219456"/>
          </a:xfrm>
          <a:prstGeom prst="rightArrow">
            <a:avLst/>
          </a:prstGeom>
          <a:solidFill>
            <a:srgbClr val="5B0F4E"/>
          </a:solidFill>
          <a:ln w="12700">
            <a:solidFill>
              <a:srgbClr val="5B0F4E"/>
            </a:solidFill>
            <a:prstDash val="solid"/>
          </a:ln>
        </p:spPr>
        <p:txBody>
          <a:bodyPr/>
          <a:lstStyle/>
          <a:p>
            <a:endParaRPr lang="en-IN" sz="1000"/>
          </a:p>
        </p:txBody>
      </p:sp>
      <p:sp>
        <p:nvSpPr>
          <p:cNvPr id="158" name="Shape 156"/>
          <p:cNvSpPr/>
          <p:nvPr/>
        </p:nvSpPr>
        <p:spPr>
          <a:xfrm>
            <a:off x="10735056" y="8065008"/>
            <a:ext cx="1371600" cy="1298448"/>
          </a:xfrm>
          <a:prstGeom prst="roundRect">
            <a:avLst>
              <a:gd name="adj" fmla="val 5634"/>
            </a:avLst>
          </a:prstGeom>
          <a:solidFill>
            <a:srgbClr val="F4F4F4"/>
          </a:solidFill>
          <a:ln w="12700">
            <a:solidFill>
              <a:srgbClr val="F4F4F4"/>
            </a:solidFill>
            <a:prstDash val="solid"/>
          </a:ln>
        </p:spPr>
        <p:txBody>
          <a:bodyPr/>
          <a:lstStyle/>
          <a:p>
            <a:endParaRPr lang="en-IN"/>
          </a:p>
        </p:txBody>
      </p:sp>
      <p:sp>
        <p:nvSpPr>
          <p:cNvPr id="159" name="Text 157"/>
          <p:cNvSpPr txBox="1"/>
          <p:nvPr/>
        </p:nvSpPr>
        <p:spPr>
          <a:xfrm>
            <a:off x="10789920" y="8092440"/>
            <a:ext cx="1261872" cy="292608"/>
          </a:xfrm>
          <a:prstGeom prst="rect">
            <a:avLst/>
          </a:prstGeom>
          <a:noFill/>
          <a:ln/>
        </p:spPr>
        <p:txBody>
          <a:bodyPr wrap="square" lIns="0" tIns="0" rIns="0" bIns="0" rtlCol="0" anchor="t"/>
          <a:lstStyle/>
          <a:p>
            <a:pPr marL="0" indent="0">
              <a:buNone/>
            </a:pPr>
            <a:r>
              <a:rPr lang="en-US" sz="1050" b="1" dirty="0">
                <a:solidFill>
                  <a:srgbClr val="5B0F4E"/>
                </a:solidFill>
                <a:latin typeface="Arial" pitchFamily="34" charset="0"/>
                <a:ea typeface="Arial" pitchFamily="34" charset="-122"/>
                <a:cs typeface="Arial" pitchFamily="34" charset="-120"/>
              </a:rPr>
              <a:t>Touchpoint</a:t>
            </a:r>
            <a:endParaRPr lang="en-US" sz="1050" dirty="0"/>
          </a:p>
        </p:txBody>
      </p:sp>
      <p:sp>
        <p:nvSpPr>
          <p:cNvPr id="160" name="Text 158"/>
          <p:cNvSpPr txBox="1"/>
          <p:nvPr/>
        </p:nvSpPr>
        <p:spPr>
          <a:xfrm>
            <a:off x="10995152" y="8407400"/>
            <a:ext cx="1056640" cy="969264"/>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Listing flow in Supplier Panel; floor feeds Smart Band</a:t>
            </a:r>
            <a:endParaRPr lang="en-US" sz="1000" dirty="0"/>
          </a:p>
        </p:txBody>
      </p:sp>
      <p:sp>
        <p:nvSpPr>
          <p:cNvPr id="161" name="Text 159"/>
          <p:cNvSpPr txBox="1"/>
          <p:nvPr/>
        </p:nvSpPr>
        <p:spPr>
          <a:xfrm>
            <a:off x="12435840" y="3127248"/>
            <a:ext cx="5394960" cy="329184"/>
          </a:xfrm>
          <a:prstGeom prst="rect">
            <a:avLst/>
          </a:prstGeom>
          <a:noFill/>
          <a:ln/>
        </p:spPr>
        <p:txBody>
          <a:bodyPr wrap="square" lIns="0" tIns="0" rIns="0" bIns="0" rtlCol="0" anchor="t"/>
          <a:lstStyle/>
          <a:p>
            <a:pPr marL="0" indent="0">
              <a:buNone/>
            </a:pPr>
            <a:r>
              <a:rPr lang="en-US" b="1" dirty="0">
                <a:solidFill>
                  <a:srgbClr val="5B0F4E"/>
                </a:solidFill>
                <a:latin typeface="Arial" pitchFamily="34" charset="0"/>
                <a:ea typeface="Arial" pitchFamily="34" charset="-122"/>
                <a:cs typeface="Arial" pitchFamily="34" charset="-120"/>
              </a:rPr>
              <a:t>Value proposition</a:t>
            </a:r>
            <a:endParaRPr lang="en-US" dirty="0"/>
          </a:p>
        </p:txBody>
      </p:sp>
      <p:sp>
        <p:nvSpPr>
          <p:cNvPr id="162" name="Shape 160"/>
          <p:cNvSpPr/>
          <p:nvPr/>
        </p:nvSpPr>
        <p:spPr>
          <a:xfrm>
            <a:off x="12435840" y="3474720"/>
            <a:ext cx="2651760" cy="1417320"/>
          </a:xfrm>
          <a:prstGeom prst="roundRect">
            <a:avLst>
              <a:gd name="adj" fmla="val 7742"/>
            </a:avLst>
          </a:prstGeom>
          <a:solidFill>
            <a:srgbClr val="F3E8F1"/>
          </a:solidFill>
          <a:ln w="12700">
            <a:solidFill>
              <a:srgbClr val="F3E8F1"/>
            </a:solidFill>
            <a:prstDash val="solid"/>
          </a:ln>
        </p:spPr>
        <p:txBody>
          <a:bodyPr/>
          <a:lstStyle/>
          <a:p>
            <a:endParaRPr lang="en-IN"/>
          </a:p>
        </p:txBody>
      </p:sp>
      <p:sp>
        <p:nvSpPr>
          <p:cNvPr id="163" name="Text 161"/>
          <p:cNvSpPr txBox="1"/>
          <p:nvPr/>
        </p:nvSpPr>
        <p:spPr>
          <a:xfrm>
            <a:off x="12527280" y="3575304"/>
            <a:ext cx="2468880" cy="274320"/>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For the seller</a:t>
            </a:r>
            <a:endParaRPr lang="en-US" sz="1400" dirty="0"/>
          </a:p>
        </p:txBody>
      </p:sp>
      <p:sp>
        <p:nvSpPr>
          <p:cNvPr id="164" name="Text 162"/>
          <p:cNvSpPr txBox="1"/>
          <p:nvPr/>
        </p:nvSpPr>
        <p:spPr>
          <a:xfrm>
            <a:off x="12527280" y="3794760"/>
            <a:ext cx="2468880" cy="1078992"/>
          </a:xfrm>
          <a:prstGeom prst="rect">
            <a:avLst/>
          </a:prstGeom>
          <a:noFill/>
          <a:ln/>
        </p:spPr>
        <p:txBody>
          <a:bodyPr wrap="square" lIns="0" tIns="0" rIns="0" bIns="0" rtlCol="0" anchor="t"/>
          <a:lstStyle/>
          <a:p>
            <a:pPr marL="0" indent="0">
              <a:buNone/>
            </a:pPr>
            <a:r>
              <a:rPr lang="en-US" sz="1200" dirty="0">
                <a:solidFill>
                  <a:srgbClr val="2B2B2B"/>
                </a:solidFill>
                <a:latin typeface="Arial" pitchFamily="34" charset="0"/>
                <a:ea typeface="Arial" pitchFamily="34" charset="-122"/>
                <a:cs typeface="Arial" pitchFamily="34" charset="-120"/>
              </a:rPr>
              <a:t>Know, in rupees and before listing, the lowest price that won't lose money, and which lever (returns, packing, sourcing) fixes a loss-making SKU.</a:t>
            </a:r>
            <a:endParaRPr lang="en-US" sz="1200" dirty="0"/>
          </a:p>
        </p:txBody>
      </p:sp>
      <p:sp>
        <p:nvSpPr>
          <p:cNvPr id="165" name="Shape 163"/>
          <p:cNvSpPr/>
          <p:nvPr/>
        </p:nvSpPr>
        <p:spPr>
          <a:xfrm>
            <a:off x="15179040" y="3474720"/>
            <a:ext cx="2651760" cy="1417320"/>
          </a:xfrm>
          <a:prstGeom prst="roundRect">
            <a:avLst>
              <a:gd name="adj" fmla="val 7742"/>
            </a:avLst>
          </a:prstGeom>
          <a:solidFill>
            <a:srgbClr val="FFF1DC"/>
          </a:solidFill>
          <a:ln w="12700">
            <a:solidFill>
              <a:srgbClr val="FFF1DC"/>
            </a:solidFill>
            <a:prstDash val="solid"/>
          </a:ln>
        </p:spPr>
        <p:txBody>
          <a:bodyPr/>
          <a:lstStyle/>
          <a:p>
            <a:endParaRPr lang="en-IN"/>
          </a:p>
        </p:txBody>
      </p:sp>
      <p:sp>
        <p:nvSpPr>
          <p:cNvPr id="166" name="Text 164"/>
          <p:cNvSpPr txBox="1"/>
          <p:nvPr/>
        </p:nvSpPr>
        <p:spPr>
          <a:xfrm>
            <a:off x="15270480" y="3538728"/>
            <a:ext cx="2468880" cy="274320"/>
          </a:xfrm>
          <a:prstGeom prst="rect">
            <a:avLst/>
          </a:prstGeom>
          <a:noFill/>
          <a:ln/>
        </p:spPr>
        <p:txBody>
          <a:bodyPr wrap="square" lIns="0" tIns="0" rIns="0" bIns="0" rtlCol="0" anchor="t"/>
          <a:lstStyle/>
          <a:p>
            <a:pPr marL="0" indent="0">
              <a:buNone/>
            </a:pPr>
            <a:r>
              <a:rPr lang="en-US" sz="1400" b="1" dirty="0">
                <a:solidFill>
                  <a:srgbClr val="C9660A"/>
                </a:solidFill>
                <a:latin typeface="Arial" pitchFamily="34" charset="0"/>
                <a:ea typeface="Arial" pitchFamily="34" charset="-122"/>
                <a:cs typeface="Arial" pitchFamily="34" charset="-120"/>
              </a:rPr>
              <a:t>For Meesho</a:t>
            </a:r>
            <a:endParaRPr lang="en-US" sz="1400" dirty="0"/>
          </a:p>
        </p:txBody>
      </p:sp>
      <p:sp>
        <p:nvSpPr>
          <p:cNvPr id="167" name="Text 165"/>
          <p:cNvSpPr txBox="1"/>
          <p:nvPr/>
        </p:nvSpPr>
        <p:spPr>
          <a:xfrm>
            <a:off x="15270480" y="3794760"/>
            <a:ext cx="2468880" cy="1078992"/>
          </a:xfrm>
          <a:prstGeom prst="rect">
            <a:avLst/>
          </a:prstGeom>
          <a:noFill/>
          <a:ln/>
        </p:spPr>
        <p:txBody>
          <a:bodyPr wrap="square" lIns="0" tIns="0" rIns="0" bIns="0" rtlCol="0" anchor="t"/>
          <a:lstStyle/>
          <a:p>
            <a:pPr marL="0" indent="0">
              <a:buNone/>
            </a:pPr>
            <a:r>
              <a:rPr lang="en-US" sz="1200" dirty="0">
                <a:solidFill>
                  <a:srgbClr val="2B2B2B"/>
                </a:solidFill>
                <a:latin typeface="Arial" pitchFamily="34" charset="0"/>
                <a:ea typeface="Arial" pitchFamily="34" charset="-122"/>
                <a:cs typeface="Arial" pitchFamily="34" charset="-120"/>
              </a:rPr>
              <a:t>Fewer loss-making listings and slab disputes, so fewer new sellers churn; every saved seller keeps generating ~₹47 revenue per order.</a:t>
            </a:r>
            <a:endParaRPr lang="en-US" sz="1200" dirty="0"/>
          </a:p>
        </p:txBody>
      </p:sp>
      <p:sp>
        <p:nvSpPr>
          <p:cNvPr id="168" name="Text 166"/>
          <p:cNvSpPr txBox="1"/>
          <p:nvPr/>
        </p:nvSpPr>
        <p:spPr>
          <a:xfrm>
            <a:off x="12435840" y="5010912"/>
            <a:ext cx="5394960" cy="329184"/>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Does this actually solve the problem?</a:t>
            </a:r>
            <a:endParaRPr lang="en-US" sz="1400" dirty="0"/>
          </a:p>
        </p:txBody>
      </p:sp>
      <p:sp>
        <p:nvSpPr>
          <p:cNvPr id="169" name="Shape 167"/>
          <p:cNvSpPr/>
          <p:nvPr/>
        </p:nvSpPr>
        <p:spPr>
          <a:xfrm>
            <a:off x="12435840" y="5358384"/>
            <a:ext cx="685800" cy="329184"/>
          </a:xfrm>
          <a:prstGeom prst="roundRect">
            <a:avLst>
              <a:gd name="adj" fmla="val 16667"/>
            </a:avLst>
          </a:prstGeom>
          <a:solidFill>
            <a:srgbClr val="1E8E3E"/>
          </a:solidFill>
          <a:ln w="12700">
            <a:solidFill>
              <a:srgbClr val="1E8E3E"/>
            </a:solidFill>
            <a:prstDash val="solid"/>
          </a:ln>
        </p:spPr>
        <p:txBody>
          <a:bodyPr/>
          <a:lstStyle/>
          <a:p>
            <a:endParaRPr lang="en-IN"/>
          </a:p>
        </p:txBody>
      </p:sp>
      <p:sp>
        <p:nvSpPr>
          <p:cNvPr id="170" name="Text 168"/>
          <p:cNvSpPr txBox="1"/>
          <p:nvPr/>
        </p:nvSpPr>
        <p:spPr>
          <a:xfrm>
            <a:off x="12435840" y="5358384"/>
            <a:ext cx="6858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YES</a:t>
            </a:r>
            <a:endParaRPr lang="en-US" sz="1200" dirty="0"/>
          </a:p>
        </p:txBody>
      </p:sp>
      <p:sp>
        <p:nvSpPr>
          <p:cNvPr id="171" name="Text 169"/>
          <p:cNvSpPr txBox="1"/>
          <p:nvPr/>
        </p:nvSpPr>
        <p:spPr>
          <a:xfrm>
            <a:off x="13213080" y="5340096"/>
            <a:ext cx="4617720" cy="384048"/>
          </a:xfrm>
          <a:prstGeom prst="rect">
            <a:avLst/>
          </a:prstGeom>
          <a:noFill/>
          <a:ln/>
        </p:spPr>
        <p:txBody>
          <a:bodyPr wrap="square" lIns="0" tIns="0" rIns="0" bIns="0" rtlCol="0" anchor="ctr"/>
          <a:lstStyle/>
          <a:p>
            <a:pPr marL="0" indent="0">
              <a:buNone/>
            </a:pPr>
            <a:r>
              <a:rPr lang="en-US" sz="1200" i="1" dirty="0">
                <a:solidFill>
                  <a:srgbClr val="2B2B2B"/>
                </a:solidFill>
                <a:latin typeface="Arial" pitchFamily="34" charset="0"/>
                <a:ea typeface="Arial" pitchFamily="34" charset="-122"/>
                <a:cs typeface="Arial" pitchFamily="34" charset="-120"/>
              </a:rPr>
              <a:t>It turns invisible per-order losses into a number the seller sees before the first order ships.</a:t>
            </a:r>
            <a:endParaRPr lang="en-US" sz="1200" dirty="0"/>
          </a:p>
        </p:txBody>
      </p:sp>
      <p:graphicFrame>
        <p:nvGraphicFramePr>
          <p:cNvPr id="172" name="Table 0"/>
          <p:cNvGraphicFramePr>
            <a:graphicFrameLocks noGrp="1"/>
          </p:cNvGraphicFramePr>
          <p:nvPr>
            <p:extLst>
              <p:ext uri="{D42A27DB-BD31-4B8C-83A1-F6EECF244321}">
                <p14:modId xmlns:p14="http://schemas.microsoft.com/office/powerpoint/2010/main" val="1579011935"/>
              </p:ext>
            </p:extLst>
          </p:nvPr>
        </p:nvGraphicFramePr>
        <p:xfrm>
          <a:off x="12435840" y="5779008"/>
          <a:ext cx="5394960" cy="1645920"/>
        </p:xfrm>
        <a:graphic>
          <a:graphicData uri="http://schemas.openxmlformats.org/drawingml/2006/table">
            <a:tbl>
              <a:tblPr/>
              <a:tblGrid>
                <a:gridCol w="23774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329184">
                <a:tc>
                  <a:txBody>
                    <a:bodyPr/>
                    <a:lstStyle/>
                    <a:p>
                      <a:pPr marL="0" indent="0">
                        <a:buNone/>
                      </a:pPr>
                      <a:r>
                        <a:rPr lang="en-US" sz="950" b="1" dirty="0">
                          <a:solidFill>
                            <a:srgbClr val="FFFFFF"/>
                          </a:solidFill>
                          <a:latin typeface="Arial" pitchFamily="34" charset="0"/>
                          <a:ea typeface="Arial" pitchFamily="34" charset="-122"/>
                          <a:cs typeface="Arial" pitchFamily="34" charset="-120"/>
                        </a:rPr>
                        <a:t>Check</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buNone/>
                      </a:pPr>
                      <a:r>
                        <a:rPr lang="en-US" sz="950" b="1" dirty="0">
                          <a:solidFill>
                            <a:srgbClr val="FFFFFF"/>
                          </a:solidFill>
                          <a:latin typeface="Arial" pitchFamily="34" charset="0"/>
                          <a:ea typeface="Arial" pitchFamily="34" charset="-122"/>
                          <a:cs typeface="Arial" pitchFamily="34" charset="-120"/>
                        </a:rPr>
                        <a:t>Before</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buNone/>
                      </a:pPr>
                      <a:r>
                        <a:rPr lang="en-US" sz="950" b="1" dirty="0">
                          <a:solidFill>
                            <a:srgbClr val="FFFFFF"/>
                          </a:solidFill>
                          <a:latin typeface="Arial" pitchFamily="34" charset="0"/>
                          <a:ea typeface="Arial" pitchFamily="34" charset="-122"/>
                          <a:cs typeface="Arial" pitchFamily="34" charset="-120"/>
                        </a:rPr>
                        <a:t>With feature</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extLst>
                  <a:ext uri="{0D108BD9-81ED-4DB2-BD59-A6C34878D82A}">
                    <a16:rowId xmlns:a16="http://schemas.microsoft.com/office/drawing/2014/main" val="10000"/>
                  </a:ext>
                </a:extLst>
              </a:tr>
              <a:tr h="329184">
                <a:tc>
                  <a:txBody>
                    <a:bodyPr/>
                    <a:lstStyle/>
                    <a:p>
                      <a:pPr marL="0" indent="0">
                        <a:buNone/>
                      </a:pPr>
                      <a:r>
                        <a:rPr lang="en-US" sz="950" dirty="0">
                          <a:solidFill>
                            <a:srgbClr val="000000"/>
                          </a:solidFill>
                          <a:latin typeface="Arial" pitchFamily="34" charset="0"/>
                          <a:ea typeface="Arial" pitchFamily="34" charset="-122"/>
                          <a:cs typeface="Arial" pitchFamily="34" charset="-120"/>
                        </a:rPr>
                        <a:t>Loss visible before listing</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C62828"/>
                          </a:solidFill>
                          <a:latin typeface="Arial" pitchFamily="34" charset="0"/>
                          <a:ea typeface="Arial" pitchFamily="34" charset="-122"/>
                          <a:cs typeface="Arial" pitchFamily="34" charset="-120"/>
                        </a:rPr>
                        <a:t>Hidden</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1E8E3E"/>
                          </a:solidFill>
                          <a:latin typeface="Arial" pitchFamily="34" charset="0"/>
                          <a:ea typeface="Arial" pitchFamily="34" charset="-122"/>
                          <a:cs typeface="Arial" pitchFamily="34" charset="-120"/>
                        </a:rPr>
                        <a:t>−₹10.59 / order shown</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950" dirty="0">
                          <a:solidFill>
                            <a:srgbClr val="000000"/>
                          </a:solidFill>
                          <a:latin typeface="Arial" pitchFamily="34" charset="0"/>
                          <a:ea typeface="Arial" pitchFamily="34" charset="-122"/>
                          <a:cs typeface="Arial" pitchFamily="34" charset="-120"/>
                        </a:rPr>
                        <a:t>Kurti floor with size chart lever</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C62828"/>
                          </a:solidFill>
                          <a:latin typeface="Arial" pitchFamily="34" charset="0"/>
                          <a:ea typeface="Arial" pitchFamily="34" charset="-122"/>
                          <a:cs typeface="Arial" pitchFamily="34" charset="-120"/>
                        </a:rPr>
                        <a:t>₹314</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1E8E3E"/>
                          </a:solidFill>
                          <a:latin typeface="Arial" pitchFamily="34" charset="0"/>
                          <a:ea typeface="Arial" pitchFamily="34" charset="-122"/>
                          <a:cs typeface="Arial" pitchFamily="34" charset="-120"/>
                        </a:rPr>
                        <a:t>₹301</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950" dirty="0">
                          <a:solidFill>
                            <a:srgbClr val="000000"/>
                          </a:solidFill>
                          <a:latin typeface="Arial" pitchFamily="34" charset="0"/>
                          <a:ea typeface="Arial" pitchFamily="34" charset="-122"/>
                          <a:cs typeface="Arial" pitchFamily="34" charset="-120"/>
                        </a:rPr>
                        <a:t>Profit at ₹299 after 3 levers</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C62828"/>
                          </a:solidFill>
                          <a:latin typeface="Arial" pitchFamily="34" charset="0"/>
                          <a:ea typeface="Arial" pitchFamily="34" charset="-122"/>
                          <a:cs typeface="Arial" pitchFamily="34" charset="-120"/>
                        </a:rPr>
                        <a:t>−₹10.59</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1E8E3E"/>
                          </a:solidFill>
                          <a:latin typeface="Arial" pitchFamily="34" charset="0"/>
                          <a:ea typeface="Arial" pitchFamily="34" charset="-122"/>
                          <a:cs typeface="Arial" pitchFamily="34" charset="-120"/>
                        </a:rPr>
                        <a:t>+₹13.51</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950" dirty="0">
                          <a:solidFill>
                            <a:srgbClr val="000000"/>
                          </a:solidFill>
                          <a:latin typeface="Arial" pitchFamily="34" charset="0"/>
                          <a:ea typeface="Arial" pitchFamily="34" charset="-122"/>
                          <a:cs typeface="Arial" pitchFamily="34" charset="-120"/>
                        </a:rPr>
                        <a:t>750 g listed as 7.5 kg</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C62828"/>
                          </a:solidFill>
                          <a:latin typeface="Arial" pitchFamily="34" charset="0"/>
                          <a:ea typeface="Arial" pitchFamily="34" charset="-122"/>
                          <a:cs typeface="Arial" pitchFamily="34" charset="-120"/>
                        </a:rPr>
                        <a:t>Goes live</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1E8E3E"/>
                          </a:solidFill>
                          <a:latin typeface="Arial" pitchFamily="34" charset="0"/>
                          <a:ea typeface="Arial" pitchFamily="34" charset="-122"/>
                          <a:cs typeface="Arial" pitchFamily="34" charset="-120"/>
                        </a:rPr>
                        <a:t>Flagged before save</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73" name="Text 170"/>
          <p:cNvSpPr txBox="1"/>
          <p:nvPr/>
        </p:nvSpPr>
        <p:spPr>
          <a:xfrm>
            <a:off x="12435840" y="7506962"/>
            <a:ext cx="5394960" cy="329184"/>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Benefits</a:t>
            </a:r>
            <a:endParaRPr lang="en-US" sz="1400" dirty="0"/>
          </a:p>
        </p:txBody>
      </p:sp>
      <p:sp>
        <p:nvSpPr>
          <p:cNvPr id="174" name="Shape 171"/>
          <p:cNvSpPr/>
          <p:nvPr/>
        </p:nvSpPr>
        <p:spPr>
          <a:xfrm>
            <a:off x="12435840" y="7726680"/>
            <a:ext cx="2651760" cy="768096"/>
          </a:xfrm>
          <a:prstGeom prst="roundRect">
            <a:avLst>
              <a:gd name="adj" fmla="val 9524"/>
            </a:avLst>
          </a:prstGeom>
          <a:solidFill>
            <a:srgbClr val="E6F4EA"/>
          </a:solidFill>
          <a:ln w="12700">
            <a:solidFill>
              <a:srgbClr val="E6F4EA"/>
            </a:solidFill>
            <a:prstDash val="solid"/>
          </a:ln>
        </p:spPr>
        <p:txBody>
          <a:bodyPr/>
          <a:lstStyle/>
          <a:p>
            <a:endParaRPr lang="en-IN"/>
          </a:p>
        </p:txBody>
      </p:sp>
      <p:sp>
        <p:nvSpPr>
          <p:cNvPr id="175" name="Text 172"/>
          <p:cNvSpPr txBox="1"/>
          <p:nvPr/>
        </p:nvSpPr>
        <p:spPr>
          <a:xfrm>
            <a:off x="12527280" y="7754112"/>
            <a:ext cx="2468880" cy="365760"/>
          </a:xfrm>
          <a:prstGeom prst="rect">
            <a:avLst/>
          </a:prstGeom>
          <a:noFill/>
          <a:ln/>
        </p:spPr>
        <p:txBody>
          <a:bodyPr wrap="square" lIns="0" tIns="0" rIns="0" bIns="0" rtlCol="0" anchor="t"/>
          <a:lstStyle/>
          <a:p>
            <a:pPr marL="0" indent="0">
              <a:buNone/>
            </a:pPr>
            <a:r>
              <a:rPr lang="en-US" sz="1600" b="1" dirty="0">
                <a:solidFill>
                  <a:srgbClr val="1E8E3E"/>
                </a:solidFill>
                <a:latin typeface="Arial" pitchFamily="34" charset="0"/>
                <a:ea typeface="Arial" pitchFamily="34" charset="-122"/>
                <a:cs typeface="Arial" pitchFamily="34" charset="-120"/>
              </a:rPr>
              <a:t>₹314</a:t>
            </a:r>
            <a:endParaRPr lang="en-US" sz="1600" dirty="0"/>
          </a:p>
        </p:txBody>
      </p:sp>
      <p:sp>
        <p:nvSpPr>
          <p:cNvPr id="176" name="Text 173"/>
          <p:cNvSpPr txBox="1"/>
          <p:nvPr/>
        </p:nvSpPr>
        <p:spPr>
          <a:xfrm>
            <a:off x="12527280" y="8110728"/>
            <a:ext cx="2468880" cy="365760"/>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true floor shown on day 1 (kurti)</a:t>
            </a:r>
            <a:endParaRPr lang="en-US" sz="1000" dirty="0"/>
          </a:p>
        </p:txBody>
      </p:sp>
      <p:sp>
        <p:nvSpPr>
          <p:cNvPr id="177" name="Shape 174"/>
          <p:cNvSpPr/>
          <p:nvPr/>
        </p:nvSpPr>
        <p:spPr>
          <a:xfrm>
            <a:off x="15179040" y="7726680"/>
            <a:ext cx="2651760" cy="768096"/>
          </a:xfrm>
          <a:prstGeom prst="roundRect">
            <a:avLst>
              <a:gd name="adj" fmla="val 9524"/>
            </a:avLst>
          </a:prstGeom>
          <a:solidFill>
            <a:srgbClr val="F3E8F1"/>
          </a:solidFill>
          <a:ln w="12700">
            <a:solidFill>
              <a:srgbClr val="F3E8F1"/>
            </a:solidFill>
            <a:prstDash val="solid"/>
          </a:ln>
        </p:spPr>
        <p:txBody>
          <a:bodyPr/>
          <a:lstStyle/>
          <a:p>
            <a:endParaRPr lang="en-IN"/>
          </a:p>
        </p:txBody>
      </p:sp>
      <p:sp>
        <p:nvSpPr>
          <p:cNvPr id="178" name="Text 175"/>
          <p:cNvSpPr txBox="1"/>
          <p:nvPr/>
        </p:nvSpPr>
        <p:spPr>
          <a:xfrm>
            <a:off x="15270480" y="7754112"/>
            <a:ext cx="2468880" cy="365760"/>
          </a:xfrm>
          <a:prstGeom prst="rect">
            <a:avLst/>
          </a:prstGeom>
          <a:noFill/>
          <a:ln/>
        </p:spPr>
        <p:txBody>
          <a:bodyPr wrap="square" lIns="0" tIns="0" rIns="0" bIns="0" rtlCol="0" anchor="t"/>
          <a:lstStyle/>
          <a:p>
            <a:pPr marL="0" indent="0">
              <a:buNone/>
            </a:pPr>
            <a:r>
              <a:rPr lang="en-US" sz="1600" b="1" dirty="0">
                <a:solidFill>
                  <a:srgbClr val="5B0F4E"/>
                </a:solidFill>
                <a:latin typeface="Arial" pitchFamily="34" charset="0"/>
                <a:ea typeface="Arial" pitchFamily="34" charset="-122"/>
                <a:cs typeface="Arial" pitchFamily="34" charset="-120"/>
              </a:rPr>
              <a:t>3.2×</a:t>
            </a:r>
            <a:endParaRPr lang="en-US" sz="1600" dirty="0"/>
          </a:p>
        </p:txBody>
      </p:sp>
      <p:sp>
        <p:nvSpPr>
          <p:cNvPr id="179" name="Text 176"/>
          <p:cNvSpPr txBox="1"/>
          <p:nvPr/>
        </p:nvSpPr>
        <p:spPr>
          <a:xfrm>
            <a:off x="15270480" y="8110728"/>
            <a:ext cx="2468880" cy="365760"/>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a return costs vs an RTO per point: the lever is clear</a:t>
            </a:r>
            <a:endParaRPr lang="en-US" sz="1000" dirty="0"/>
          </a:p>
        </p:txBody>
      </p:sp>
      <p:sp>
        <p:nvSpPr>
          <p:cNvPr id="180" name="Shape 177"/>
          <p:cNvSpPr/>
          <p:nvPr/>
        </p:nvSpPr>
        <p:spPr>
          <a:xfrm>
            <a:off x="12435840" y="8567928"/>
            <a:ext cx="2651760" cy="768096"/>
          </a:xfrm>
          <a:prstGeom prst="roundRect">
            <a:avLst>
              <a:gd name="adj" fmla="val 9524"/>
            </a:avLst>
          </a:prstGeom>
          <a:solidFill>
            <a:srgbClr val="F3E8F1"/>
          </a:solidFill>
          <a:ln w="12700">
            <a:solidFill>
              <a:srgbClr val="F3E8F1"/>
            </a:solidFill>
            <a:prstDash val="solid"/>
          </a:ln>
        </p:spPr>
        <p:txBody>
          <a:bodyPr/>
          <a:lstStyle/>
          <a:p>
            <a:endParaRPr lang="en-IN"/>
          </a:p>
        </p:txBody>
      </p:sp>
      <p:sp>
        <p:nvSpPr>
          <p:cNvPr id="181" name="Text 178"/>
          <p:cNvSpPr txBox="1"/>
          <p:nvPr/>
        </p:nvSpPr>
        <p:spPr>
          <a:xfrm>
            <a:off x="12527280" y="8595360"/>
            <a:ext cx="2468880" cy="365760"/>
          </a:xfrm>
          <a:prstGeom prst="rect">
            <a:avLst/>
          </a:prstGeom>
          <a:noFill/>
          <a:ln/>
        </p:spPr>
        <p:txBody>
          <a:bodyPr wrap="square" lIns="0" tIns="0" rIns="0" bIns="0" rtlCol="0" anchor="t"/>
          <a:lstStyle/>
          <a:p>
            <a:pPr marL="0" indent="0">
              <a:buNone/>
            </a:pPr>
            <a:r>
              <a:rPr lang="en-US" sz="1600" b="1" dirty="0">
                <a:solidFill>
                  <a:srgbClr val="5B0F4E"/>
                </a:solidFill>
                <a:latin typeface="Arial" pitchFamily="34" charset="0"/>
                <a:ea typeface="Arial" pitchFamily="34" charset="-122"/>
                <a:cs typeface="Arial" pitchFamily="34" charset="-120"/>
              </a:rPr>
              <a:t>+₹24</a:t>
            </a:r>
            <a:endParaRPr lang="en-US" sz="1600" dirty="0"/>
          </a:p>
        </p:txBody>
      </p:sp>
      <p:sp>
        <p:nvSpPr>
          <p:cNvPr id="182" name="Text 179"/>
          <p:cNvSpPr txBox="1"/>
          <p:nvPr/>
        </p:nvSpPr>
        <p:spPr>
          <a:xfrm>
            <a:off x="12527280" y="8951976"/>
            <a:ext cx="2468880" cy="365760"/>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per order swing after 3 levers (−₹10.59 → +₹13.51)</a:t>
            </a:r>
            <a:endParaRPr lang="en-US" sz="1000" dirty="0"/>
          </a:p>
        </p:txBody>
      </p:sp>
      <p:sp>
        <p:nvSpPr>
          <p:cNvPr id="183" name="Shape 180"/>
          <p:cNvSpPr/>
          <p:nvPr/>
        </p:nvSpPr>
        <p:spPr>
          <a:xfrm>
            <a:off x="15179040" y="8567928"/>
            <a:ext cx="2651760" cy="768096"/>
          </a:xfrm>
          <a:prstGeom prst="roundRect">
            <a:avLst>
              <a:gd name="adj" fmla="val 9524"/>
            </a:avLst>
          </a:prstGeom>
          <a:solidFill>
            <a:srgbClr val="E6F4EA"/>
          </a:solidFill>
          <a:ln w="12700">
            <a:solidFill>
              <a:srgbClr val="E6F4EA"/>
            </a:solidFill>
            <a:prstDash val="solid"/>
          </a:ln>
        </p:spPr>
        <p:txBody>
          <a:bodyPr/>
          <a:lstStyle/>
          <a:p>
            <a:endParaRPr lang="en-IN"/>
          </a:p>
        </p:txBody>
      </p:sp>
      <p:sp>
        <p:nvSpPr>
          <p:cNvPr id="184" name="Text 181"/>
          <p:cNvSpPr txBox="1"/>
          <p:nvPr/>
        </p:nvSpPr>
        <p:spPr>
          <a:xfrm>
            <a:off x="15270480" y="8595360"/>
            <a:ext cx="2468880" cy="365760"/>
          </a:xfrm>
          <a:prstGeom prst="rect">
            <a:avLst/>
          </a:prstGeom>
          <a:noFill/>
          <a:ln/>
        </p:spPr>
        <p:txBody>
          <a:bodyPr wrap="square" lIns="0" tIns="0" rIns="0" bIns="0" rtlCol="0" anchor="t"/>
          <a:lstStyle/>
          <a:p>
            <a:pPr marL="0" indent="0">
              <a:buNone/>
            </a:pPr>
            <a:r>
              <a:rPr lang="en-US" sz="1600" b="1" dirty="0">
                <a:solidFill>
                  <a:srgbClr val="1E8E3E"/>
                </a:solidFill>
                <a:latin typeface="Arial" pitchFamily="34" charset="0"/>
                <a:ea typeface="Arial" pitchFamily="34" charset="-122"/>
                <a:cs typeface="Arial" pitchFamily="34" charset="-120"/>
              </a:rPr>
              <a:t>0</a:t>
            </a:r>
            <a:endParaRPr lang="en-US" sz="1600" dirty="0"/>
          </a:p>
        </p:txBody>
      </p:sp>
      <p:sp>
        <p:nvSpPr>
          <p:cNvPr id="185" name="Text 182"/>
          <p:cNvSpPr txBox="1"/>
          <p:nvPr/>
        </p:nvSpPr>
        <p:spPr>
          <a:xfrm>
            <a:off x="15270480" y="8951976"/>
            <a:ext cx="2468880" cy="365760"/>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slab errors reaching buyers unchecked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480560" y="502920"/>
            <a:ext cx="8778240" cy="868680"/>
          </a:xfrm>
          <a:prstGeom prst="rect">
            <a:avLst/>
          </a:prstGeom>
          <a:noFill/>
          <a:ln/>
        </p:spPr>
        <p:txBody>
          <a:bodyPr wrap="square" lIns="0" tIns="0" rIns="0" bIns="0" rtlCol="0" anchor="ctr"/>
          <a:lstStyle/>
          <a:p>
            <a:pPr marL="0" indent="0">
              <a:buNone/>
            </a:pPr>
            <a:r>
              <a:rPr lang="en-US" sz="4000" b="1" dirty="0">
                <a:solidFill>
                  <a:srgbClr val="5B0F4E"/>
                </a:solidFill>
                <a:latin typeface="Arial" pitchFamily="34" charset="0"/>
                <a:ea typeface="Arial" pitchFamily="34" charset="-122"/>
                <a:cs typeface="Arial" pitchFamily="34" charset="-120"/>
              </a:rPr>
              <a:t>Smart Band</a:t>
            </a:r>
            <a:endParaRPr lang="en-US" sz="4000" dirty="0"/>
          </a:p>
        </p:txBody>
      </p:sp>
      <p:sp>
        <p:nvSpPr>
          <p:cNvPr id="3" name="Text 1"/>
          <p:cNvSpPr txBox="1"/>
          <p:nvPr/>
        </p:nvSpPr>
        <p:spPr>
          <a:xfrm>
            <a:off x="4480560" y="1371600"/>
            <a:ext cx="8778240" cy="502920"/>
          </a:xfrm>
          <a:prstGeom prst="rect">
            <a:avLst/>
          </a:prstGeom>
          <a:noFill/>
          <a:ln/>
        </p:spPr>
        <p:txBody>
          <a:bodyPr wrap="square" lIns="0" tIns="0" rIns="0" bIns="0" rtlCol="0" anchor="ctr"/>
          <a:lstStyle/>
          <a:p>
            <a:pPr marL="0" indent="0">
              <a:buNone/>
            </a:pPr>
            <a:r>
              <a:rPr lang="en-US" sz="1700" i="1" dirty="0">
                <a:solidFill>
                  <a:srgbClr val="C9660A"/>
                </a:solidFill>
                <a:latin typeface="Arial" pitchFamily="34" charset="0"/>
                <a:ea typeface="Arial" pitchFamily="34" charset="-122"/>
                <a:cs typeface="Arial" pitchFamily="34" charset="-120"/>
              </a:rPr>
              <a:t>Feature 2 · Where to Price against the Market, including the First Price with no Sales History</a:t>
            </a:r>
            <a:endParaRPr lang="en-US" sz="1700" dirty="0"/>
          </a:p>
        </p:txBody>
      </p:sp>
      <p:sp>
        <p:nvSpPr>
          <p:cNvPr id="4" name="Shape 2"/>
          <p:cNvSpPr/>
          <p:nvPr/>
        </p:nvSpPr>
        <p:spPr>
          <a:xfrm>
            <a:off x="45720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5" name="Text 3"/>
          <p:cNvSpPr txBox="1"/>
          <p:nvPr/>
        </p:nvSpPr>
        <p:spPr>
          <a:xfrm>
            <a:off x="45720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PROBLEM</a:t>
            </a:r>
            <a:endParaRPr lang="en-US" sz="1250" dirty="0"/>
          </a:p>
        </p:txBody>
      </p:sp>
      <p:sp>
        <p:nvSpPr>
          <p:cNvPr id="6" name="Shape 4"/>
          <p:cNvSpPr/>
          <p:nvPr/>
        </p:nvSpPr>
        <p:spPr>
          <a:xfrm>
            <a:off x="219456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7" name="Text 5"/>
          <p:cNvSpPr txBox="1"/>
          <p:nvPr/>
        </p:nvSpPr>
        <p:spPr>
          <a:xfrm>
            <a:off x="219456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SEGMENTATION</a:t>
            </a:r>
            <a:endParaRPr lang="en-US" sz="1250" dirty="0"/>
          </a:p>
        </p:txBody>
      </p:sp>
      <p:sp>
        <p:nvSpPr>
          <p:cNvPr id="8" name="Shape 6"/>
          <p:cNvSpPr/>
          <p:nvPr/>
        </p:nvSpPr>
        <p:spPr>
          <a:xfrm>
            <a:off x="393192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9" name="Text 7"/>
          <p:cNvSpPr txBox="1"/>
          <p:nvPr/>
        </p:nvSpPr>
        <p:spPr>
          <a:xfrm>
            <a:off x="393192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PRIORITISATION</a:t>
            </a:r>
            <a:endParaRPr lang="en-US" sz="1250" dirty="0"/>
          </a:p>
        </p:txBody>
      </p:sp>
      <p:sp>
        <p:nvSpPr>
          <p:cNvPr id="10" name="Shape 8"/>
          <p:cNvSpPr/>
          <p:nvPr/>
        </p:nvSpPr>
        <p:spPr>
          <a:xfrm>
            <a:off x="566928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1" name="Text 9"/>
          <p:cNvSpPr txBox="1"/>
          <p:nvPr/>
        </p:nvSpPr>
        <p:spPr>
          <a:xfrm>
            <a:off x="566928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BENCHMARKING</a:t>
            </a:r>
            <a:endParaRPr lang="en-US" sz="1250" dirty="0"/>
          </a:p>
        </p:txBody>
      </p:sp>
      <p:sp>
        <p:nvSpPr>
          <p:cNvPr id="12" name="Shape 10"/>
          <p:cNvSpPr/>
          <p:nvPr/>
        </p:nvSpPr>
        <p:spPr>
          <a:xfrm>
            <a:off x="740664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3" name="Text 11"/>
          <p:cNvSpPr txBox="1"/>
          <p:nvPr/>
        </p:nvSpPr>
        <p:spPr>
          <a:xfrm>
            <a:off x="740664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SOLUTION</a:t>
            </a:r>
            <a:endParaRPr lang="en-US" sz="1250" dirty="0"/>
          </a:p>
        </p:txBody>
      </p:sp>
      <p:sp>
        <p:nvSpPr>
          <p:cNvPr id="14" name="Shape 12"/>
          <p:cNvSpPr/>
          <p:nvPr/>
        </p:nvSpPr>
        <p:spPr>
          <a:xfrm>
            <a:off x="914400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5" name="Text 13"/>
          <p:cNvSpPr txBox="1"/>
          <p:nvPr/>
        </p:nvSpPr>
        <p:spPr>
          <a:xfrm>
            <a:off x="914400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MUNAFA METER</a:t>
            </a:r>
            <a:endParaRPr lang="en-US" sz="1250" dirty="0"/>
          </a:p>
        </p:txBody>
      </p:sp>
      <p:sp>
        <p:nvSpPr>
          <p:cNvPr id="16" name="Shape 14"/>
          <p:cNvSpPr/>
          <p:nvPr/>
        </p:nvSpPr>
        <p:spPr>
          <a:xfrm>
            <a:off x="10881360" y="2542032"/>
            <a:ext cx="1700784" cy="420624"/>
          </a:xfrm>
          <a:prstGeom prst="rect">
            <a:avLst/>
          </a:prstGeom>
          <a:solidFill>
            <a:srgbClr val="F29A1F"/>
          </a:solidFill>
          <a:ln w="12700">
            <a:solidFill>
              <a:srgbClr val="F29A1F"/>
            </a:solidFill>
            <a:prstDash val="solid"/>
          </a:ln>
        </p:spPr>
        <p:txBody>
          <a:bodyPr/>
          <a:lstStyle/>
          <a:p>
            <a:endParaRPr lang="en-IN"/>
          </a:p>
        </p:txBody>
      </p:sp>
      <p:sp>
        <p:nvSpPr>
          <p:cNvPr id="17" name="Text 15"/>
          <p:cNvSpPr txBox="1"/>
          <p:nvPr/>
        </p:nvSpPr>
        <p:spPr>
          <a:xfrm>
            <a:off x="1088136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SMART BAND</a:t>
            </a:r>
            <a:endParaRPr lang="en-US" sz="1250" dirty="0"/>
          </a:p>
        </p:txBody>
      </p:sp>
      <p:sp>
        <p:nvSpPr>
          <p:cNvPr id="18" name="Shape 16"/>
          <p:cNvSpPr/>
          <p:nvPr/>
        </p:nvSpPr>
        <p:spPr>
          <a:xfrm>
            <a:off x="1261872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9" name="Text 17"/>
          <p:cNvSpPr txBox="1"/>
          <p:nvPr/>
        </p:nvSpPr>
        <p:spPr>
          <a:xfrm>
            <a:off x="1261872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AUTOPILOT</a:t>
            </a:r>
            <a:endParaRPr lang="en-US" sz="1250" dirty="0"/>
          </a:p>
        </p:txBody>
      </p:sp>
      <p:sp>
        <p:nvSpPr>
          <p:cNvPr id="20" name="Shape 18"/>
          <p:cNvSpPr/>
          <p:nvPr/>
        </p:nvSpPr>
        <p:spPr>
          <a:xfrm>
            <a:off x="1435608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21" name="Text 19"/>
          <p:cNvSpPr txBox="1"/>
          <p:nvPr/>
        </p:nvSpPr>
        <p:spPr>
          <a:xfrm>
            <a:off x="1435608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IMPACT</a:t>
            </a:r>
            <a:endParaRPr lang="en-US" sz="1250" dirty="0"/>
          </a:p>
        </p:txBody>
      </p:sp>
      <p:sp>
        <p:nvSpPr>
          <p:cNvPr id="22" name="Shape 20"/>
          <p:cNvSpPr/>
          <p:nvPr/>
        </p:nvSpPr>
        <p:spPr>
          <a:xfrm>
            <a:off x="1609344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23" name="Text 21"/>
          <p:cNvSpPr txBox="1"/>
          <p:nvPr/>
        </p:nvSpPr>
        <p:spPr>
          <a:xfrm>
            <a:off x="1609344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PITFALLS</a:t>
            </a:r>
            <a:endParaRPr lang="en-US" sz="1250" dirty="0"/>
          </a:p>
        </p:txBody>
      </p:sp>
      <p:sp>
        <p:nvSpPr>
          <p:cNvPr id="24" name="Shape 22"/>
          <p:cNvSpPr/>
          <p:nvPr/>
        </p:nvSpPr>
        <p:spPr>
          <a:xfrm>
            <a:off x="457200" y="3127248"/>
            <a:ext cx="5303520" cy="1655064"/>
          </a:xfrm>
          <a:prstGeom prst="roundRect">
            <a:avLst>
              <a:gd name="adj" fmla="val 7500"/>
            </a:avLst>
          </a:prstGeom>
          <a:solidFill>
            <a:srgbClr val="F3E8F1"/>
          </a:solidFill>
          <a:ln w="12700">
            <a:solidFill>
              <a:srgbClr val="F3E8F1"/>
            </a:solidFill>
            <a:prstDash val="solid"/>
          </a:ln>
        </p:spPr>
        <p:txBody>
          <a:bodyPr/>
          <a:lstStyle/>
          <a:p>
            <a:endParaRPr lang="en-IN"/>
          </a:p>
        </p:txBody>
      </p:sp>
      <p:sp>
        <p:nvSpPr>
          <p:cNvPr id="25" name="Text 23"/>
          <p:cNvSpPr txBox="1"/>
          <p:nvPr/>
        </p:nvSpPr>
        <p:spPr>
          <a:xfrm>
            <a:off x="594360" y="3182112"/>
            <a:ext cx="5029200" cy="329184"/>
          </a:xfrm>
          <a:prstGeom prst="rect">
            <a:avLst/>
          </a:prstGeom>
          <a:noFill/>
          <a:ln/>
        </p:spPr>
        <p:txBody>
          <a:bodyPr wrap="square" lIns="0" tIns="0" rIns="0" bIns="0" rtlCol="0" anchor="t"/>
          <a:lstStyle/>
          <a:p>
            <a:pPr marL="0" indent="0">
              <a:buNone/>
            </a:pPr>
            <a:r>
              <a:rPr lang="en-US" b="1" dirty="0">
                <a:solidFill>
                  <a:srgbClr val="5B0F4E"/>
                </a:solidFill>
                <a:latin typeface="Arial" pitchFamily="34" charset="0"/>
                <a:ea typeface="Arial" pitchFamily="34" charset="-122"/>
                <a:cs typeface="Arial" pitchFamily="34" charset="-120"/>
              </a:rPr>
              <a:t>About the feature</a:t>
            </a:r>
            <a:endParaRPr lang="en-US" dirty="0"/>
          </a:p>
        </p:txBody>
      </p:sp>
      <p:sp>
        <p:nvSpPr>
          <p:cNvPr id="26" name="Text 24"/>
          <p:cNvSpPr txBox="1"/>
          <p:nvPr/>
        </p:nvSpPr>
        <p:spPr>
          <a:xfrm>
            <a:off x="594360" y="3562823"/>
            <a:ext cx="5029200" cy="1051560"/>
          </a:xfrm>
          <a:prstGeom prst="rect">
            <a:avLst/>
          </a:prstGeom>
          <a:noFill/>
          <a:ln/>
        </p:spPr>
        <p:txBody>
          <a:bodyPr wrap="square" lIns="0" tIns="0" rIns="0" bIns="0" rtlCol="0" anchor="t"/>
          <a:lstStyle/>
          <a:p>
            <a:pPr marL="0" indent="0">
              <a:buNone/>
            </a:pPr>
            <a:r>
              <a:rPr lang="en-US" sz="1200" dirty="0">
                <a:solidFill>
                  <a:srgbClr val="2B2B2B"/>
                </a:solidFill>
                <a:latin typeface="Arial" pitchFamily="34" charset="0"/>
                <a:ea typeface="Arial" pitchFamily="34" charset="-122"/>
                <a:cs typeface="Arial" pitchFamily="34" charset="-120"/>
              </a:rPr>
              <a:t>Shows where the seller's price sits among anonymous comparable listings: a band (Q1 – median – Q3) with Loss / Win / Profit zones marked against the seller's own floor, a price rank, a suggested price range that never goes below the floor, a one-line strategy and, for new listings, a first-price mode built on category data.</a:t>
            </a:r>
            <a:endParaRPr lang="en-US" sz="1200" dirty="0"/>
          </a:p>
        </p:txBody>
      </p:sp>
      <p:sp>
        <p:nvSpPr>
          <p:cNvPr id="27" name="Text 25"/>
          <p:cNvSpPr txBox="1"/>
          <p:nvPr/>
        </p:nvSpPr>
        <p:spPr>
          <a:xfrm>
            <a:off x="329184" y="4902364"/>
            <a:ext cx="5303520" cy="329184"/>
          </a:xfrm>
          <a:prstGeom prst="rect">
            <a:avLst/>
          </a:prstGeom>
          <a:noFill/>
          <a:ln/>
        </p:spPr>
        <p:txBody>
          <a:bodyPr wrap="square" lIns="0" tIns="0" rIns="0" bIns="0" rtlCol="0" anchor="t"/>
          <a:lstStyle/>
          <a:p>
            <a:pPr marL="0" indent="0">
              <a:buNone/>
            </a:pPr>
            <a:r>
              <a:rPr lang="en-US" b="1" dirty="0">
                <a:solidFill>
                  <a:srgbClr val="5B0F4E"/>
                </a:solidFill>
                <a:latin typeface="Arial" pitchFamily="34" charset="0"/>
                <a:ea typeface="Arial" pitchFamily="34" charset="-122"/>
                <a:cs typeface="Arial" pitchFamily="34" charset="-120"/>
              </a:rPr>
              <a:t>Pain points addressed</a:t>
            </a:r>
            <a:endParaRPr lang="en-US" dirty="0"/>
          </a:p>
        </p:txBody>
      </p:sp>
      <p:sp>
        <p:nvSpPr>
          <p:cNvPr id="28" name="Shape 26"/>
          <p:cNvSpPr/>
          <p:nvPr/>
        </p:nvSpPr>
        <p:spPr>
          <a:xfrm>
            <a:off x="329184" y="5214440"/>
            <a:ext cx="566928" cy="566928"/>
          </a:xfrm>
          <a:prstGeom prst="roundRect">
            <a:avLst>
              <a:gd name="adj" fmla="val 12903"/>
            </a:avLst>
          </a:prstGeom>
          <a:solidFill>
            <a:srgbClr val="5B0F4E"/>
          </a:solidFill>
          <a:ln w="12700">
            <a:solidFill>
              <a:srgbClr val="5B0F4E"/>
            </a:solidFill>
            <a:prstDash val="solid"/>
          </a:ln>
        </p:spPr>
        <p:txBody>
          <a:bodyPr/>
          <a:lstStyle/>
          <a:p>
            <a:endParaRPr lang="en-IN"/>
          </a:p>
        </p:txBody>
      </p:sp>
      <p:sp>
        <p:nvSpPr>
          <p:cNvPr id="29" name="Text 27"/>
          <p:cNvSpPr txBox="1"/>
          <p:nvPr/>
        </p:nvSpPr>
        <p:spPr>
          <a:xfrm>
            <a:off x="329184" y="5214440"/>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P2</a:t>
            </a:r>
            <a:endParaRPr lang="en-US" sz="1300" dirty="0"/>
          </a:p>
        </p:txBody>
      </p:sp>
      <p:sp>
        <p:nvSpPr>
          <p:cNvPr id="30" name="Text 28"/>
          <p:cNvSpPr txBox="1"/>
          <p:nvPr/>
        </p:nvSpPr>
        <p:spPr>
          <a:xfrm>
            <a:off x="969264" y="5272268"/>
            <a:ext cx="1576472" cy="335968"/>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Copying cheapest / median price</a:t>
            </a:r>
            <a:endParaRPr lang="en-US" sz="1400" dirty="0"/>
          </a:p>
        </p:txBody>
      </p:sp>
      <p:sp>
        <p:nvSpPr>
          <p:cNvPr id="31" name="Text 29"/>
          <p:cNvSpPr txBox="1"/>
          <p:nvPr/>
        </p:nvSpPr>
        <p:spPr>
          <a:xfrm>
            <a:off x="2599182" y="5309378"/>
            <a:ext cx="3214116" cy="430948"/>
          </a:xfrm>
          <a:prstGeom prst="rect">
            <a:avLst/>
          </a:prstGeom>
          <a:noFill/>
          <a:ln/>
        </p:spPr>
        <p:txBody>
          <a:bodyPr wrap="square" lIns="0" tIns="0" rIns="0" bIns="0" rtlCol="0" anchor="t"/>
          <a:lstStyle/>
          <a:p>
            <a:pPr marL="0" indent="0">
              <a:buNone/>
            </a:pPr>
            <a:r>
              <a:rPr lang="en-US" sz="1200" i="1" dirty="0">
                <a:solidFill>
                  <a:srgbClr val="555555"/>
                </a:solidFill>
                <a:latin typeface="Arial" pitchFamily="34" charset="0"/>
                <a:ea typeface="Arial" pitchFamily="34" charset="-122"/>
                <a:cs typeface="Arial" pitchFamily="34" charset="-120"/>
              </a:rPr>
              <a:t>“My pricing is basically one step above the cheapest guy.” · “If I increase ₹20, orders stop.”</a:t>
            </a:r>
            <a:endParaRPr lang="en-US" sz="1200" dirty="0"/>
          </a:p>
        </p:txBody>
      </p:sp>
      <p:sp>
        <p:nvSpPr>
          <p:cNvPr id="32" name="Shape 30"/>
          <p:cNvSpPr/>
          <p:nvPr/>
        </p:nvSpPr>
        <p:spPr>
          <a:xfrm>
            <a:off x="329184" y="5872808"/>
            <a:ext cx="566928" cy="566928"/>
          </a:xfrm>
          <a:prstGeom prst="roundRect">
            <a:avLst>
              <a:gd name="adj" fmla="val 12903"/>
            </a:avLst>
          </a:prstGeom>
          <a:solidFill>
            <a:srgbClr val="5B0F4E"/>
          </a:solidFill>
          <a:ln w="12700">
            <a:solidFill>
              <a:srgbClr val="5B0F4E"/>
            </a:solidFill>
            <a:prstDash val="solid"/>
          </a:ln>
        </p:spPr>
        <p:txBody>
          <a:bodyPr/>
          <a:lstStyle/>
          <a:p>
            <a:endParaRPr lang="en-IN"/>
          </a:p>
        </p:txBody>
      </p:sp>
      <p:sp>
        <p:nvSpPr>
          <p:cNvPr id="33" name="Text 31"/>
          <p:cNvSpPr txBox="1"/>
          <p:nvPr/>
        </p:nvSpPr>
        <p:spPr>
          <a:xfrm>
            <a:off x="329184" y="5872808"/>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P3</a:t>
            </a:r>
            <a:endParaRPr lang="en-US" sz="1300" dirty="0"/>
          </a:p>
        </p:txBody>
      </p:sp>
      <p:sp>
        <p:nvSpPr>
          <p:cNvPr id="34" name="Text 32"/>
          <p:cNvSpPr txBox="1"/>
          <p:nvPr/>
        </p:nvSpPr>
        <p:spPr>
          <a:xfrm>
            <a:off x="969264" y="5930636"/>
            <a:ext cx="1629918" cy="329184"/>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First price with no history</a:t>
            </a:r>
            <a:endParaRPr lang="en-US" sz="1400" dirty="0"/>
          </a:p>
        </p:txBody>
      </p:sp>
      <p:sp>
        <p:nvSpPr>
          <p:cNvPr id="35" name="Text 33"/>
          <p:cNvSpPr txBox="1"/>
          <p:nvPr/>
        </p:nvSpPr>
        <p:spPr>
          <a:xfrm>
            <a:off x="2599182" y="5948924"/>
            <a:ext cx="2171906" cy="356616"/>
          </a:xfrm>
          <a:prstGeom prst="rect">
            <a:avLst/>
          </a:prstGeom>
          <a:noFill/>
          <a:ln/>
        </p:spPr>
        <p:txBody>
          <a:bodyPr wrap="square" lIns="0" tIns="0" rIns="0" bIns="0" rtlCol="0" anchor="t"/>
          <a:lstStyle/>
          <a:p>
            <a:pPr marL="0" indent="0">
              <a:buNone/>
            </a:pPr>
            <a:r>
              <a:rPr lang="en-US" sz="1200" i="1" dirty="0">
                <a:solidFill>
                  <a:srgbClr val="555555"/>
                </a:solidFill>
                <a:latin typeface="Arial" pitchFamily="34" charset="0"/>
                <a:ea typeface="Arial" pitchFamily="34" charset="-122"/>
                <a:cs typeface="Arial" pitchFamily="34" charset="-120"/>
              </a:rPr>
              <a:t>Every new seller sets a price blind; ~15 days to first order</a:t>
            </a:r>
            <a:endParaRPr lang="en-US" sz="1200" dirty="0"/>
          </a:p>
        </p:txBody>
      </p:sp>
      <p:sp>
        <p:nvSpPr>
          <p:cNvPr id="36" name="Shape 34"/>
          <p:cNvSpPr/>
          <p:nvPr/>
        </p:nvSpPr>
        <p:spPr>
          <a:xfrm>
            <a:off x="329184" y="6531176"/>
            <a:ext cx="566928" cy="566928"/>
          </a:xfrm>
          <a:prstGeom prst="roundRect">
            <a:avLst>
              <a:gd name="adj" fmla="val 12903"/>
            </a:avLst>
          </a:prstGeom>
          <a:solidFill>
            <a:srgbClr val="F29A1F"/>
          </a:solidFill>
          <a:ln w="12700">
            <a:solidFill>
              <a:srgbClr val="F29A1F"/>
            </a:solidFill>
            <a:prstDash val="solid"/>
          </a:ln>
        </p:spPr>
        <p:txBody>
          <a:bodyPr/>
          <a:lstStyle/>
          <a:p>
            <a:endParaRPr lang="en-IN"/>
          </a:p>
        </p:txBody>
      </p:sp>
      <p:sp>
        <p:nvSpPr>
          <p:cNvPr id="37" name="Text 35"/>
          <p:cNvSpPr txBox="1"/>
          <p:nvPr/>
        </p:nvSpPr>
        <p:spPr>
          <a:xfrm>
            <a:off x="329184" y="6531176"/>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P9</a:t>
            </a:r>
            <a:endParaRPr lang="en-US" sz="1300" dirty="0"/>
          </a:p>
        </p:txBody>
      </p:sp>
      <p:sp>
        <p:nvSpPr>
          <p:cNvPr id="38" name="Text 36"/>
          <p:cNvSpPr txBox="1"/>
          <p:nvPr/>
        </p:nvSpPr>
        <p:spPr>
          <a:xfrm>
            <a:off x="969264" y="6589003"/>
            <a:ext cx="1368822" cy="363191"/>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Unviable bulky SKUs</a:t>
            </a:r>
            <a:endParaRPr lang="en-US" sz="1400" dirty="0"/>
          </a:p>
        </p:txBody>
      </p:sp>
      <p:sp>
        <p:nvSpPr>
          <p:cNvPr id="39" name="Text 37"/>
          <p:cNvSpPr txBox="1"/>
          <p:nvPr/>
        </p:nvSpPr>
        <p:spPr>
          <a:xfrm>
            <a:off x="2596420" y="6604723"/>
            <a:ext cx="2171906" cy="347472"/>
          </a:xfrm>
          <a:prstGeom prst="rect">
            <a:avLst/>
          </a:prstGeom>
          <a:noFill/>
          <a:ln/>
        </p:spPr>
        <p:txBody>
          <a:bodyPr wrap="square" lIns="0" tIns="0" rIns="0" bIns="0" rtlCol="0" anchor="t"/>
          <a:lstStyle/>
          <a:p>
            <a:pPr marL="0" indent="0">
              <a:buNone/>
            </a:pPr>
            <a:r>
              <a:rPr lang="en-US" sz="1200" i="1" dirty="0">
                <a:solidFill>
                  <a:srgbClr val="555555"/>
                </a:solidFill>
                <a:latin typeface="Arial" pitchFamily="34" charset="0"/>
                <a:ea typeface="Arial" pitchFamily="34" charset="-122"/>
                <a:cs typeface="Arial" pitchFamily="34" charset="-120"/>
              </a:rPr>
              <a:t>Floor above the band even after levers → 'fix or drop' verdict</a:t>
            </a:r>
            <a:endParaRPr lang="en-US" sz="1200" dirty="0"/>
          </a:p>
        </p:txBody>
      </p:sp>
      <p:sp>
        <p:nvSpPr>
          <p:cNvPr id="40" name="Text 38"/>
          <p:cNvSpPr txBox="1"/>
          <p:nvPr/>
        </p:nvSpPr>
        <p:spPr>
          <a:xfrm>
            <a:off x="457200" y="7253552"/>
            <a:ext cx="5303520" cy="329184"/>
          </a:xfrm>
          <a:prstGeom prst="rect">
            <a:avLst/>
          </a:prstGeom>
          <a:noFill/>
          <a:ln/>
        </p:spPr>
        <p:txBody>
          <a:bodyPr wrap="square" lIns="0" tIns="0" rIns="0" bIns="0" rtlCol="0" anchor="t"/>
          <a:lstStyle/>
          <a:p>
            <a:pPr marL="0" indent="0">
              <a:buNone/>
            </a:pPr>
            <a:r>
              <a:rPr lang="en-US" b="1" dirty="0">
                <a:solidFill>
                  <a:srgbClr val="5B0F4E"/>
                </a:solidFill>
                <a:latin typeface="Arial" pitchFamily="34" charset="0"/>
                <a:ea typeface="Arial" pitchFamily="34" charset="-122"/>
                <a:cs typeface="Arial" pitchFamily="34" charset="-120"/>
              </a:rPr>
              <a:t>Why this feature</a:t>
            </a:r>
            <a:endParaRPr lang="en-US" dirty="0"/>
          </a:p>
        </p:txBody>
      </p:sp>
      <p:sp>
        <p:nvSpPr>
          <p:cNvPr id="41" name="Text 39"/>
          <p:cNvSpPr txBox="1"/>
          <p:nvPr/>
        </p:nvSpPr>
        <p:spPr>
          <a:xfrm>
            <a:off x="457200" y="7582736"/>
            <a:ext cx="5303520" cy="1920240"/>
          </a:xfrm>
          <a:prstGeom prst="rect">
            <a:avLst/>
          </a:prstGeom>
          <a:noFill/>
          <a:ln/>
        </p:spPr>
        <p:txBody>
          <a:bodyPr wrap="square" lIns="254" tIns="254" rIns="254" bIns="254" rtlCol="0" anchor="t"/>
          <a:lstStyle/>
          <a:p>
            <a:pPr marL="342900" indent="-342900">
              <a:spcAft>
                <a:spcPts val="300"/>
              </a:spcAft>
              <a:buSzPct val="100000"/>
              <a:buChar char="•"/>
            </a:pPr>
            <a:r>
              <a:rPr lang="en-US" sz="1200" dirty="0">
                <a:solidFill>
                  <a:srgbClr val="2B2B2B"/>
                </a:solidFill>
                <a:latin typeface="Arial" pitchFamily="34" charset="0"/>
                <a:ea typeface="Arial" pitchFamily="34" charset="-122"/>
                <a:cs typeface="Arial" pitchFamily="34" charset="-120"/>
              </a:rPr>
              <a:t>P3 reaches 100% of new sellers; P2 scores 16 on Reach × Impact</a:t>
            </a:r>
            <a:endParaRPr lang="en-US" sz="1200" dirty="0"/>
          </a:p>
          <a:p>
            <a:pPr marL="342900" indent="-342900">
              <a:spcAft>
                <a:spcPts val="300"/>
              </a:spcAft>
              <a:buSzPct val="100000"/>
              <a:buChar char="•"/>
            </a:pPr>
            <a:r>
              <a:rPr lang="en-US" sz="1200" dirty="0">
                <a:solidFill>
                  <a:srgbClr val="2B2B2B"/>
                </a:solidFill>
                <a:latin typeface="Arial" pitchFamily="34" charset="0"/>
                <a:ea typeface="Arial" pitchFamily="34" charset="-122"/>
                <a:cs typeface="Arial" pitchFamily="34" charset="-120"/>
              </a:rPr>
              <a:t>Every platform shows a market price; none marks it against the seller's own floor</a:t>
            </a:r>
            <a:endParaRPr lang="en-US" sz="1200" dirty="0"/>
          </a:p>
          <a:p>
            <a:pPr marL="342900" indent="-342900">
              <a:spcAft>
                <a:spcPts val="300"/>
              </a:spcAft>
              <a:buSzPct val="100000"/>
              <a:buChar char="•"/>
            </a:pPr>
            <a:r>
              <a:rPr lang="en-US" sz="1200" dirty="0">
                <a:solidFill>
                  <a:srgbClr val="2B2B2B"/>
                </a:solidFill>
                <a:latin typeface="Arial" pitchFamily="34" charset="0"/>
                <a:ea typeface="Arial" pitchFamily="34" charset="-122"/>
                <a:cs typeface="Arial" pitchFamily="34" charset="-120"/>
              </a:rPr>
              <a:t>Upgrades Meesho's existing Price Recommendation instead of replacing it</a:t>
            </a:r>
            <a:endParaRPr lang="en-US" sz="1200" dirty="0"/>
          </a:p>
          <a:p>
            <a:pPr marL="342900" indent="-342900">
              <a:spcAft>
                <a:spcPts val="300"/>
              </a:spcAft>
              <a:buSzPct val="100000"/>
              <a:buChar char="•"/>
            </a:pPr>
            <a:r>
              <a:rPr lang="en-US" sz="1200" dirty="0">
                <a:solidFill>
                  <a:srgbClr val="2B2B2B"/>
                </a:solidFill>
                <a:latin typeface="Arial" pitchFamily="34" charset="0"/>
                <a:ea typeface="Arial" pitchFamily="34" charset="-122"/>
                <a:cs typeface="Arial" pitchFamily="34" charset="-120"/>
              </a:rPr>
              <a:t>A range, never one target price, and the seller decides: avoids price-herding concerns (CCI 2025)</a:t>
            </a:r>
            <a:endParaRPr lang="en-US" sz="1200" dirty="0"/>
          </a:p>
          <a:p>
            <a:pPr marL="342900" indent="-342900">
              <a:spcAft>
                <a:spcPts val="300"/>
              </a:spcAft>
              <a:buSzPct val="100000"/>
              <a:buChar char="•"/>
            </a:pPr>
            <a:r>
              <a:rPr lang="en-US" sz="1200" dirty="0">
                <a:solidFill>
                  <a:srgbClr val="2B2B2B"/>
                </a:solidFill>
                <a:latin typeface="Arial" pitchFamily="34" charset="0"/>
                <a:ea typeface="Arial" pitchFamily="34" charset="-122"/>
                <a:cs typeface="Arial" pitchFamily="34" charset="-120"/>
              </a:rPr>
              <a:t>Small sellers can't learn price sensitivity alone; Meesho can pool it by category</a:t>
            </a:r>
            <a:endParaRPr lang="en-US" sz="1200" dirty="0"/>
          </a:p>
        </p:txBody>
      </p:sp>
      <p:sp>
        <p:nvSpPr>
          <p:cNvPr id="42" name="Text 40"/>
          <p:cNvSpPr txBox="1"/>
          <p:nvPr/>
        </p:nvSpPr>
        <p:spPr>
          <a:xfrm>
            <a:off x="5989320" y="3127248"/>
            <a:ext cx="6217920" cy="329184"/>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Wireframe (desktop prototype)</a:t>
            </a:r>
            <a:endParaRPr lang="en-US" sz="1400" dirty="0"/>
          </a:p>
        </p:txBody>
      </p:sp>
      <p:sp>
        <p:nvSpPr>
          <p:cNvPr id="43" name="Shape 41"/>
          <p:cNvSpPr/>
          <p:nvPr/>
        </p:nvSpPr>
        <p:spPr>
          <a:xfrm>
            <a:off x="5989320" y="3474720"/>
            <a:ext cx="4343400" cy="3154680"/>
          </a:xfrm>
          <a:prstGeom prst="roundRect">
            <a:avLst>
              <a:gd name="adj" fmla="val 2319"/>
            </a:avLst>
          </a:prstGeom>
          <a:solidFill>
            <a:srgbClr val="FFFFFF"/>
          </a:solidFill>
          <a:ln w="12700">
            <a:solidFill>
              <a:srgbClr val="C9C9D1"/>
            </a:solidFill>
            <a:prstDash val="solid"/>
          </a:ln>
          <a:effectLst>
            <a:outerShdw blurRad="50800" dist="19050" dir="5400000" algn="bl" rotWithShape="0">
              <a:srgbClr val="999999">
                <a:alpha val="25000"/>
              </a:srgbClr>
            </a:outerShdw>
          </a:effectLst>
        </p:spPr>
        <p:txBody>
          <a:bodyPr/>
          <a:lstStyle/>
          <a:p>
            <a:endParaRPr lang="en-IN"/>
          </a:p>
        </p:txBody>
      </p:sp>
      <p:sp>
        <p:nvSpPr>
          <p:cNvPr id="44" name="Shape 42"/>
          <p:cNvSpPr/>
          <p:nvPr/>
        </p:nvSpPr>
        <p:spPr>
          <a:xfrm>
            <a:off x="6007608" y="3493008"/>
            <a:ext cx="4306824" cy="219456"/>
          </a:xfrm>
          <a:prstGeom prst="rect">
            <a:avLst/>
          </a:prstGeom>
          <a:solidFill>
            <a:srgbClr val="EDEDF2"/>
          </a:solidFill>
          <a:ln w="12700">
            <a:solidFill>
              <a:srgbClr val="EDEDF2"/>
            </a:solidFill>
            <a:prstDash val="solid"/>
          </a:ln>
        </p:spPr>
        <p:txBody>
          <a:bodyPr/>
          <a:lstStyle/>
          <a:p>
            <a:endParaRPr lang="en-IN"/>
          </a:p>
        </p:txBody>
      </p:sp>
      <p:sp>
        <p:nvSpPr>
          <p:cNvPr id="45" name="Shape 43"/>
          <p:cNvSpPr/>
          <p:nvPr/>
        </p:nvSpPr>
        <p:spPr>
          <a:xfrm>
            <a:off x="6080760" y="3538728"/>
            <a:ext cx="91440" cy="91440"/>
          </a:xfrm>
          <a:prstGeom prst="ellipse">
            <a:avLst/>
          </a:prstGeom>
          <a:solidFill>
            <a:srgbClr val="F28B82"/>
          </a:solidFill>
          <a:ln w="12700">
            <a:solidFill>
              <a:srgbClr val="F28B82"/>
            </a:solidFill>
            <a:prstDash val="solid"/>
          </a:ln>
        </p:spPr>
        <p:txBody>
          <a:bodyPr/>
          <a:lstStyle/>
          <a:p>
            <a:endParaRPr lang="en-IN"/>
          </a:p>
        </p:txBody>
      </p:sp>
      <p:sp>
        <p:nvSpPr>
          <p:cNvPr id="46" name="Shape 44"/>
          <p:cNvSpPr/>
          <p:nvPr/>
        </p:nvSpPr>
        <p:spPr>
          <a:xfrm>
            <a:off x="6227064" y="3538728"/>
            <a:ext cx="91440" cy="91440"/>
          </a:xfrm>
          <a:prstGeom prst="ellipse">
            <a:avLst/>
          </a:prstGeom>
          <a:solidFill>
            <a:srgbClr val="FDD663"/>
          </a:solidFill>
          <a:ln w="12700">
            <a:solidFill>
              <a:srgbClr val="FDD663"/>
            </a:solidFill>
            <a:prstDash val="solid"/>
          </a:ln>
        </p:spPr>
        <p:txBody>
          <a:bodyPr/>
          <a:lstStyle/>
          <a:p>
            <a:endParaRPr lang="en-IN"/>
          </a:p>
        </p:txBody>
      </p:sp>
      <p:sp>
        <p:nvSpPr>
          <p:cNvPr id="47" name="Shape 45"/>
          <p:cNvSpPr/>
          <p:nvPr/>
        </p:nvSpPr>
        <p:spPr>
          <a:xfrm>
            <a:off x="6373368" y="3538728"/>
            <a:ext cx="91440" cy="91440"/>
          </a:xfrm>
          <a:prstGeom prst="ellipse">
            <a:avLst/>
          </a:prstGeom>
          <a:solidFill>
            <a:srgbClr val="A8DAB5"/>
          </a:solidFill>
          <a:ln w="12700">
            <a:solidFill>
              <a:srgbClr val="A8DAB5"/>
            </a:solidFill>
            <a:prstDash val="solid"/>
          </a:ln>
        </p:spPr>
        <p:txBody>
          <a:bodyPr/>
          <a:lstStyle/>
          <a:p>
            <a:endParaRPr lang="en-IN"/>
          </a:p>
        </p:txBody>
      </p:sp>
      <p:sp>
        <p:nvSpPr>
          <p:cNvPr id="48" name="Text 46"/>
          <p:cNvSpPr txBox="1"/>
          <p:nvPr/>
        </p:nvSpPr>
        <p:spPr>
          <a:xfrm>
            <a:off x="6629400" y="3493008"/>
            <a:ext cx="1828800" cy="219456"/>
          </a:xfrm>
          <a:prstGeom prst="rect">
            <a:avLst/>
          </a:prstGeom>
          <a:noFill/>
          <a:ln/>
        </p:spPr>
        <p:txBody>
          <a:bodyPr wrap="square" lIns="0" tIns="0" rIns="0" bIns="0" rtlCol="0" anchor="ctr"/>
          <a:lstStyle/>
          <a:p>
            <a:pPr marL="0" indent="0">
              <a:buNone/>
            </a:pPr>
            <a:r>
              <a:rPr lang="en-US" sz="750" dirty="0">
                <a:solidFill>
                  <a:srgbClr val="555555"/>
                </a:solidFill>
                <a:latin typeface="Arial" pitchFamily="34" charset="0"/>
                <a:ea typeface="Arial" pitchFamily="34" charset="-122"/>
                <a:cs typeface="Arial" pitchFamily="34" charset="-120"/>
              </a:rPr>
              <a:t>sahidaam.app (demo)</a:t>
            </a:r>
            <a:endParaRPr lang="en-US" sz="750" dirty="0"/>
          </a:p>
        </p:txBody>
      </p:sp>
      <p:sp>
        <p:nvSpPr>
          <p:cNvPr id="49" name="Shape 47"/>
          <p:cNvSpPr/>
          <p:nvPr/>
        </p:nvSpPr>
        <p:spPr>
          <a:xfrm>
            <a:off x="6007608" y="3712464"/>
            <a:ext cx="4306824" cy="310896"/>
          </a:xfrm>
          <a:prstGeom prst="rect">
            <a:avLst/>
          </a:prstGeom>
          <a:solidFill>
            <a:srgbClr val="FFFFFF"/>
          </a:solidFill>
          <a:ln w="12700">
            <a:solidFill>
              <a:srgbClr val="FFFFFF"/>
            </a:solidFill>
            <a:prstDash val="solid"/>
          </a:ln>
        </p:spPr>
        <p:txBody>
          <a:bodyPr/>
          <a:lstStyle/>
          <a:p>
            <a:endParaRPr lang="en-IN"/>
          </a:p>
        </p:txBody>
      </p:sp>
      <p:sp>
        <p:nvSpPr>
          <p:cNvPr id="50" name="Shape 48"/>
          <p:cNvSpPr/>
          <p:nvPr/>
        </p:nvSpPr>
        <p:spPr>
          <a:xfrm>
            <a:off x="6007608" y="4023360"/>
            <a:ext cx="4306824" cy="0"/>
          </a:xfrm>
          <a:prstGeom prst="line">
            <a:avLst/>
          </a:prstGeom>
          <a:noFill/>
          <a:ln w="9525">
            <a:solidFill>
              <a:srgbClr val="E6E6EB"/>
            </a:solidFill>
            <a:prstDash val="solid"/>
          </a:ln>
        </p:spPr>
        <p:txBody>
          <a:bodyPr/>
          <a:lstStyle/>
          <a:p>
            <a:endParaRPr lang="en-IN"/>
          </a:p>
        </p:txBody>
      </p:sp>
      <p:sp>
        <p:nvSpPr>
          <p:cNvPr id="51" name="Text 49"/>
          <p:cNvSpPr txBox="1"/>
          <p:nvPr/>
        </p:nvSpPr>
        <p:spPr>
          <a:xfrm>
            <a:off x="6099048" y="3730752"/>
            <a:ext cx="914400" cy="274320"/>
          </a:xfrm>
          <a:prstGeom prst="rect">
            <a:avLst/>
          </a:prstGeom>
          <a:noFill/>
          <a:ln/>
        </p:spPr>
        <p:txBody>
          <a:bodyPr wrap="square" lIns="0" tIns="0" rIns="0" bIns="0" rtlCol="0" anchor="ctr"/>
          <a:lstStyle/>
          <a:p>
            <a:pPr marL="0" indent="0">
              <a:buNone/>
            </a:pPr>
            <a:r>
              <a:rPr lang="en-US" sz="1000" b="1" dirty="0">
                <a:solidFill>
                  <a:srgbClr val="5B0F4E"/>
                </a:solidFill>
                <a:latin typeface="Arial" pitchFamily="34" charset="0"/>
                <a:ea typeface="Arial" pitchFamily="34" charset="-122"/>
                <a:cs typeface="Arial" pitchFamily="34" charset="-120"/>
              </a:rPr>
              <a:t>Sahi Daam</a:t>
            </a:r>
            <a:endParaRPr lang="en-US" sz="1000" dirty="0"/>
          </a:p>
        </p:txBody>
      </p:sp>
      <p:sp>
        <p:nvSpPr>
          <p:cNvPr id="52" name="Text 50"/>
          <p:cNvSpPr txBox="1"/>
          <p:nvPr/>
        </p:nvSpPr>
        <p:spPr>
          <a:xfrm>
            <a:off x="7086600" y="3730752"/>
            <a:ext cx="868680" cy="274320"/>
          </a:xfrm>
          <a:prstGeom prst="rect">
            <a:avLst/>
          </a:prstGeom>
          <a:noFill/>
          <a:ln/>
        </p:spPr>
        <p:txBody>
          <a:bodyPr wrap="square" lIns="0" tIns="0" rIns="0" bIns="0" rtlCol="0" anchor="ctr"/>
          <a:lstStyle/>
          <a:p>
            <a:pPr marL="0" indent="0">
              <a:buNone/>
            </a:pPr>
            <a:r>
              <a:rPr lang="en-US" sz="750" dirty="0">
                <a:solidFill>
                  <a:srgbClr val="2B2B2B"/>
                </a:solidFill>
                <a:latin typeface="Arial" pitchFamily="34" charset="0"/>
                <a:ea typeface="Arial" pitchFamily="34" charset="-122"/>
                <a:cs typeface="Arial" pitchFamily="34" charset="-120"/>
              </a:rPr>
              <a:t>Munafa Meter</a:t>
            </a:r>
            <a:endParaRPr lang="en-US" sz="750" dirty="0"/>
          </a:p>
        </p:txBody>
      </p:sp>
      <p:sp>
        <p:nvSpPr>
          <p:cNvPr id="53" name="Text 51"/>
          <p:cNvSpPr txBox="1"/>
          <p:nvPr/>
        </p:nvSpPr>
        <p:spPr>
          <a:xfrm>
            <a:off x="7955280" y="3730752"/>
            <a:ext cx="868680" cy="274320"/>
          </a:xfrm>
          <a:prstGeom prst="rect">
            <a:avLst/>
          </a:prstGeom>
          <a:noFill/>
          <a:ln/>
        </p:spPr>
        <p:txBody>
          <a:bodyPr wrap="square" lIns="0" tIns="0" rIns="0" bIns="0" rtlCol="0" anchor="ctr"/>
          <a:lstStyle/>
          <a:p>
            <a:pPr marL="0" indent="0">
              <a:buNone/>
            </a:pPr>
            <a:r>
              <a:rPr lang="en-US" sz="750" b="1" dirty="0">
                <a:solidFill>
                  <a:srgbClr val="F43397"/>
                </a:solidFill>
                <a:latin typeface="Arial" pitchFamily="34" charset="0"/>
                <a:ea typeface="Arial" pitchFamily="34" charset="-122"/>
                <a:cs typeface="Arial" pitchFamily="34" charset="-120"/>
              </a:rPr>
              <a:t>Smart Band</a:t>
            </a:r>
            <a:endParaRPr lang="en-US" sz="750" dirty="0"/>
          </a:p>
        </p:txBody>
      </p:sp>
      <p:sp>
        <p:nvSpPr>
          <p:cNvPr id="54" name="Text 52"/>
          <p:cNvSpPr txBox="1"/>
          <p:nvPr/>
        </p:nvSpPr>
        <p:spPr>
          <a:xfrm>
            <a:off x="8823960" y="3730752"/>
            <a:ext cx="868680" cy="274320"/>
          </a:xfrm>
          <a:prstGeom prst="rect">
            <a:avLst/>
          </a:prstGeom>
          <a:noFill/>
          <a:ln/>
        </p:spPr>
        <p:txBody>
          <a:bodyPr wrap="square" lIns="0" tIns="0" rIns="0" bIns="0" rtlCol="0" anchor="ctr"/>
          <a:lstStyle/>
          <a:p>
            <a:pPr marL="0" indent="0">
              <a:buNone/>
            </a:pPr>
            <a:r>
              <a:rPr lang="en-US" sz="750" dirty="0">
                <a:solidFill>
                  <a:srgbClr val="2B2B2B"/>
                </a:solidFill>
                <a:latin typeface="Arial" pitchFamily="34" charset="0"/>
                <a:ea typeface="Arial" pitchFamily="34" charset="-122"/>
                <a:cs typeface="Arial" pitchFamily="34" charset="-120"/>
              </a:rPr>
              <a:t>Autopilot</a:t>
            </a:r>
            <a:endParaRPr lang="en-US" sz="750" dirty="0"/>
          </a:p>
        </p:txBody>
      </p:sp>
      <p:sp>
        <p:nvSpPr>
          <p:cNvPr id="55" name="Shape 53"/>
          <p:cNvSpPr/>
          <p:nvPr/>
        </p:nvSpPr>
        <p:spPr>
          <a:xfrm>
            <a:off x="9464040" y="3758184"/>
            <a:ext cx="758952" cy="219456"/>
          </a:xfrm>
          <a:prstGeom prst="roundRect">
            <a:avLst>
              <a:gd name="adj" fmla="val 20833"/>
            </a:avLst>
          </a:prstGeom>
          <a:solidFill>
            <a:srgbClr val="4A2BD0"/>
          </a:solidFill>
          <a:ln w="12700">
            <a:solidFill>
              <a:srgbClr val="4A2BD0"/>
            </a:solidFill>
            <a:prstDash val="solid"/>
          </a:ln>
        </p:spPr>
        <p:txBody>
          <a:bodyPr/>
          <a:lstStyle/>
          <a:p>
            <a:endParaRPr lang="en-IN"/>
          </a:p>
        </p:txBody>
      </p:sp>
      <p:sp>
        <p:nvSpPr>
          <p:cNvPr id="56" name="Text 54"/>
          <p:cNvSpPr txBox="1"/>
          <p:nvPr/>
        </p:nvSpPr>
        <p:spPr>
          <a:xfrm>
            <a:off x="9464040" y="3758184"/>
            <a:ext cx="758952" cy="219456"/>
          </a:xfrm>
          <a:prstGeom prst="rect">
            <a:avLst/>
          </a:prstGeom>
          <a:noFill/>
          <a:ln/>
        </p:spPr>
        <p:txBody>
          <a:bodyPr wrap="square" lIns="0" tIns="0" rIns="0" bIns="0"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Start pricing</a:t>
            </a:r>
            <a:endParaRPr lang="en-US" sz="700" dirty="0"/>
          </a:p>
        </p:txBody>
      </p:sp>
      <p:sp>
        <p:nvSpPr>
          <p:cNvPr id="57" name="Text 55"/>
          <p:cNvSpPr txBox="1"/>
          <p:nvPr/>
        </p:nvSpPr>
        <p:spPr>
          <a:xfrm>
            <a:off x="6099048" y="4114800"/>
            <a:ext cx="914400" cy="201168"/>
          </a:xfrm>
          <a:prstGeom prst="rect">
            <a:avLst/>
          </a:prstGeom>
          <a:noFill/>
          <a:ln/>
        </p:spPr>
        <p:txBody>
          <a:bodyPr wrap="square" lIns="0" tIns="0" rIns="0" bIns="0" rtlCol="0" anchor="t"/>
          <a:lstStyle/>
          <a:p>
            <a:pPr marL="0" indent="0">
              <a:buNone/>
            </a:pPr>
            <a:r>
              <a:rPr lang="en-US" sz="800" b="1" dirty="0">
                <a:solidFill>
                  <a:srgbClr val="2B2B2B"/>
                </a:solidFill>
                <a:latin typeface="Arial" pitchFamily="34" charset="0"/>
                <a:ea typeface="Arial" pitchFamily="34" charset="-122"/>
                <a:cs typeface="Arial" pitchFamily="34" charset="-120"/>
              </a:rPr>
              <a:t>Kurti set</a:t>
            </a:r>
            <a:endParaRPr lang="en-US" sz="800" dirty="0"/>
          </a:p>
        </p:txBody>
      </p:sp>
      <p:sp>
        <p:nvSpPr>
          <p:cNvPr id="58" name="Shape 56"/>
          <p:cNvSpPr/>
          <p:nvPr/>
        </p:nvSpPr>
        <p:spPr>
          <a:xfrm>
            <a:off x="6190488" y="4434840"/>
            <a:ext cx="1764381" cy="292608"/>
          </a:xfrm>
          <a:prstGeom prst="rect">
            <a:avLst/>
          </a:prstGeom>
          <a:solidFill>
            <a:srgbClr val="F4B6B6"/>
          </a:solidFill>
          <a:ln w="12700">
            <a:solidFill>
              <a:srgbClr val="F4B6B6"/>
            </a:solidFill>
            <a:prstDash val="solid"/>
          </a:ln>
        </p:spPr>
        <p:txBody>
          <a:bodyPr/>
          <a:lstStyle/>
          <a:p>
            <a:endParaRPr lang="en-IN"/>
          </a:p>
        </p:txBody>
      </p:sp>
      <p:sp>
        <p:nvSpPr>
          <p:cNvPr id="59" name="Shape 57"/>
          <p:cNvSpPr/>
          <p:nvPr/>
        </p:nvSpPr>
        <p:spPr>
          <a:xfrm>
            <a:off x="7954869" y="4434840"/>
            <a:ext cx="155859" cy="292608"/>
          </a:xfrm>
          <a:prstGeom prst="rect">
            <a:avLst/>
          </a:prstGeom>
          <a:solidFill>
            <a:srgbClr val="FCD9A0"/>
          </a:solidFill>
          <a:ln w="12700">
            <a:solidFill>
              <a:srgbClr val="FCD9A0"/>
            </a:solidFill>
            <a:prstDash val="solid"/>
          </a:ln>
        </p:spPr>
        <p:txBody>
          <a:bodyPr/>
          <a:lstStyle/>
          <a:p>
            <a:endParaRPr lang="en-IN"/>
          </a:p>
        </p:txBody>
      </p:sp>
      <p:sp>
        <p:nvSpPr>
          <p:cNvPr id="60" name="Shape 58"/>
          <p:cNvSpPr/>
          <p:nvPr/>
        </p:nvSpPr>
        <p:spPr>
          <a:xfrm>
            <a:off x="8110728" y="4434840"/>
            <a:ext cx="1920240" cy="292608"/>
          </a:xfrm>
          <a:prstGeom prst="rect">
            <a:avLst/>
          </a:prstGeom>
          <a:solidFill>
            <a:srgbClr val="F4F4F4"/>
          </a:solidFill>
          <a:ln w="12700">
            <a:solidFill>
              <a:srgbClr val="F4F4F4"/>
            </a:solidFill>
            <a:prstDash val="solid"/>
          </a:ln>
        </p:spPr>
        <p:txBody>
          <a:bodyPr/>
          <a:lstStyle/>
          <a:p>
            <a:endParaRPr lang="en-IN"/>
          </a:p>
        </p:txBody>
      </p:sp>
      <p:sp>
        <p:nvSpPr>
          <p:cNvPr id="61" name="Text 59"/>
          <p:cNvSpPr txBox="1"/>
          <p:nvPr/>
        </p:nvSpPr>
        <p:spPr>
          <a:xfrm>
            <a:off x="6190488" y="4434840"/>
            <a:ext cx="1764381" cy="292608"/>
          </a:xfrm>
          <a:prstGeom prst="rect">
            <a:avLst/>
          </a:prstGeom>
          <a:noFill/>
          <a:ln/>
        </p:spPr>
        <p:txBody>
          <a:bodyPr wrap="square" lIns="0" tIns="0" rIns="0" bIns="0" rtlCol="0" anchor="ctr"/>
          <a:lstStyle/>
          <a:p>
            <a:pPr marL="0" indent="0" algn="ctr">
              <a:buNone/>
            </a:pPr>
            <a:r>
              <a:rPr lang="en-US" sz="750" dirty="0">
                <a:solidFill>
                  <a:srgbClr val="2B2B2B"/>
                </a:solidFill>
                <a:latin typeface="Arial" pitchFamily="34" charset="0"/>
                <a:ea typeface="Arial" pitchFamily="34" charset="-122"/>
                <a:cs typeface="Arial" pitchFamily="34" charset="-120"/>
              </a:rPr>
              <a:t>Loss</a:t>
            </a:r>
            <a:endParaRPr lang="en-US" sz="750" dirty="0"/>
          </a:p>
        </p:txBody>
      </p:sp>
      <p:sp>
        <p:nvSpPr>
          <p:cNvPr id="62" name="Text 60"/>
          <p:cNvSpPr txBox="1"/>
          <p:nvPr/>
        </p:nvSpPr>
        <p:spPr>
          <a:xfrm>
            <a:off x="8110728" y="4434840"/>
            <a:ext cx="1920240" cy="292608"/>
          </a:xfrm>
          <a:prstGeom prst="rect">
            <a:avLst/>
          </a:prstGeom>
          <a:noFill/>
          <a:ln/>
        </p:spPr>
        <p:txBody>
          <a:bodyPr wrap="square" lIns="0" tIns="0" rIns="0" bIns="0" rtlCol="0" anchor="ctr"/>
          <a:lstStyle/>
          <a:p>
            <a:pPr marL="0" indent="0" algn="ctr">
              <a:buNone/>
            </a:pPr>
            <a:r>
              <a:rPr lang="en-US" sz="700" dirty="0">
                <a:solidFill>
                  <a:srgbClr val="555555"/>
                </a:solidFill>
                <a:latin typeface="Arial" pitchFamily="34" charset="0"/>
                <a:ea typeface="Arial" pitchFamily="34" charset="-122"/>
                <a:cs typeface="Arial" pitchFamily="34" charset="-120"/>
              </a:rPr>
              <a:t>Above band</a:t>
            </a:r>
            <a:endParaRPr lang="en-US" sz="700" dirty="0"/>
          </a:p>
        </p:txBody>
      </p:sp>
      <p:sp>
        <p:nvSpPr>
          <p:cNvPr id="63" name="Shape 61"/>
          <p:cNvSpPr/>
          <p:nvPr/>
        </p:nvSpPr>
        <p:spPr>
          <a:xfrm>
            <a:off x="7150608" y="4379976"/>
            <a:ext cx="0" cy="402336"/>
          </a:xfrm>
          <a:prstGeom prst="line">
            <a:avLst/>
          </a:prstGeom>
          <a:noFill/>
          <a:ln w="9525">
            <a:solidFill>
              <a:srgbClr val="2B2B2B"/>
            </a:solidFill>
            <a:prstDash val="solid"/>
          </a:ln>
        </p:spPr>
        <p:txBody>
          <a:bodyPr/>
          <a:lstStyle/>
          <a:p>
            <a:endParaRPr lang="en-IN"/>
          </a:p>
        </p:txBody>
      </p:sp>
      <p:sp>
        <p:nvSpPr>
          <p:cNvPr id="64" name="Text 62"/>
          <p:cNvSpPr txBox="1"/>
          <p:nvPr/>
        </p:nvSpPr>
        <p:spPr>
          <a:xfrm>
            <a:off x="6830568" y="4782312"/>
            <a:ext cx="640080" cy="164592"/>
          </a:xfrm>
          <a:prstGeom prst="rect">
            <a:avLst/>
          </a:prstGeom>
          <a:noFill/>
          <a:ln/>
        </p:spPr>
        <p:txBody>
          <a:bodyPr wrap="square" lIns="0" tIns="0" rIns="0" bIns="0" rtlCol="0" anchor="t"/>
          <a:lstStyle/>
          <a:p>
            <a:pPr marL="0" indent="0" algn="ctr">
              <a:buNone/>
            </a:pPr>
            <a:r>
              <a:rPr lang="en-US" sz="600" dirty="0">
                <a:solidFill>
                  <a:srgbClr val="555555"/>
                </a:solidFill>
                <a:latin typeface="Arial" pitchFamily="34" charset="0"/>
                <a:ea typeface="Arial" pitchFamily="34" charset="-122"/>
                <a:cs typeface="Arial" pitchFamily="34" charset="-120"/>
              </a:rPr>
              <a:t>Q1 ₹289</a:t>
            </a:r>
            <a:endParaRPr lang="en-US" sz="600" dirty="0"/>
          </a:p>
        </p:txBody>
      </p:sp>
      <p:sp>
        <p:nvSpPr>
          <p:cNvPr id="65" name="Shape 63"/>
          <p:cNvSpPr/>
          <p:nvPr/>
        </p:nvSpPr>
        <p:spPr>
          <a:xfrm>
            <a:off x="7470648" y="4379976"/>
            <a:ext cx="0" cy="402336"/>
          </a:xfrm>
          <a:prstGeom prst="line">
            <a:avLst/>
          </a:prstGeom>
          <a:noFill/>
          <a:ln w="9525">
            <a:solidFill>
              <a:srgbClr val="2B2B2B"/>
            </a:solidFill>
            <a:prstDash val="solid"/>
          </a:ln>
        </p:spPr>
        <p:txBody>
          <a:bodyPr/>
          <a:lstStyle/>
          <a:p>
            <a:endParaRPr lang="en-IN"/>
          </a:p>
        </p:txBody>
      </p:sp>
      <p:sp>
        <p:nvSpPr>
          <p:cNvPr id="66" name="Text 64"/>
          <p:cNvSpPr txBox="1"/>
          <p:nvPr/>
        </p:nvSpPr>
        <p:spPr>
          <a:xfrm>
            <a:off x="7150608" y="4910328"/>
            <a:ext cx="640080" cy="164592"/>
          </a:xfrm>
          <a:prstGeom prst="rect">
            <a:avLst/>
          </a:prstGeom>
          <a:noFill/>
          <a:ln/>
        </p:spPr>
        <p:txBody>
          <a:bodyPr wrap="square" lIns="0" tIns="0" rIns="0" bIns="0" rtlCol="0" anchor="t"/>
          <a:lstStyle/>
          <a:p>
            <a:pPr marL="0" indent="0" algn="ctr">
              <a:buNone/>
            </a:pPr>
            <a:r>
              <a:rPr lang="en-US" sz="600" dirty="0">
                <a:solidFill>
                  <a:srgbClr val="555555"/>
                </a:solidFill>
                <a:latin typeface="Arial" pitchFamily="34" charset="0"/>
                <a:ea typeface="Arial" pitchFamily="34" charset="-122"/>
                <a:cs typeface="Arial" pitchFamily="34" charset="-120"/>
              </a:rPr>
              <a:t>Median ₹299</a:t>
            </a:r>
            <a:endParaRPr lang="en-US" sz="600" dirty="0"/>
          </a:p>
        </p:txBody>
      </p:sp>
      <p:sp>
        <p:nvSpPr>
          <p:cNvPr id="67" name="Shape 65"/>
          <p:cNvSpPr/>
          <p:nvPr/>
        </p:nvSpPr>
        <p:spPr>
          <a:xfrm>
            <a:off x="8110728" y="4379976"/>
            <a:ext cx="0" cy="402336"/>
          </a:xfrm>
          <a:prstGeom prst="line">
            <a:avLst/>
          </a:prstGeom>
          <a:noFill/>
          <a:ln w="9525">
            <a:solidFill>
              <a:srgbClr val="2B2B2B"/>
            </a:solidFill>
            <a:prstDash val="solid"/>
          </a:ln>
        </p:spPr>
        <p:txBody>
          <a:bodyPr/>
          <a:lstStyle/>
          <a:p>
            <a:endParaRPr lang="en-IN"/>
          </a:p>
        </p:txBody>
      </p:sp>
      <p:sp>
        <p:nvSpPr>
          <p:cNvPr id="68" name="Text 66"/>
          <p:cNvSpPr txBox="1"/>
          <p:nvPr/>
        </p:nvSpPr>
        <p:spPr>
          <a:xfrm>
            <a:off x="7790688" y="4782312"/>
            <a:ext cx="640080" cy="164592"/>
          </a:xfrm>
          <a:prstGeom prst="rect">
            <a:avLst/>
          </a:prstGeom>
          <a:noFill/>
          <a:ln/>
        </p:spPr>
        <p:txBody>
          <a:bodyPr wrap="square" lIns="0" tIns="0" rIns="0" bIns="0" rtlCol="0" anchor="t"/>
          <a:lstStyle/>
          <a:p>
            <a:pPr marL="0" indent="0" algn="ctr">
              <a:buNone/>
            </a:pPr>
            <a:r>
              <a:rPr lang="en-US" sz="600" dirty="0">
                <a:solidFill>
                  <a:srgbClr val="555555"/>
                </a:solidFill>
                <a:latin typeface="Arial" pitchFamily="34" charset="0"/>
                <a:ea typeface="Arial" pitchFamily="34" charset="-122"/>
                <a:cs typeface="Arial" pitchFamily="34" charset="-120"/>
              </a:rPr>
              <a:t>Q3 ₹319</a:t>
            </a:r>
            <a:endParaRPr lang="en-US" sz="600" dirty="0"/>
          </a:p>
        </p:txBody>
      </p:sp>
      <p:sp>
        <p:nvSpPr>
          <p:cNvPr id="69" name="Shape 67"/>
          <p:cNvSpPr/>
          <p:nvPr/>
        </p:nvSpPr>
        <p:spPr>
          <a:xfrm>
            <a:off x="7954869" y="4325112"/>
            <a:ext cx="0" cy="512064"/>
          </a:xfrm>
          <a:prstGeom prst="line">
            <a:avLst/>
          </a:prstGeom>
          <a:noFill/>
          <a:ln w="25400">
            <a:solidFill>
              <a:srgbClr val="5B0F4E"/>
            </a:solidFill>
            <a:prstDash val="dash"/>
          </a:ln>
        </p:spPr>
        <p:txBody>
          <a:bodyPr/>
          <a:lstStyle/>
          <a:p>
            <a:endParaRPr lang="en-IN"/>
          </a:p>
        </p:txBody>
      </p:sp>
      <p:sp>
        <p:nvSpPr>
          <p:cNvPr id="70" name="Text 68"/>
          <p:cNvSpPr txBox="1"/>
          <p:nvPr/>
        </p:nvSpPr>
        <p:spPr>
          <a:xfrm>
            <a:off x="7177629" y="4178808"/>
            <a:ext cx="731520" cy="164592"/>
          </a:xfrm>
          <a:prstGeom prst="rect">
            <a:avLst/>
          </a:prstGeom>
          <a:noFill/>
          <a:ln/>
        </p:spPr>
        <p:txBody>
          <a:bodyPr wrap="square" lIns="0" tIns="0" rIns="0" bIns="0" rtlCol="0" anchor="t"/>
          <a:lstStyle/>
          <a:p>
            <a:pPr marL="0" indent="0">
              <a:buNone/>
            </a:pPr>
            <a:r>
              <a:rPr lang="en-US" sz="650" b="1" dirty="0">
                <a:solidFill>
                  <a:srgbClr val="5B0F4E"/>
                </a:solidFill>
                <a:latin typeface="Arial" pitchFamily="34" charset="0"/>
                <a:ea typeface="Arial" pitchFamily="34" charset="-122"/>
                <a:cs typeface="Arial" pitchFamily="34" charset="-120"/>
              </a:rPr>
              <a:t>Floor ₹314</a:t>
            </a:r>
            <a:endParaRPr lang="en-US" sz="650" dirty="0"/>
          </a:p>
        </p:txBody>
      </p:sp>
      <p:sp>
        <p:nvSpPr>
          <p:cNvPr id="71" name="Shape 69"/>
          <p:cNvSpPr/>
          <p:nvPr/>
        </p:nvSpPr>
        <p:spPr>
          <a:xfrm>
            <a:off x="7406640" y="4517136"/>
            <a:ext cx="128016" cy="128016"/>
          </a:xfrm>
          <a:prstGeom prst="ellipse">
            <a:avLst/>
          </a:prstGeom>
          <a:solidFill>
            <a:srgbClr val="F43397"/>
          </a:solidFill>
          <a:ln w="12700">
            <a:solidFill>
              <a:srgbClr val="FFFFFF"/>
            </a:solidFill>
            <a:prstDash val="solid"/>
          </a:ln>
        </p:spPr>
        <p:txBody>
          <a:bodyPr/>
          <a:lstStyle/>
          <a:p>
            <a:endParaRPr lang="en-IN"/>
          </a:p>
        </p:txBody>
      </p:sp>
      <p:sp>
        <p:nvSpPr>
          <p:cNvPr id="72" name="Text 70"/>
          <p:cNvSpPr txBox="1"/>
          <p:nvPr/>
        </p:nvSpPr>
        <p:spPr>
          <a:xfrm>
            <a:off x="6099048" y="5093208"/>
            <a:ext cx="3017520" cy="182880"/>
          </a:xfrm>
          <a:prstGeom prst="rect">
            <a:avLst/>
          </a:prstGeom>
          <a:noFill/>
          <a:ln/>
        </p:spPr>
        <p:txBody>
          <a:bodyPr wrap="square" lIns="0" tIns="0" rIns="0" bIns="0" rtlCol="0" anchor="t"/>
          <a:lstStyle/>
          <a:p>
            <a:pPr marL="0" indent="0">
              <a:buNone/>
            </a:pPr>
            <a:r>
              <a:rPr lang="en-US" sz="750" dirty="0">
                <a:solidFill>
                  <a:srgbClr val="2B2B2B"/>
                </a:solidFill>
                <a:latin typeface="Arial" pitchFamily="34" charset="0"/>
                <a:ea typeface="Arial" pitchFamily="34" charset="-122"/>
                <a:cs typeface="Arial" pitchFamily="34" charset="-120"/>
              </a:rPr>
              <a:t>₹299 is cheaper than 48% of similar listings</a:t>
            </a:r>
            <a:endParaRPr lang="en-US" sz="750" dirty="0"/>
          </a:p>
        </p:txBody>
      </p:sp>
      <p:sp>
        <p:nvSpPr>
          <p:cNvPr id="73" name="Shape 71"/>
          <p:cNvSpPr/>
          <p:nvPr/>
        </p:nvSpPr>
        <p:spPr>
          <a:xfrm>
            <a:off x="6099048" y="5257800"/>
            <a:ext cx="1298448" cy="868680"/>
          </a:xfrm>
          <a:prstGeom prst="roundRect">
            <a:avLst>
              <a:gd name="adj" fmla="val 5263"/>
            </a:avLst>
          </a:prstGeom>
          <a:solidFill>
            <a:srgbClr val="F3E8F1"/>
          </a:solidFill>
          <a:ln w="12700">
            <a:solidFill>
              <a:srgbClr val="F3E8F1"/>
            </a:solidFill>
            <a:prstDash val="solid"/>
          </a:ln>
        </p:spPr>
        <p:txBody>
          <a:bodyPr/>
          <a:lstStyle/>
          <a:p>
            <a:endParaRPr lang="en-IN"/>
          </a:p>
        </p:txBody>
      </p:sp>
      <p:sp>
        <p:nvSpPr>
          <p:cNvPr id="74" name="Text 72"/>
          <p:cNvSpPr txBox="1"/>
          <p:nvPr/>
        </p:nvSpPr>
        <p:spPr>
          <a:xfrm>
            <a:off x="6144768" y="5276088"/>
            <a:ext cx="1188720" cy="182880"/>
          </a:xfrm>
          <a:prstGeom prst="rect">
            <a:avLst/>
          </a:prstGeom>
          <a:noFill/>
          <a:ln/>
        </p:spPr>
        <p:txBody>
          <a:bodyPr wrap="square" lIns="0" tIns="0" rIns="0" bIns="0" rtlCol="0" anchor="t"/>
          <a:lstStyle/>
          <a:p>
            <a:pPr marL="0" indent="0">
              <a:buNone/>
            </a:pPr>
            <a:r>
              <a:rPr lang="en-US" sz="700" dirty="0">
                <a:solidFill>
                  <a:srgbClr val="555555"/>
                </a:solidFill>
                <a:latin typeface="Arial" pitchFamily="34" charset="0"/>
                <a:ea typeface="Arial" pitchFamily="34" charset="-122"/>
                <a:cs typeface="Arial" pitchFamily="34" charset="-120"/>
              </a:rPr>
              <a:t>Suggested</a:t>
            </a:r>
            <a:endParaRPr lang="en-US" sz="700" dirty="0"/>
          </a:p>
        </p:txBody>
      </p:sp>
      <p:sp>
        <p:nvSpPr>
          <p:cNvPr id="75" name="Text 73"/>
          <p:cNvSpPr txBox="1"/>
          <p:nvPr/>
        </p:nvSpPr>
        <p:spPr>
          <a:xfrm>
            <a:off x="6144768" y="5440680"/>
            <a:ext cx="1234440" cy="237744"/>
          </a:xfrm>
          <a:prstGeom prst="rect">
            <a:avLst/>
          </a:prstGeom>
          <a:noFill/>
          <a:ln/>
        </p:spPr>
        <p:txBody>
          <a:bodyPr wrap="square" lIns="0" tIns="0" rIns="0" bIns="0" rtlCol="0" anchor="t"/>
          <a:lstStyle/>
          <a:p>
            <a:pPr marL="0" indent="0">
              <a:buNone/>
            </a:pPr>
            <a:r>
              <a:rPr lang="en-US" sz="950" b="1" dirty="0">
                <a:solidFill>
                  <a:srgbClr val="5B0F4E"/>
                </a:solidFill>
                <a:latin typeface="Arial" pitchFamily="34" charset="0"/>
                <a:ea typeface="Arial" pitchFamily="34" charset="-122"/>
                <a:cs typeface="Arial" pitchFamily="34" charset="-120"/>
              </a:rPr>
              <a:t>₹314 → ₹319</a:t>
            </a:r>
            <a:endParaRPr lang="en-US" sz="950" dirty="0"/>
          </a:p>
        </p:txBody>
      </p:sp>
      <p:sp>
        <p:nvSpPr>
          <p:cNvPr id="76" name="Text 74"/>
          <p:cNvSpPr txBox="1"/>
          <p:nvPr/>
        </p:nvSpPr>
        <p:spPr>
          <a:xfrm>
            <a:off x="6144768" y="5678424"/>
            <a:ext cx="1216152" cy="420624"/>
          </a:xfrm>
          <a:prstGeom prst="rect">
            <a:avLst/>
          </a:prstGeom>
          <a:noFill/>
          <a:ln/>
        </p:spPr>
        <p:txBody>
          <a:bodyPr wrap="square" lIns="0" tIns="0" rIns="0" bIns="0" rtlCol="0" anchor="t"/>
          <a:lstStyle/>
          <a:p>
            <a:pPr marL="0" indent="0">
              <a:buNone/>
            </a:pPr>
            <a:r>
              <a:rPr lang="en-US" sz="650" dirty="0">
                <a:solidFill>
                  <a:srgbClr val="2B2B2B"/>
                </a:solidFill>
                <a:latin typeface="Arial" pitchFamily="34" charset="0"/>
                <a:ea typeface="Arial" pitchFamily="34" charset="-122"/>
                <a:cs typeface="Arial" pitchFamily="34" charset="-120"/>
              </a:rPr>
              <a:t>keeps ₹3.41 / order</a:t>
            </a:r>
            <a:endParaRPr lang="en-US" sz="650" dirty="0"/>
          </a:p>
        </p:txBody>
      </p:sp>
      <p:sp>
        <p:nvSpPr>
          <p:cNvPr id="77" name="Shape 75"/>
          <p:cNvSpPr/>
          <p:nvPr/>
        </p:nvSpPr>
        <p:spPr>
          <a:xfrm>
            <a:off x="7470648" y="5257800"/>
            <a:ext cx="1298448" cy="868680"/>
          </a:xfrm>
          <a:prstGeom prst="roundRect">
            <a:avLst>
              <a:gd name="adj" fmla="val 5263"/>
            </a:avLst>
          </a:prstGeom>
          <a:solidFill>
            <a:srgbClr val="F4F4F4"/>
          </a:solidFill>
          <a:ln w="12700">
            <a:solidFill>
              <a:srgbClr val="F4F4F4"/>
            </a:solidFill>
            <a:prstDash val="solid"/>
          </a:ln>
        </p:spPr>
        <p:txBody>
          <a:bodyPr/>
          <a:lstStyle/>
          <a:p>
            <a:endParaRPr lang="en-IN"/>
          </a:p>
        </p:txBody>
      </p:sp>
      <p:sp>
        <p:nvSpPr>
          <p:cNvPr id="78" name="Text 76"/>
          <p:cNvSpPr txBox="1"/>
          <p:nvPr/>
        </p:nvSpPr>
        <p:spPr>
          <a:xfrm>
            <a:off x="7516368" y="5276088"/>
            <a:ext cx="1188720" cy="182880"/>
          </a:xfrm>
          <a:prstGeom prst="rect">
            <a:avLst/>
          </a:prstGeom>
          <a:noFill/>
          <a:ln/>
        </p:spPr>
        <p:txBody>
          <a:bodyPr wrap="square" lIns="0" tIns="0" rIns="0" bIns="0" rtlCol="0" anchor="t"/>
          <a:lstStyle/>
          <a:p>
            <a:pPr marL="0" indent="0">
              <a:buNone/>
            </a:pPr>
            <a:r>
              <a:rPr lang="en-US" sz="700" dirty="0">
                <a:solidFill>
                  <a:srgbClr val="555555"/>
                </a:solidFill>
                <a:latin typeface="Arial" pitchFamily="34" charset="0"/>
                <a:ea typeface="Arial" pitchFamily="34" charset="-122"/>
                <a:cs typeface="Arial" pitchFamily="34" charset="-120"/>
              </a:rPr>
              <a:t>Strategy</a:t>
            </a:r>
            <a:endParaRPr lang="en-US" sz="700" dirty="0"/>
          </a:p>
        </p:txBody>
      </p:sp>
      <p:sp>
        <p:nvSpPr>
          <p:cNvPr id="79" name="Text 77"/>
          <p:cNvSpPr txBox="1"/>
          <p:nvPr/>
        </p:nvSpPr>
        <p:spPr>
          <a:xfrm>
            <a:off x="7516368" y="5440680"/>
            <a:ext cx="1234440" cy="237744"/>
          </a:xfrm>
          <a:prstGeom prst="rect">
            <a:avLst/>
          </a:prstGeom>
          <a:noFill/>
          <a:ln/>
        </p:spPr>
        <p:txBody>
          <a:bodyPr wrap="square" lIns="0" tIns="0" rIns="0" bIns="0" rtlCol="0" anchor="t"/>
          <a:lstStyle/>
          <a:p>
            <a:pPr marL="0" indent="0">
              <a:buNone/>
            </a:pPr>
            <a:r>
              <a:rPr lang="en-US" sz="950" b="1" dirty="0">
                <a:solidFill>
                  <a:srgbClr val="5B0F4E"/>
                </a:solidFill>
                <a:latin typeface="Arial" pitchFamily="34" charset="0"/>
                <a:ea typeface="Arial" pitchFamily="34" charset="-122"/>
                <a:cs typeface="Arial" pitchFamily="34" charset="-120"/>
              </a:rPr>
              <a:t>Penetration</a:t>
            </a:r>
            <a:endParaRPr lang="en-US" sz="950" dirty="0"/>
          </a:p>
        </p:txBody>
      </p:sp>
      <p:sp>
        <p:nvSpPr>
          <p:cNvPr id="80" name="Text 78"/>
          <p:cNvSpPr txBox="1"/>
          <p:nvPr/>
        </p:nvSpPr>
        <p:spPr>
          <a:xfrm>
            <a:off x="7516368" y="5678424"/>
            <a:ext cx="1216152" cy="420624"/>
          </a:xfrm>
          <a:prstGeom prst="rect">
            <a:avLst/>
          </a:prstGeom>
          <a:noFill/>
          <a:ln/>
        </p:spPr>
        <p:txBody>
          <a:bodyPr wrap="square" lIns="0" tIns="0" rIns="0" bIns="0" rtlCol="0" anchor="t"/>
          <a:lstStyle/>
          <a:p>
            <a:pPr marL="0" indent="0">
              <a:buNone/>
            </a:pPr>
            <a:r>
              <a:rPr lang="en-US" sz="650" dirty="0">
                <a:solidFill>
                  <a:srgbClr val="2B2B2B"/>
                </a:solidFill>
                <a:latin typeface="Arial" pitchFamily="34" charset="0"/>
                <a:ea typeface="Arial" pitchFamily="34" charset="-122"/>
                <a:cs typeface="Arial" pitchFamily="34" charset="-120"/>
              </a:rPr>
              <a:t>no ratings yet: floor+, step up after ~30 orders</a:t>
            </a:r>
            <a:endParaRPr lang="en-US" sz="650" dirty="0"/>
          </a:p>
        </p:txBody>
      </p:sp>
      <p:sp>
        <p:nvSpPr>
          <p:cNvPr id="81" name="Shape 79"/>
          <p:cNvSpPr/>
          <p:nvPr/>
        </p:nvSpPr>
        <p:spPr>
          <a:xfrm>
            <a:off x="8842248" y="5257800"/>
            <a:ext cx="1298448" cy="868680"/>
          </a:xfrm>
          <a:prstGeom prst="roundRect">
            <a:avLst>
              <a:gd name="adj" fmla="val 5263"/>
            </a:avLst>
          </a:prstGeom>
          <a:solidFill>
            <a:srgbClr val="F4F4F4"/>
          </a:solidFill>
          <a:ln w="12700">
            <a:solidFill>
              <a:srgbClr val="F4F4F4"/>
            </a:solidFill>
            <a:prstDash val="solid"/>
          </a:ln>
        </p:spPr>
        <p:txBody>
          <a:bodyPr/>
          <a:lstStyle/>
          <a:p>
            <a:endParaRPr lang="en-IN"/>
          </a:p>
        </p:txBody>
      </p:sp>
      <p:sp>
        <p:nvSpPr>
          <p:cNvPr id="82" name="Text 80"/>
          <p:cNvSpPr txBox="1"/>
          <p:nvPr/>
        </p:nvSpPr>
        <p:spPr>
          <a:xfrm>
            <a:off x="8887968" y="5276088"/>
            <a:ext cx="1188720" cy="182880"/>
          </a:xfrm>
          <a:prstGeom prst="rect">
            <a:avLst/>
          </a:prstGeom>
          <a:noFill/>
          <a:ln/>
        </p:spPr>
        <p:txBody>
          <a:bodyPr wrap="square" lIns="0" tIns="0" rIns="0" bIns="0" rtlCol="0" anchor="t"/>
          <a:lstStyle/>
          <a:p>
            <a:pPr marL="0" indent="0">
              <a:buNone/>
            </a:pPr>
            <a:r>
              <a:rPr lang="en-US" sz="700" dirty="0">
                <a:solidFill>
                  <a:srgbClr val="555555"/>
                </a:solidFill>
                <a:latin typeface="Arial" pitchFamily="34" charset="0"/>
                <a:ea typeface="Arial" pitchFamily="34" charset="-122"/>
                <a:cs typeface="Arial" pitchFamily="34" charset="-120"/>
              </a:rPr>
              <a:t>Confidence</a:t>
            </a:r>
            <a:endParaRPr lang="en-US" sz="700" dirty="0"/>
          </a:p>
        </p:txBody>
      </p:sp>
      <p:sp>
        <p:nvSpPr>
          <p:cNvPr id="83" name="Text 81"/>
          <p:cNvSpPr txBox="1"/>
          <p:nvPr/>
        </p:nvSpPr>
        <p:spPr>
          <a:xfrm>
            <a:off x="8887968" y="5440680"/>
            <a:ext cx="1234440" cy="237744"/>
          </a:xfrm>
          <a:prstGeom prst="rect">
            <a:avLst/>
          </a:prstGeom>
          <a:noFill/>
          <a:ln/>
        </p:spPr>
        <p:txBody>
          <a:bodyPr wrap="square" lIns="0" tIns="0" rIns="0" bIns="0" rtlCol="0" anchor="t"/>
          <a:lstStyle/>
          <a:p>
            <a:pPr marL="0" indent="0">
              <a:buNone/>
            </a:pPr>
            <a:r>
              <a:rPr lang="en-US" sz="950" b="1" dirty="0">
                <a:solidFill>
                  <a:srgbClr val="5B0F4E"/>
                </a:solidFill>
                <a:latin typeface="Arial" pitchFamily="34" charset="0"/>
                <a:ea typeface="Arial" pitchFamily="34" charset="-122"/>
                <a:cs typeface="Arial" pitchFamily="34" charset="-120"/>
              </a:rPr>
              <a:t>Category data</a:t>
            </a:r>
            <a:endParaRPr lang="en-US" sz="950" dirty="0"/>
          </a:p>
        </p:txBody>
      </p:sp>
      <p:sp>
        <p:nvSpPr>
          <p:cNvPr id="84" name="Text 82"/>
          <p:cNvSpPr txBox="1"/>
          <p:nvPr/>
        </p:nvSpPr>
        <p:spPr>
          <a:xfrm>
            <a:off x="8887968" y="5678424"/>
            <a:ext cx="1216152" cy="420624"/>
          </a:xfrm>
          <a:prstGeom prst="rect">
            <a:avLst/>
          </a:prstGeom>
          <a:noFill/>
          <a:ln/>
        </p:spPr>
        <p:txBody>
          <a:bodyPr wrap="square" lIns="0" tIns="0" rIns="0" bIns="0" rtlCol="0" anchor="t"/>
          <a:lstStyle/>
          <a:p>
            <a:pPr marL="0" indent="0">
              <a:buNone/>
            </a:pPr>
            <a:r>
              <a:rPr lang="en-US" sz="650" dirty="0">
                <a:solidFill>
                  <a:srgbClr val="2B2B2B"/>
                </a:solidFill>
                <a:latin typeface="Arial" pitchFamily="34" charset="0"/>
                <a:ea typeface="Arial" pitchFamily="34" charset="-122"/>
                <a:cs typeface="Arial" pitchFamily="34" charset="-120"/>
              </a:rPr>
              <a:t>0 orders · 50% own data at 30</a:t>
            </a:r>
            <a:endParaRPr lang="en-US" sz="650" dirty="0"/>
          </a:p>
        </p:txBody>
      </p:sp>
      <p:sp>
        <p:nvSpPr>
          <p:cNvPr id="85" name="Shape 83"/>
          <p:cNvSpPr/>
          <p:nvPr/>
        </p:nvSpPr>
        <p:spPr>
          <a:xfrm>
            <a:off x="8887968" y="5989320"/>
            <a:ext cx="1188720" cy="54864"/>
          </a:xfrm>
          <a:prstGeom prst="rect">
            <a:avLst/>
          </a:prstGeom>
          <a:solidFill>
            <a:srgbClr val="F4F4F4"/>
          </a:solidFill>
          <a:ln w="12700">
            <a:solidFill>
              <a:srgbClr val="F4F4F4"/>
            </a:solidFill>
            <a:prstDash val="solid"/>
          </a:ln>
        </p:spPr>
        <p:txBody>
          <a:bodyPr/>
          <a:lstStyle/>
          <a:p>
            <a:endParaRPr lang="en-IN"/>
          </a:p>
        </p:txBody>
      </p:sp>
      <p:sp>
        <p:nvSpPr>
          <p:cNvPr id="86" name="Shape 84"/>
          <p:cNvSpPr/>
          <p:nvPr/>
        </p:nvSpPr>
        <p:spPr>
          <a:xfrm>
            <a:off x="8887968" y="5989320"/>
            <a:ext cx="109728" cy="54864"/>
          </a:xfrm>
          <a:prstGeom prst="rect">
            <a:avLst/>
          </a:prstGeom>
          <a:solidFill>
            <a:srgbClr val="F29A1F"/>
          </a:solidFill>
          <a:ln w="12700">
            <a:solidFill>
              <a:srgbClr val="F29A1F"/>
            </a:solidFill>
            <a:prstDash val="solid"/>
          </a:ln>
        </p:spPr>
        <p:txBody>
          <a:bodyPr/>
          <a:lstStyle/>
          <a:p>
            <a:endParaRPr lang="en-IN"/>
          </a:p>
        </p:txBody>
      </p:sp>
      <p:sp>
        <p:nvSpPr>
          <p:cNvPr id="87" name="Text 85"/>
          <p:cNvSpPr txBox="1"/>
          <p:nvPr/>
        </p:nvSpPr>
        <p:spPr>
          <a:xfrm>
            <a:off x="6099048" y="6217920"/>
            <a:ext cx="3291840" cy="182880"/>
          </a:xfrm>
          <a:prstGeom prst="rect">
            <a:avLst/>
          </a:prstGeom>
          <a:noFill/>
          <a:ln/>
        </p:spPr>
        <p:txBody>
          <a:bodyPr wrap="square" lIns="0" tIns="0" rIns="0" bIns="0" rtlCol="0" anchor="t"/>
          <a:lstStyle/>
          <a:p>
            <a:pPr marL="0" indent="0">
              <a:buNone/>
            </a:pPr>
            <a:r>
              <a:rPr lang="en-US" sz="700" dirty="0">
                <a:solidFill>
                  <a:srgbClr val="2B2B2B"/>
                </a:solidFill>
                <a:latin typeface="Arial" pitchFamily="34" charset="0"/>
                <a:ea typeface="Arial" pitchFamily="34" charset="-122"/>
                <a:cs typeface="Arial" pitchFamily="34" charset="-120"/>
              </a:rPr>
              <a:t>Scenario sliders: price · returns · RTO · shipping · cost</a:t>
            </a:r>
            <a:endParaRPr lang="en-US" sz="700" dirty="0"/>
          </a:p>
        </p:txBody>
      </p:sp>
      <p:sp>
        <p:nvSpPr>
          <p:cNvPr id="88" name="Shape 86"/>
          <p:cNvSpPr/>
          <p:nvPr/>
        </p:nvSpPr>
        <p:spPr>
          <a:xfrm>
            <a:off x="9299448" y="6190488"/>
            <a:ext cx="868680" cy="219456"/>
          </a:xfrm>
          <a:prstGeom prst="roundRect">
            <a:avLst>
              <a:gd name="adj" fmla="val 16667"/>
            </a:avLst>
          </a:prstGeom>
          <a:solidFill>
            <a:srgbClr val="4A2BD0"/>
          </a:solidFill>
          <a:ln w="12700">
            <a:solidFill>
              <a:srgbClr val="4A2BD0"/>
            </a:solidFill>
            <a:prstDash val="solid"/>
          </a:ln>
        </p:spPr>
        <p:txBody>
          <a:bodyPr/>
          <a:lstStyle/>
          <a:p>
            <a:endParaRPr lang="en-IN"/>
          </a:p>
        </p:txBody>
      </p:sp>
      <p:sp>
        <p:nvSpPr>
          <p:cNvPr id="89" name="Text 87"/>
          <p:cNvSpPr txBox="1"/>
          <p:nvPr/>
        </p:nvSpPr>
        <p:spPr>
          <a:xfrm>
            <a:off x="9299448" y="6190488"/>
            <a:ext cx="868680" cy="219456"/>
          </a:xfrm>
          <a:prstGeom prst="rect">
            <a:avLst/>
          </a:prstGeom>
          <a:noFill/>
          <a:ln/>
        </p:spPr>
        <p:txBody>
          <a:bodyPr wrap="square" lIns="0" tIns="0" rIns="0" bIns="0"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Set ₹319</a:t>
            </a:r>
            <a:endParaRPr lang="en-US" sz="700" dirty="0"/>
          </a:p>
        </p:txBody>
      </p:sp>
      <p:sp>
        <p:nvSpPr>
          <p:cNvPr id="90" name="Shape 88"/>
          <p:cNvSpPr/>
          <p:nvPr/>
        </p:nvSpPr>
        <p:spPr>
          <a:xfrm>
            <a:off x="10515600" y="3538728"/>
            <a:ext cx="256032" cy="256032"/>
          </a:xfrm>
          <a:prstGeom prst="ellipse">
            <a:avLst/>
          </a:prstGeom>
          <a:solidFill>
            <a:srgbClr val="E0457B"/>
          </a:solidFill>
          <a:ln w="12700">
            <a:solidFill>
              <a:srgbClr val="FFFFFF"/>
            </a:solidFill>
            <a:prstDash val="solid"/>
          </a:ln>
        </p:spPr>
        <p:txBody>
          <a:bodyPr/>
          <a:lstStyle/>
          <a:p>
            <a:endParaRPr lang="en-IN"/>
          </a:p>
        </p:txBody>
      </p:sp>
      <p:sp>
        <p:nvSpPr>
          <p:cNvPr id="91" name="Text 89"/>
          <p:cNvSpPr txBox="1"/>
          <p:nvPr/>
        </p:nvSpPr>
        <p:spPr>
          <a:xfrm>
            <a:off x="10515600" y="353872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2" name="Text 90"/>
          <p:cNvSpPr txBox="1"/>
          <p:nvPr/>
        </p:nvSpPr>
        <p:spPr>
          <a:xfrm>
            <a:off x="10808208" y="3493008"/>
            <a:ext cx="1417320" cy="603504"/>
          </a:xfrm>
          <a:prstGeom prst="rect">
            <a:avLst/>
          </a:prstGeom>
          <a:noFill/>
          <a:ln/>
        </p:spPr>
        <p:txBody>
          <a:bodyPr wrap="square" lIns="0" tIns="0" rIns="0" bIns="0" rtlCol="0" anchor="t"/>
          <a:lstStyle/>
          <a:p>
            <a:pPr marL="0" indent="0">
              <a:buNone/>
            </a:pPr>
            <a:r>
              <a:rPr lang="en-US" sz="850" dirty="0">
                <a:solidFill>
                  <a:srgbClr val="2B2B2B"/>
                </a:solidFill>
                <a:latin typeface="Arial" pitchFamily="34" charset="0"/>
                <a:ea typeface="Arial" pitchFamily="34" charset="-122"/>
                <a:cs typeface="Arial" pitchFamily="34" charset="-120"/>
              </a:rPr>
              <a:t>Seller's own floor from Munafa Meter splits Loss from Win</a:t>
            </a:r>
            <a:endParaRPr lang="en-US" sz="850" dirty="0"/>
          </a:p>
        </p:txBody>
      </p:sp>
      <p:sp>
        <p:nvSpPr>
          <p:cNvPr id="93" name="Shape 91"/>
          <p:cNvSpPr/>
          <p:nvPr/>
        </p:nvSpPr>
        <p:spPr>
          <a:xfrm>
            <a:off x="7936581" y="4123944"/>
            <a:ext cx="219456" cy="219456"/>
          </a:xfrm>
          <a:prstGeom prst="ellipse">
            <a:avLst/>
          </a:prstGeom>
          <a:solidFill>
            <a:srgbClr val="E0457B"/>
          </a:solidFill>
          <a:ln w="12700">
            <a:solidFill>
              <a:srgbClr val="FFFFFF"/>
            </a:solidFill>
            <a:prstDash val="solid"/>
          </a:ln>
        </p:spPr>
        <p:txBody>
          <a:bodyPr/>
          <a:lstStyle/>
          <a:p>
            <a:endParaRPr lang="en-IN"/>
          </a:p>
        </p:txBody>
      </p:sp>
      <p:sp>
        <p:nvSpPr>
          <p:cNvPr id="94" name="Text 92"/>
          <p:cNvSpPr txBox="1"/>
          <p:nvPr/>
        </p:nvSpPr>
        <p:spPr>
          <a:xfrm>
            <a:off x="7936581" y="4123944"/>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5" name="Shape 93"/>
          <p:cNvSpPr/>
          <p:nvPr/>
        </p:nvSpPr>
        <p:spPr>
          <a:xfrm flipH="1">
            <a:off x="8174325" y="3666744"/>
            <a:ext cx="2322987" cy="585216"/>
          </a:xfrm>
          <a:prstGeom prst="line">
            <a:avLst/>
          </a:prstGeom>
          <a:noFill/>
          <a:ln w="19050">
            <a:solidFill>
              <a:srgbClr val="E0457B"/>
            </a:solidFill>
            <a:prstDash val="solid"/>
            <a:tailEnd type="triangle"/>
          </a:ln>
        </p:spPr>
        <p:txBody>
          <a:bodyPr/>
          <a:lstStyle/>
          <a:p>
            <a:endParaRPr lang="en-IN"/>
          </a:p>
        </p:txBody>
      </p:sp>
      <p:sp>
        <p:nvSpPr>
          <p:cNvPr id="96" name="Shape 94"/>
          <p:cNvSpPr/>
          <p:nvPr/>
        </p:nvSpPr>
        <p:spPr>
          <a:xfrm>
            <a:off x="10515600" y="4160520"/>
            <a:ext cx="256032" cy="256032"/>
          </a:xfrm>
          <a:prstGeom prst="ellipse">
            <a:avLst/>
          </a:prstGeom>
          <a:solidFill>
            <a:srgbClr val="E0457B"/>
          </a:solidFill>
          <a:ln w="12700">
            <a:solidFill>
              <a:srgbClr val="FFFFFF"/>
            </a:solidFill>
            <a:prstDash val="solid"/>
          </a:ln>
        </p:spPr>
        <p:txBody>
          <a:bodyPr/>
          <a:lstStyle/>
          <a:p>
            <a:endParaRPr lang="en-IN"/>
          </a:p>
        </p:txBody>
      </p:sp>
      <p:sp>
        <p:nvSpPr>
          <p:cNvPr id="97" name="Text 95"/>
          <p:cNvSpPr txBox="1"/>
          <p:nvPr/>
        </p:nvSpPr>
        <p:spPr>
          <a:xfrm>
            <a:off x="10515600" y="41605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98" name="Text 96"/>
          <p:cNvSpPr txBox="1"/>
          <p:nvPr/>
        </p:nvSpPr>
        <p:spPr>
          <a:xfrm>
            <a:off x="10808208" y="4114800"/>
            <a:ext cx="1417320" cy="603504"/>
          </a:xfrm>
          <a:prstGeom prst="rect">
            <a:avLst/>
          </a:prstGeom>
          <a:noFill/>
          <a:ln/>
        </p:spPr>
        <p:txBody>
          <a:bodyPr wrap="square" lIns="0" tIns="0" rIns="0" bIns="0" rtlCol="0" anchor="t"/>
          <a:lstStyle/>
          <a:p>
            <a:pPr marL="0" indent="0">
              <a:buNone/>
            </a:pPr>
            <a:r>
              <a:rPr lang="en-US" sz="850" dirty="0">
                <a:solidFill>
                  <a:srgbClr val="2B2B2B"/>
                </a:solidFill>
                <a:latin typeface="Arial" pitchFamily="34" charset="0"/>
                <a:ea typeface="Arial" pitchFamily="34" charset="-122"/>
                <a:cs typeface="Arial" pitchFamily="34" charset="-120"/>
              </a:rPr>
              <a:t>Band from anonymous comparable listings (Q1 – median – Q3)</a:t>
            </a:r>
            <a:endParaRPr lang="en-US" sz="850" dirty="0"/>
          </a:p>
        </p:txBody>
      </p:sp>
      <p:sp>
        <p:nvSpPr>
          <p:cNvPr id="99" name="Shape 97"/>
          <p:cNvSpPr/>
          <p:nvPr/>
        </p:nvSpPr>
        <p:spPr>
          <a:xfrm>
            <a:off x="6478524" y="4453128"/>
            <a:ext cx="219456" cy="219456"/>
          </a:xfrm>
          <a:prstGeom prst="ellipse">
            <a:avLst/>
          </a:prstGeom>
          <a:solidFill>
            <a:srgbClr val="E0457B"/>
          </a:solidFill>
          <a:ln w="12700">
            <a:solidFill>
              <a:srgbClr val="FFFFFF"/>
            </a:solidFill>
            <a:prstDash val="solid"/>
          </a:ln>
        </p:spPr>
        <p:txBody>
          <a:bodyPr/>
          <a:lstStyle/>
          <a:p>
            <a:endParaRPr lang="en-IN"/>
          </a:p>
        </p:txBody>
      </p:sp>
      <p:sp>
        <p:nvSpPr>
          <p:cNvPr id="100" name="Text 98"/>
          <p:cNvSpPr txBox="1"/>
          <p:nvPr/>
        </p:nvSpPr>
        <p:spPr>
          <a:xfrm>
            <a:off x="6478524" y="4453128"/>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01" name="Shape 99"/>
          <p:cNvSpPr/>
          <p:nvPr/>
        </p:nvSpPr>
        <p:spPr>
          <a:xfrm flipH="1">
            <a:off x="6716268" y="4288536"/>
            <a:ext cx="3781044" cy="292608"/>
          </a:xfrm>
          <a:prstGeom prst="line">
            <a:avLst/>
          </a:prstGeom>
          <a:noFill/>
          <a:ln w="19050">
            <a:solidFill>
              <a:srgbClr val="E0457B"/>
            </a:solidFill>
            <a:prstDash val="solid"/>
            <a:tailEnd type="triangle"/>
          </a:ln>
        </p:spPr>
        <p:txBody>
          <a:bodyPr/>
          <a:lstStyle/>
          <a:p>
            <a:endParaRPr lang="en-IN"/>
          </a:p>
        </p:txBody>
      </p:sp>
      <p:sp>
        <p:nvSpPr>
          <p:cNvPr id="102" name="Shape 100"/>
          <p:cNvSpPr/>
          <p:nvPr/>
        </p:nvSpPr>
        <p:spPr>
          <a:xfrm>
            <a:off x="10515600" y="4782312"/>
            <a:ext cx="256032" cy="256032"/>
          </a:xfrm>
          <a:prstGeom prst="ellipse">
            <a:avLst/>
          </a:prstGeom>
          <a:solidFill>
            <a:srgbClr val="E0457B"/>
          </a:solidFill>
          <a:ln w="12700">
            <a:solidFill>
              <a:srgbClr val="FFFFFF"/>
            </a:solidFill>
            <a:prstDash val="solid"/>
          </a:ln>
        </p:spPr>
        <p:txBody>
          <a:bodyPr/>
          <a:lstStyle/>
          <a:p>
            <a:endParaRPr lang="en-IN"/>
          </a:p>
        </p:txBody>
      </p:sp>
      <p:sp>
        <p:nvSpPr>
          <p:cNvPr id="103" name="Text 101"/>
          <p:cNvSpPr txBox="1"/>
          <p:nvPr/>
        </p:nvSpPr>
        <p:spPr>
          <a:xfrm>
            <a:off x="10515600" y="478231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04" name="Text 102"/>
          <p:cNvSpPr txBox="1"/>
          <p:nvPr/>
        </p:nvSpPr>
        <p:spPr>
          <a:xfrm>
            <a:off x="10808208" y="4736592"/>
            <a:ext cx="1417320" cy="603504"/>
          </a:xfrm>
          <a:prstGeom prst="rect">
            <a:avLst/>
          </a:prstGeom>
          <a:noFill/>
          <a:ln/>
        </p:spPr>
        <p:txBody>
          <a:bodyPr wrap="square" lIns="0" tIns="0" rIns="0" bIns="0" rtlCol="0" anchor="t"/>
          <a:lstStyle/>
          <a:p>
            <a:pPr marL="0" indent="0">
              <a:buNone/>
            </a:pPr>
            <a:r>
              <a:rPr lang="en-US" sz="850" dirty="0">
                <a:solidFill>
                  <a:srgbClr val="2B2B2B"/>
                </a:solidFill>
                <a:latin typeface="Arial" pitchFamily="34" charset="0"/>
                <a:ea typeface="Arial" pitchFamily="34" charset="-122"/>
                <a:cs typeface="Arial" pitchFamily="34" charset="-120"/>
              </a:rPr>
              <a:t>Price rank instead of rival names or volumes</a:t>
            </a:r>
            <a:endParaRPr lang="en-US" sz="850" dirty="0"/>
          </a:p>
        </p:txBody>
      </p:sp>
      <p:sp>
        <p:nvSpPr>
          <p:cNvPr id="105" name="Shape 103"/>
          <p:cNvSpPr/>
          <p:nvPr/>
        </p:nvSpPr>
        <p:spPr>
          <a:xfrm>
            <a:off x="9098280" y="5056632"/>
            <a:ext cx="219456" cy="219456"/>
          </a:xfrm>
          <a:prstGeom prst="ellipse">
            <a:avLst/>
          </a:prstGeom>
          <a:solidFill>
            <a:srgbClr val="E0457B"/>
          </a:solidFill>
          <a:ln w="12700">
            <a:solidFill>
              <a:srgbClr val="FFFFFF"/>
            </a:solidFill>
            <a:prstDash val="solid"/>
          </a:ln>
        </p:spPr>
        <p:txBody>
          <a:bodyPr/>
          <a:lstStyle/>
          <a:p>
            <a:endParaRPr lang="en-IN"/>
          </a:p>
        </p:txBody>
      </p:sp>
      <p:sp>
        <p:nvSpPr>
          <p:cNvPr id="106" name="Text 104"/>
          <p:cNvSpPr txBox="1"/>
          <p:nvPr/>
        </p:nvSpPr>
        <p:spPr>
          <a:xfrm>
            <a:off x="9098280" y="5056632"/>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07" name="Shape 105"/>
          <p:cNvSpPr/>
          <p:nvPr/>
        </p:nvSpPr>
        <p:spPr>
          <a:xfrm flipH="1">
            <a:off x="9336024" y="4910328"/>
            <a:ext cx="1161288" cy="274320"/>
          </a:xfrm>
          <a:prstGeom prst="line">
            <a:avLst/>
          </a:prstGeom>
          <a:noFill/>
          <a:ln w="19050">
            <a:solidFill>
              <a:srgbClr val="E0457B"/>
            </a:solidFill>
            <a:prstDash val="solid"/>
            <a:tailEnd type="triangle"/>
          </a:ln>
        </p:spPr>
        <p:txBody>
          <a:bodyPr/>
          <a:lstStyle/>
          <a:p>
            <a:endParaRPr lang="en-IN"/>
          </a:p>
        </p:txBody>
      </p:sp>
      <p:sp>
        <p:nvSpPr>
          <p:cNvPr id="108" name="Shape 106"/>
          <p:cNvSpPr/>
          <p:nvPr/>
        </p:nvSpPr>
        <p:spPr>
          <a:xfrm>
            <a:off x="10515600" y="5404104"/>
            <a:ext cx="256032" cy="256032"/>
          </a:xfrm>
          <a:prstGeom prst="ellipse">
            <a:avLst/>
          </a:prstGeom>
          <a:solidFill>
            <a:srgbClr val="E0457B"/>
          </a:solidFill>
          <a:ln w="12700">
            <a:solidFill>
              <a:srgbClr val="FFFFFF"/>
            </a:solidFill>
            <a:prstDash val="solid"/>
          </a:ln>
        </p:spPr>
        <p:txBody>
          <a:bodyPr/>
          <a:lstStyle/>
          <a:p>
            <a:endParaRPr lang="en-IN"/>
          </a:p>
        </p:txBody>
      </p:sp>
      <p:sp>
        <p:nvSpPr>
          <p:cNvPr id="109" name="Text 107"/>
          <p:cNvSpPr txBox="1"/>
          <p:nvPr/>
        </p:nvSpPr>
        <p:spPr>
          <a:xfrm>
            <a:off x="10515600" y="5404104"/>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10" name="Text 108"/>
          <p:cNvSpPr txBox="1"/>
          <p:nvPr/>
        </p:nvSpPr>
        <p:spPr>
          <a:xfrm>
            <a:off x="10808208" y="5358384"/>
            <a:ext cx="1417320" cy="603504"/>
          </a:xfrm>
          <a:prstGeom prst="rect">
            <a:avLst/>
          </a:prstGeom>
          <a:noFill/>
          <a:ln/>
        </p:spPr>
        <p:txBody>
          <a:bodyPr wrap="square" lIns="0" tIns="0" rIns="0" bIns="0" rtlCol="0" anchor="t"/>
          <a:lstStyle/>
          <a:p>
            <a:pPr marL="0" indent="0">
              <a:buNone/>
            </a:pPr>
            <a:r>
              <a:rPr lang="en-US" sz="850" dirty="0">
                <a:solidFill>
                  <a:srgbClr val="2B2B2B"/>
                </a:solidFill>
                <a:latin typeface="Arial" pitchFamily="34" charset="0"/>
                <a:ea typeface="Arial" pitchFamily="34" charset="-122"/>
                <a:cs typeface="Arial" pitchFamily="34" charset="-120"/>
              </a:rPr>
              <a:t>Suggested range, never below floor, capped at Q3</a:t>
            </a:r>
            <a:endParaRPr lang="en-US" sz="850" dirty="0"/>
          </a:p>
        </p:txBody>
      </p:sp>
      <p:sp>
        <p:nvSpPr>
          <p:cNvPr id="111" name="Shape 109"/>
          <p:cNvSpPr/>
          <p:nvPr/>
        </p:nvSpPr>
        <p:spPr>
          <a:xfrm>
            <a:off x="7269480" y="5239512"/>
            <a:ext cx="219456" cy="219456"/>
          </a:xfrm>
          <a:prstGeom prst="ellipse">
            <a:avLst/>
          </a:prstGeom>
          <a:solidFill>
            <a:srgbClr val="E0457B"/>
          </a:solidFill>
          <a:ln w="12700">
            <a:solidFill>
              <a:srgbClr val="FFFFFF"/>
            </a:solidFill>
            <a:prstDash val="solid"/>
          </a:ln>
        </p:spPr>
        <p:txBody>
          <a:bodyPr/>
          <a:lstStyle/>
          <a:p>
            <a:endParaRPr lang="en-IN"/>
          </a:p>
        </p:txBody>
      </p:sp>
      <p:sp>
        <p:nvSpPr>
          <p:cNvPr id="112" name="Text 110"/>
          <p:cNvSpPr txBox="1"/>
          <p:nvPr/>
        </p:nvSpPr>
        <p:spPr>
          <a:xfrm>
            <a:off x="7269480" y="5239512"/>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13" name="Shape 111"/>
          <p:cNvSpPr/>
          <p:nvPr/>
        </p:nvSpPr>
        <p:spPr>
          <a:xfrm flipH="1" flipV="1">
            <a:off x="7507224" y="5367528"/>
            <a:ext cx="2990088" cy="164592"/>
          </a:xfrm>
          <a:prstGeom prst="line">
            <a:avLst/>
          </a:prstGeom>
          <a:noFill/>
          <a:ln w="19050">
            <a:solidFill>
              <a:srgbClr val="E0457B"/>
            </a:solidFill>
            <a:prstDash val="solid"/>
            <a:tailEnd type="triangle"/>
          </a:ln>
        </p:spPr>
        <p:txBody>
          <a:bodyPr/>
          <a:lstStyle/>
          <a:p>
            <a:endParaRPr lang="en-IN"/>
          </a:p>
        </p:txBody>
      </p:sp>
      <p:sp>
        <p:nvSpPr>
          <p:cNvPr id="114" name="Shape 112"/>
          <p:cNvSpPr/>
          <p:nvPr/>
        </p:nvSpPr>
        <p:spPr>
          <a:xfrm>
            <a:off x="10515600" y="6025896"/>
            <a:ext cx="256032" cy="256032"/>
          </a:xfrm>
          <a:prstGeom prst="ellipse">
            <a:avLst/>
          </a:prstGeom>
          <a:solidFill>
            <a:srgbClr val="E0457B"/>
          </a:solidFill>
          <a:ln w="12700">
            <a:solidFill>
              <a:srgbClr val="FFFFFF"/>
            </a:solidFill>
            <a:prstDash val="solid"/>
          </a:ln>
        </p:spPr>
        <p:txBody>
          <a:bodyPr/>
          <a:lstStyle/>
          <a:p>
            <a:endParaRPr lang="en-IN"/>
          </a:p>
        </p:txBody>
      </p:sp>
      <p:sp>
        <p:nvSpPr>
          <p:cNvPr id="115" name="Text 113"/>
          <p:cNvSpPr txBox="1"/>
          <p:nvPr/>
        </p:nvSpPr>
        <p:spPr>
          <a:xfrm>
            <a:off x="10515600" y="6025896"/>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16" name="Text 114"/>
          <p:cNvSpPr txBox="1"/>
          <p:nvPr/>
        </p:nvSpPr>
        <p:spPr>
          <a:xfrm>
            <a:off x="10808208" y="5980176"/>
            <a:ext cx="1417320" cy="603504"/>
          </a:xfrm>
          <a:prstGeom prst="rect">
            <a:avLst/>
          </a:prstGeom>
          <a:noFill/>
          <a:ln/>
        </p:spPr>
        <p:txBody>
          <a:bodyPr wrap="square" lIns="0" tIns="0" rIns="0" bIns="0" rtlCol="0" anchor="t"/>
          <a:lstStyle/>
          <a:p>
            <a:pPr marL="0" indent="0">
              <a:buNone/>
            </a:pPr>
            <a:r>
              <a:rPr lang="en-US" sz="850" dirty="0">
                <a:solidFill>
                  <a:srgbClr val="2B2B2B"/>
                </a:solidFill>
                <a:latin typeface="Arial" pitchFamily="34" charset="0"/>
                <a:ea typeface="Arial" pitchFamily="34" charset="-122"/>
                <a:cs typeface="Arial" pitchFamily="34" charset="-120"/>
              </a:rPr>
              <a:t>First-price mode: category data, blended with own orders</a:t>
            </a:r>
            <a:endParaRPr lang="en-US" sz="850" dirty="0"/>
          </a:p>
        </p:txBody>
      </p:sp>
      <p:sp>
        <p:nvSpPr>
          <p:cNvPr id="117" name="Shape 115"/>
          <p:cNvSpPr/>
          <p:nvPr/>
        </p:nvSpPr>
        <p:spPr>
          <a:xfrm>
            <a:off x="10012680" y="5239512"/>
            <a:ext cx="219456" cy="219456"/>
          </a:xfrm>
          <a:prstGeom prst="ellipse">
            <a:avLst/>
          </a:prstGeom>
          <a:solidFill>
            <a:srgbClr val="E0457B"/>
          </a:solidFill>
          <a:ln w="12700">
            <a:solidFill>
              <a:srgbClr val="FFFFFF"/>
            </a:solidFill>
            <a:prstDash val="solid"/>
          </a:ln>
        </p:spPr>
        <p:txBody>
          <a:bodyPr/>
          <a:lstStyle/>
          <a:p>
            <a:endParaRPr lang="en-IN"/>
          </a:p>
        </p:txBody>
      </p:sp>
      <p:sp>
        <p:nvSpPr>
          <p:cNvPr id="118" name="Text 116"/>
          <p:cNvSpPr txBox="1"/>
          <p:nvPr/>
        </p:nvSpPr>
        <p:spPr>
          <a:xfrm>
            <a:off x="10012680" y="5239512"/>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19" name="Shape 117"/>
          <p:cNvSpPr/>
          <p:nvPr/>
        </p:nvSpPr>
        <p:spPr>
          <a:xfrm flipH="1" flipV="1">
            <a:off x="10250424" y="5367528"/>
            <a:ext cx="246888" cy="786384"/>
          </a:xfrm>
          <a:prstGeom prst="line">
            <a:avLst/>
          </a:prstGeom>
          <a:noFill/>
          <a:ln w="19050">
            <a:solidFill>
              <a:srgbClr val="E0457B"/>
            </a:solidFill>
            <a:prstDash val="solid"/>
            <a:tailEnd type="triangle"/>
          </a:ln>
        </p:spPr>
        <p:txBody>
          <a:bodyPr/>
          <a:lstStyle/>
          <a:p>
            <a:endParaRPr lang="en-IN"/>
          </a:p>
        </p:txBody>
      </p:sp>
      <p:sp>
        <p:nvSpPr>
          <p:cNvPr id="120" name="Text 118"/>
          <p:cNvSpPr txBox="1"/>
          <p:nvPr/>
        </p:nvSpPr>
        <p:spPr>
          <a:xfrm>
            <a:off x="5989320" y="6720840"/>
            <a:ext cx="6217920" cy="329184"/>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User flow</a:t>
            </a:r>
            <a:endParaRPr lang="en-US" sz="1400" dirty="0"/>
          </a:p>
        </p:txBody>
      </p:sp>
      <p:sp>
        <p:nvSpPr>
          <p:cNvPr id="121" name="Shape 119"/>
          <p:cNvSpPr/>
          <p:nvPr/>
        </p:nvSpPr>
        <p:spPr>
          <a:xfrm>
            <a:off x="5989320" y="7059168"/>
            <a:ext cx="1325880" cy="566928"/>
          </a:xfrm>
          <a:prstGeom prst="chevron">
            <a:avLst/>
          </a:prstGeom>
          <a:solidFill>
            <a:srgbClr val="5B0F4E"/>
          </a:solidFill>
          <a:ln w="6350">
            <a:solidFill>
              <a:srgbClr val="FFFFFF"/>
            </a:solidFill>
            <a:prstDash val="solid"/>
          </a:ln>
        </p:spPr>
        <p:txBody>
          <a:bodyPr/>
          <a:lstStyle/>
          <a:p>
            <a:endParaRPr lang="en-IN"/>
          </a:p>
        </p:txBody>
      </p:sp>
      <p:sp>
        <p:nvSpPr>
          <p:cNvPr id="122" name="Text 120"/>
          <p:cNvSpPr txBox="1"/>
          <p:nvPr/>
        </p:nvSpPr>
        <p:spPr>
          <a:xfrm>
            <a:off x="6172200" y="7059168"/>
            <a:ext cx="1005840" cy="56692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Floor from Meter</a:t>
            </a:r>
            <a:endParaRPr lang="en-US" sz="1000" dirty="0"/>
          </a:p>
        </p:txBody>
      </p:sp>
      <p:sp>
        <p:nvSpPr>
          <p:cNvPr id="123" name="Shape 121"/>
          <p:cNvSpPr/>
          <p:nvPr/>
        </p:nvSpPr>
        <p:spPr>
          <a:xfrm>
            <a:off x="7242048" y="7059168"/>
            <a:ext cx="1325880" cy="566928"/>
          </a:xfrm>
          <a:prstGeom prst="chevron">
            <a:avLst/>
          </a:prstGeom>
          <a:solidFill>
            <a:srgbClr val="8C5A80"/>
          </a:solidFill>
          <a:ln w="6350">
            <a:solidFill>
              <a:srgbClr val="FFFFFF"/>
            </a:solidFill>
            <a:prstDash val="solid"/>
          </a:ln>
        </p:spPr>
        <p:txBody>
          <a:bodyPr/>
          <a:lstStyle/>
          <a:p>
            <a:endParaRPr lang="en-IN"/>
          </a:p>
        </p:txBody>
      </p:sp>
      <p:sp>
        <p:nvSpPr>
          <p:cNvPr id="124" name="Text 122"/>
          <p:cNvSpPr txBox="1"/>
          <p:nvPr/>
        </p:nvSpPr>
        <p:spPr>
          <a:xfrm>
            <a:off x="7424928" y="7059168"/>
            <a:ext cx="1005840" cy="56692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See band &amp; zone</a:t>
            </a:r>
            <a:endParaRPr lang="en-US" sz="1000" dirty="0"/>
          </a:p>
        </p:txBody>
      </p:sp>
      <p:sp>
        <p:nvSpPr>
          <p:cNvPr id="125" name="Shape 123"/>
          <p:cNvSpPr/>
          <p:nvPr/>
        </p:nvSpPr>
        <p:spPr>
          <a:xfrm>
            <a:off x="8494776" y="7059168"/>
            <a:ext cx="1325880" cy="566928"/>
          </a:xfrm>
          <a:prstGeom prst="chevron">
            <a:avLst/>
          </a:prstGeom>
          <a:solidFill>
            <a:srgbClr val="5B0F4E"/>
          </a:solidFill>
          <a:ln w="6350">
            <a:solidFill>
              <a:srgbClr val="FFFFFF"/>
            </a:solidFill>
            <a:prstDash val="solid"/>
          </a:ln>
        </p:spPr>
        <p:txBody>
          <a:bodyPr/>
          <a:lstStyle/>
          <a:p>
            <a:endParaRPr lang="en-IN"/>
          </a:p>
        </p:txBody>
      </p:sp>
      <p:sp>
        <p:nvSpPr>
          <p:cNvPr id="126" name="Text 124"/>
          <p:cNvSpPr txBox="1"/>
          <p:nvPr/>
        </p:nvSpPr>
        <p:spPr>
          <a:xfrm>
            <a:off x="8677656" y="7059168"/>
            <a:ext cx="1005840" cy="56692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Pick strategy</a:t>
            </a:r>
            <a:endParaRPr lang="en-US" sz="1000" dirty="0"/>
          </a:p>
        </p:txBody>
      </p:sp>
      <p:sp>
        <p:nvSpPr>
          <p:cNvPr id="127" name="Shape 125"/>
          <p:cNvSpPr/>
          <p:nvPr/>
        </p:nvSpPr>
        <p:spPr>
          <a:xfrm>
            <a:off x="9747504" y="7059168"/>
            <a:ext cx="1325880" cy="566928"/>
          </a:xfrm>
          <a:prstGeom prst="chevron">
            <a:avLst/>
          </a:prstGeom>
          <a:solidFill>
            <a:srgbClr val="8C5A80"/>
          </a:solidFill>
          <a:ln w="6350">
            <a:solidFill>
              <a:srgbClr val="FFFFFF"/>
            </a:solidFill>
            <a:prstDash val="solid"/>
          </a:ln>
        </p:spPr>
        <p:txBody>
          <a:bodyPr/>
          <a:lstStyle/>
          <a:p>
            <a:endParaRPr lang="en-IN"/>
          </a:p>
        </p:txBody>
      </p:sp>
      <p:sp>
        <p:nvSpPr>
          <p:cNvPr id="128" name="Text 126"/>
          <p:cNvSpPr txBox="1"/>
          <p:nvPr/>
        </p:nvSpPr>
        <p:spPr>
          <a:xfrm>
            <a:off x="9930384" y="7059168"/>
            <a:ext cx="1005840" cy="56692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Accept range</a:t>
            </a:r>
            <a:endParaRPr lang="en-US" sz="1000" dirty="0"/>
          </a:p>
        </p:txBody>
      </p:sp>
      <p:sp>
        <p:nvSpPr>
          <p:cNvPr id="129" name="Shape 127"/>
          <p:cNvSpPr/>
          <p:nvPr/>
        </p:nvSpPr>
        <p:spPr>
          <a:xfrm>
            <a:off x="11000232" y="7059168"/>
            <a:ext cx="1325880" cy="566928"/>
          </a:xfrm>
          <a:prstGeom prst="chevron">
            <a:avLst/>
          </a:prstGeom>
          <a:solidFill>
            <a:srgbClr val="5B0F4E"/>
          </a:solidFill>
          <a:ln w="6350">
            <a:solidFill>
              <a:srgbClr val="FFFFFF"/>
            </a:solidFill>
            <a:prstDash val="solid"/>
          </a:ln>
        </p:spPr>
        <p:txBody>
          <a:bodyPr/>
          <a:lstStyle/>
          <a:p>
            <a:endParaRPr lang="en-IN"/>
          </a:p>
        </p:txBody>
      </p:sp>
      <p:sp>
        <p:nvSpPr>
          <p:cNvPr id="130" name="Text 128"/>
          <p:cNvSpPr txBox="1"/>
          <p:nvPr/>
        </p:nvSpPr>
        <p:spPr>
          <a:xfrm>
            <a:off x="11183112" y="7059168"/>
            <a:ext cx="1005840" cy="56692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Own data refines</a:t>
            </a:r>
            <a:endParaRPr lang="en-US" sz="1000" dirty="0"/>
          </a:p>
        </p:txBody>
      </p:sp>
      <p:sp>
        <p:nvSpPr>
          <p:cNvPr id="131" name="Text 129"/>
          <p:cNvSpPr txBox="1"/>
          <p:nvPr/>
        </p:nvSpPr>
        <p:spPr>
          <a:xfrm>
            <a:off x="5989320" y="7726680"/>
            <a:ext cx="5084064" cy="236702"/>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System architecture</a:t>
            </a:r>
            <a:endParaRPr lang="en-US" sz="1400" dirty="0"/>
          </a:p>
        </p:txBody>
      </p:sp>
      <p:sp>
        <p:nvSpPr>
          <p:cNvPr id="132" name="Shape 130"/>
          <p:cNvSpPr/>
          <p:nvPr/>
        </p:nvSpPr>
        <p:spPr>
          <a:xfrm>
            <a:off x="5989320" y="8065008"/>
            <a:ext cx="1371600" cy="1298448"/>
          </a:xfrm>
          <a:prstGeom prst="roundRect">
            <a:avLst>
              <a:gd name="adj" fmla="val 5634"/>
            </a:avLst>
          </a:prstGeom>
          <a:solidFill>
            <a:srgbClr val="F4F4F4"/>
          </a:solidFill>
          <a:ln w="12700">
            <a:solidFill>
              <a:srgbClr val="F4F4F4"/>
            </a:solidFill>
            <a:prstDash val="solid"/>
          </a:ln>
        </p:spPr>
        <p:txBody>
          <a:bodyPr/>
          <a:lstStyle/>
          <a:p>
            <a:endParaRPr lang="en-IN"/>
          </a:p>
        </p:txBody>
      </p:sp>
      <p:sp>
        <p:nvSpPr>
          <p:cNvPr id="133" name="Text 131"/>
          <p:cNvSpPr txBox="1"/>
          <p:nvPr/>
        </p:nvSpPr>
        <p:spPr>
          <a:xfrm>
            <a:off x="6044184" y="8092440"/>
            <a:ext cx="1261872" cy="292608"/>
          </a:xfrm>
          <a:prstGeom prst="rect">
            <a:avLst/>
          </a:prstGeom>
          <a:noFill/>
          <a:ln/>
        </p:spPr>
        <p:txBody>
          <a:bodyPr wrap="square" lIns="0" tIns="0" rIns="0" bIns="0" rtlCol="0" anchor="t"/>
          <a:lstStyle/>
          <a:p>
            <a:pPr marL="0" indent="0">
              <a:buNone/>
            </a:pPr>
            <a:r>
              <a:rPr lang="en-US" sz="1050" b="1" dirty="0">
                <a:solidFill>
                  <a:srgbClr val="5B0F4E"/>
                </a:solidFill>
                <a:latin typeface="Arial" pitchFamily="34" charset="0"/>
                <a:ea typeface="Arial" pitchFamily="34" charset="-122"/>
                <a:cs typeface="Arial" pitchFamily="34" charset="-120"/>
              </a:rPr>
              <a:t>Inputs</a:t>
            </a:r>
            <a:endParaRPr lang="en-US" sz="1050" dirty="0"/>
          </a:p>
        </p:txBody>
      </p:sp>
      <p:sp>
        <p:nvSpPr>
          <p:cNvPr id="134" name="Text 132"/>
          <p:cNvSpPr txBox="1"/>
          <p:nvPr/>
        </p:nvSpPr>
        <p:spPr>
          <a:xfrm>
            <a:off x="6044184" y="8375904"/>
            <a:ext cx="1261872" cy="969264"/>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Comparable listings, floor, category ε, ratings, own orders</a:t>
            </a:r>
            <a:endParaRPr lang="en-US" sz="1000" dirty="0"/>
          </a:p>
        </p:txBody>
      </p:sp>
      <p:sp>
        <p:nvSpPr>
          <p:cNvPr id="135" name="Shape 133"/>
          <p:cNvSpPr/>
          <p:nvPr/>
        </p:nvSpPr>
        <p:spPr>
          <a:xfrm>
            <a:off x="7379208" y="8595360"/>
            <a:ext cx="182880" cy="219456"/>
          </a:xfrm>
          <a:prstGeom prst="rightArrow">
            <a:avLst/>
          </a:prstGeom>
          <a:solidFill>
            <a:srgbClr val="5B0F4E"/>
          </a:solidFill>
          <a:ln w="12700">
            <a:solidFill>
              <a:srgbClr val="5B0F4E"/>
            </a:solidFill>
            <a:prstDash val="solid"/>
          </a:ln>
        </p:spPr>
        <p:txBody>
          <a:bodyPr/>
          <a:lstStyle/>
          <a:p>
            <a:endParaRPr lang="en-IN" sz="1000"/>
          </a:p>
        </p:txBody>
      </p:sp>
      <p:sp>
        <p:nvSpPr>
          <p:cNvPr id="136" name="Shape 134"/>
          <p:cNvSpPr/>
          <p:nvPr/>
        </p:nvSpPr>
        <p:spPr>
          <a:xfrm>
            <a:off x="7571232" y="8065008"/>
            <a:ext cx="1371600" cy="1298448"/>
          </a:xfrm>
          <a:prstGeom prst="roundRect">
            <a:avLst>
              <a:gd name="adj" fmla="val 5634"/>
            </a:avLst>
          </a:prstGeom>
          <a:solidFill>
            <a:srgbClr val="FFF1DC"/>
          </a:solidFill>
          <a:ln w="12700">
            <a:solidFill>
              <a:srgbClr val="FFF1DC"/>
            </a:solidFill>
            <a:prstDash val="solid"/>
          </a:ln>
        </p:spPr>
        <p:txBody>
          <a:bodyPr/>
          <a:lstStyle/>
          <a:p>
            <a:endParaRPr lang="en-IN"/>
          </a:p>
        </p:txBody>
      </p:sp>
      <p:sp>
        <p:nvSpPr>
          <p:cNvPr id="137" name="Text 135"/>
          <p:cNvSpPr txBox="1"/>
          <p:nvPr/>
        </p:nvSpPr>
        <p:spPr>
          <a:xfrm>
            <a:off x="7626096" y="8092440"/>
            <a:ext cx="1261872" cy="292608"/>
          </a:xfrm>
          <a:prstGeom prst="rect">
            <a:avLst/>
          </a:prstGeom>
          <a:noFill/>
          <a:ln/>
        </p:spPr>
        <p:txBody>
          <a:bodyPr wrap="square" lIns="0" tIns="0" rIns="0" bIns="0" rtlCol="0" anchor="t"/>
          <a:lstStyle/>
          <a:p>
            <a:pPr marL="0" indent="0">
              <a:buNone/>
            </a:pPr>
            <a:r>
              <a:rPr lang="en-US" sz="1050" b="1" dirty="0">
                <a:solidFill>
                  <a:srgbClr val="C9660A"/>
                </a:solidFill>
                <a:latin typeface="Arial" pitchFamily="34" charset="0"/>
                <a:ea typeface="Arial" pitchFamily="34" charset="-122"/>
                <a:cs typeface="Arial" pitchFamily="34" charset="-120"/>
              </a:rPr>
              <a:t>Engine</a:t>
            </a:r>
            <a:endParaRPr lang="en-US" sz="1050" dirty="0"/>
          </a:p>
        </p:txBody>
      </p:sp>
      <p:sp>
        <p:nvSpPr>
          <p:cNvPr id="138" name="Text 136"/>
          <p:cNvSpPr txBox="1"/>
          <p:nvPr/>
        </p:nvSpPr>
        <p:spPr>
          <a:xfrm>
            <a:off x="7626096" y="8375904"/>
            <a:ext cx="1261872" cy="969264"/>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Quartiles, zone, rank; min(max(ε/(ε−1)·P₀, P₀), Q3)</a:t>
            </a:r>
            <a:endParaRPr lang="en-US" sz="1000" dirty="0"/>
          </a:p>
        </p:txBody>
      </p:sp>
      <p:sp>
        <p:nvSpPr>
          <p:cNvPr id="139" name="Shape 137"/>
          <p:cNvSpPr/>
          <p:nvPr/>
        </p:nvSpPr>
        <p:spPr>
          <a:xfrm>
            <a:off x="8961120" y="8595360"/>
            <a:ext cx="182880" cy="219456"/>
          </a:xfrm>
          <a:prstGeom prst="rightArrow">
            <a:avLst/>
          </a:prstGeom>
          <a:solidFill>
            <a:srgbClr val="5B0F4E"/>
          </a:solidFill>
          <a:ln w="12700">
            <a:solidFill>
              <a:srgbClr val="5B0F4E"/>
            </a:solidFill>
            <a:prstDash val="solid"/>
          </a:ln>
        </p:spPr>
        <p:txBody>
          <a:bodyPr/>
          <a:lstStyle/>
          <a:p>
            <a:endParaRPr lang="en-IN" sz="1000"/>
          </a:p>
        </p:txBody>
      </p:sp>
      <p:sp>
        <p:nvSpPr>
          <p:cNvPr id="140" name="Shape 138"/>
          <p:cNvSpPr/>
          <p:nvPr/>
        </p:nvSpPr>
        <p:spPr>
          <a:xfrm>
            <a:off x="9153144" y="8065008"/>
            <a:ext cx="1371600" cy="1298448"/>
          </a:xfrm>
          <a:prstGeom prst="roundRect">
            <a:avLst>
              <a:gd name="adj" fmla="val 5634"/>
            </a:avLst>
          </a:prstGeom>
          <a:solidFill>
            <a:srgbClr val="F4F4F4"/>
          </a:solidFill>
          <a:ln w="12700">
            <a:solidFill>
              <a:srgbClr val="F4F4F4"/>
            </a:solidFill>
            <a:prstDash val="solid"/>
          </a:ln>
        </p:spPr>
        <p:txBody>
          <a:bodyPr/>
          <a:lstStyle/>
          <a:p>
            <a:endParaRPr lang="en-IN"/>
          </a:p>
        </p:txBody>
      </p:sp>
      <p:sp>
        <p:nvSpPr>
          <p:cNvPr id="141" name="Text 139"/>
          <p:cNvSpPr txBox="1"/>
          <p:nvPr/>
        </p:nvSpPr>
        <p:spPr>
          <a:xfrm>
            <a:off x="9208008" y="8092440"/>
            <a:ext cx="1261872" cy="292608"/>
          </a:xfrm>
          <a:prstGeom prst="rect">
            <a:avLst/>
          </a:prstGeom>
          <a:noFill/>
          <a:ln/>
        </p:spPr>
        <p:txBody>
          <a:bodyPr wrap="square" lIns="0" tIns="0" rIns="0" bIns="0" rtlCol="0" anchor="t"/>
          <a:lstStyle/>
          <a:p>
            <a:pPr marL="0" indent="0">
              <a:buNone/>
            </a:pPr>
            <a:r>
              <a:rPr lang="en-US" sz="1050" b="1" dirty="0">
                <a:solidFill>
                  <a:srgbClr val="5B0F4E"/>
                </a:solidFill>
                <a:latin typeface="Arial" pitchFamily="34" charset="0"/>
                <a:ea typeface="Arial" pitchFamily="34" charset="-122"/>
                <a:cs typeface="Arial" pitchFamily="34" charset="-120"/>
              </a:rPr>
              <a:t>Outputs</a:t>
            </a:r>
            <a:endParaRPr lang="en-US" sz="1050" dirty="0"/>
          </a:p>
        </p:txBody>
      </p:sp>
      <p:sp>
        <p:nvSpPr>
          <p:cNvPr id="142" name="Text 140"/>
          <p:cNvSpPr txBox="1"/>
          <p:nvPr/>
        </p:nvSpPr>
        <p:spPr>
          <a:xfrm>
            <a:off x="9208008" y="8375904"/>
            <a:ext cx="1261872" cy="969264"/>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Band chart, suggested range, strategy, confidence meter</a:t>
            </a:r>
            <a:endParaRPr lang="en-US" sz="1000" dirty="0"/>
          </a:p>
        </p:txBody>
      </p:sp>
      <p:sp>
        <p:nvSpPr>
          <p:cNvPr id="143" name="Shape 141"/>
          <p:cNvSpPr/>
          <p:nvPr/>
        </p:nvSpPr>
        <p:spPr>
          <a:xfrm>
            <a:off x="10543032" y="8595360"/>
            <a:ext cx="182880" cy="219456"/>
          </a:xfrm>
          <a:prstGeom prst="rightArrow">
            <a:avLst/>
          </a:prstGeom>
          <a:solidFill>
            <a:srgbClr val="5B0F4E"/>
          </a:solidFill>
          <a:ln w="12700">
            <a:solidFill>
              <a:srgbClr val="5B0F4E"/>
            </a:solidFill>
            <a:prstDash val="solid"/>
          </a:ln>
        </p:spPr>
        <p:txBody>
          <a:bodyPr/>
          <a:lstStyle/>
          <a:p>
            <a:endParaRPr lang="en-IN" sz="1000"/>
          </a:p>
        </p:txBody>
      </p:sp>
      <p:sp>
        <p:nvSpPr>
          <p:cNvPr id="144" name="Shape 142"/>
          <p:cNvSpPr/>
          <p:nvPr/>
        </p:nvSpPr>
        <p:spPr>
          <a:xfrm>
            <a:off x="10735056" y="8065008"/>
            <a:ext cx="1371600" cy="1298448"/>
          </a:xfrm>
          <a:prstGeom prst="roundRect">
            <a:avLst>
              <a:gd name="adj" fmla="val 5634"/>
            </a:avLst>
          </a:prstGeom>
          <a:solidFill>
            <a:srgbClr val="F4F4F4"/>
          </a:solidFill>
          <a:ln w="12700">
            <a:solidFill>
              <a:srgbClr val="F4F4F4"/>
            </a:solidFill>
            <a:prstDash val="solid"/>
          </a:ln>
        </p:spPr>
        <p:txBody>
          <a:bodyPr/>
          <a:lstStyle/>
          <a:p>
            <a:endParaRPr lang="en-IN"/>
          </a:p>
        </p:txBody>
      </p:sp>
      <p:sp>
        <p:nvSpPr>
          <p:cNvPr id="145" name="Text 143"/>
          <p:cNvSpPr txBox="1"/>
          <p:nvPr/>
        </p:nvSpPr>
        <p:spPr>
          <a:xfrm>
            <a:off x="10789920" y="8092440"/>
            <a:ext cx="1261872" cy="292608"/>
          </a:xfrm>
          <a:prstGeom prst="rect">
            <a:avLst/>
          </a:prstGeom>
          <a:noFill/>
          <a:ln/>
        </p:spPr>
        <p:txBody>
          <a:bodyPr wrap="square" lIns="0" tIns="0" rIns="0" bIns="0" rtlCol="0" anchor="t"/>
          <a:lstStyle/>
          <a:p>
            <a:pPr marL="0" indent="0">
              <a:buNone/>
            </a:pPr>
            <a:r>
              <a:rPr lang="en-US" sz="1050" b="1" dirty="0">
                <a:solidFill>
                  <a:srgbClr val="5B0F4E"/>
                </a:solidFill>
                <a:latin typeface="Arial" pitchFamily="34" charset="0"/>
                <a:ea typeface="Arial" pitchFamily="34" charset="-122"/>
                <a:cs typeface="Arial" pitchFamily="34" charset="-120"/>
              </a:rPr>
              <a:t>Touchpoint</a:t>
            </a:r>
            <a:endParaRPr lang="en-US" sz="1050" dirty="0"/>
          </a:p>
        </p:txBody>
      </p:sp>
      <p:sp>
        <p:nvSpPr>
          <p:cNvPr id="146" name="Text 144"/>
          <p:cNvSpPr txBox="1"/>
          <p:nvPr/>
        </p:nvSpPr>
        <p:spPr>
          <a:xfrm>
            <a:off x="10789920" y="8375904"/>
            <a:ext cx="1261872" cy="969264"/>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Price edit screen; upgrades Price Recommendation</a:t>
            </a:r>
            <a:endParaRPr lang="en-US" sz="1000" dirty="0"/>
          </a:p>
        </p:txBody>
      </p:sp>
      <p:sp>
        <p:nvSpPr>
          <p:cNvPr id="147" name="Text 145"/>
          <p:cNvSpPr txBox="1"/>
          <p:nvPr/>
        </p:nvSpPr>
        <p:spPr>
          <a:xfrm>
            <a:off x="12435840" y="3127248"/>
            <a:ext cx="5394960" cy="329184"/>
          </a:xfrm>
          <a:prstGeom prst="rect">
            <a:avLst/>
          </a:prstGeom>
          <a:noFill/>
          <a:ln/>
        </p:spPr>
        <p:txBody>
          <a:bodyPr wrap="square" lIns="0" tIns="0" rIns="0" bIns="0" rtlCol="0" anchor="t"/>
          <a:lstStyle/>
          <a:p>
            <a:pPr marL="0" indent="0">
              <a:buNone/>
            </a:pPr>
            <a:r>
              <a:rPr lang="en-US" b="1" dirty="0">
                <a:solidFill>
                  <a:srgbClr val="5B0F4E"/>
                </a:solidFill>
                <a:latin typeface="Arial" pitchFamily="34" charset="0"/>
                <a:ea typeface="Arial" pitchFamily="34" charset="-122"/>
                <a:cs typeface="Arial" pitchFamily="34" charset="-120"/>
              </a:rPr>
              <a:t>Value proposition</a:t>
            </a:r>
            <a:endParaRPr lang="en-US" dirty="0"/>
          </a:p>
        </p:txBody>
      </p:sp>
      <p:sp>
        <p:nvSpPr>
          <p:cNvPr id="148" name="Shape 146"/>
          <p:cNvSpPr/>
          <p:nvPr/>
        </p:nvSpPr>
        <p:spPr>
          <a:xfrm>
            <a:off x="12435840" y="3474720"/>
            <a:ext cx="2651760" cy="1417320"/>
          </a:xfrm>
          <a:prstGeom prst="roundRect">
            <a:avLst>
              <a:gd name="adj" fmla="val 7742"/>
            </a:avLst>
          </a:prstGeom>
          <a:solidFill>
            <a:srgbClr val="F3E8F1"/>
          </a:solidFill>
          <a:ln w="12700">
            <a:solidFill>
              <a:srgbClr val="F3E8F1"/>
            </a:solidFill>
            <a:prstDash val="solid"/>
          </a:ln>
        </p:spPr>
        <p:txBody>
          <a:bodyPr/>
          <a:lstStyle/>
          <a:p>
            <a:endParaRPr lang="en-IN"/>
          </a:p>
        </p:txBody>
      </p:sp>
      <p:sp>
        <p:nvSpPr>
          <p:cNvPr id="149" name="Text 147"/>
          <p:cNvSpPr txBox="1"/>
          <p:nvPr/>
        </p:nvSpPr>
        <p:spPr>
          <a:xfrm>
            <a:off x="12527280" y="3511296"/>
            <a:ext cx="2468880" cy="274320"/>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For the seller</a:t>
            </a:r>
            <a:endParaRPr lang="en-US" sz="1400" dirty="0"/>
          </a:p>
        </p:txBody>
      </p:sp>
      <p:sp>
        <p:nvSpPr>
          <p:cNvPr id="150" name="Text 148"/>
          <p:cNvSpPr txBox="1"/>
          <p:nvPr/>
        </p:nvSpPr>
        <p:spPr>
          <a:xfrm>
            <a:off x="12527280" y="3794760"/>
            <a:ext cx="2468880" cy="1078992"/>
          </a:xfrm>
          <a:prstGeom prst="rect">
            <a:avLst/>
          </a:prstGeom>
          <a:noFill/>
          <a:ln/>
        </p:spPr>
        <p:txBody>
          <a:bodyPr wrap="square" lIns="0" tIns="0" rIns="0" bIns="0" rtlCol="0" anchor="t"/>
          <a:lstStyle/>
          <a:p>
            <a:pPr marL="0" indent="0">
              <a:buNone/>
            </a:pPr>
            <a:r>
              <a:rPr lang="en-US" sz="1200" dirty="0">
                <a:solidFill>
                  <a:srgbClr val="2B2B2B"/>
                </a:solidFill>
                <a:latin typeface="Arial" pitchFamily="34" charset="0"/>
                <a:ea typeface="Arial" pitchFamily="34" charset="-122"/>
                <a:cs typeface="Arial" pitchFamily="34" charset="-120"/>
              </a:rPr>
              <a:t>Price with the market without pricing below your own cost, see how you rank, and get a defensible first price on day one.</a:t>
            </a:r>
            <a:endParaRPr lang="en-US" sz="1200" dirty="0"/>
          </a:p>
        </p:txBody>
      </p:sp>
      <p:sp>
        <p:nvSpPr>
          <p:cNvPr id="151" name="Shape 149"/>
          <p:cNvSpPr/>
          <p:nvPr/>
        </p:nvSpPr>
        <p:spPr>
          <a:xfrm>
            <a:off x="15179040" y="3474720"/>
            <a:ext cx="2651760" cy="1417320"/>
          </a:xfrm>
          <a:prstGeom prst="roundRect">
            <a:avLst>
              <a:gd name="adj" fmla="val 7742"/>
            </a:avLst>
          </a:prstGeom>
          <a:solidFill>
            <a:srgbClr val="FFF1DC"/>
          </a:solidFill>
          <a:ln w="12700">
            <a:solidFill>
              <a:srgbClr val="FFF1DC"/>
            </a:solidFill>
            <a:prstDash val="solid"/>
          </a:ln>
        </p:spPr>
        <p:txBody>
          <a:bodyPr/>
          <a:lstStyle/>
          <a:p>
            <a:endParaRPr lang="en-IN"/>
          </a:p>
        </p:txBody>
      </p:sp>
      <p:sp>
        <p:nvSpPr>
          <p:cNvPr id="152" name="Text 150"/>
          <p:cNvSpPr txBox="1"/>
          <p:nvPr/>
        </p:nvSpPr>
        <p:spPr>
          <a:xfrm>
            <a:off x="15270480" y="3511296"/>
            <a:ext cx="2468880" cy="274320"/>
          </a:xfrm>
          <a:prstGeom prst="rect">
            <a:avLst/>
          </a:prstGeom>
          <a:noFill/>
          <a:ln/>
        </p:spPr>
        <p:txBody>
          <a:bodyPr wrap="square" lIns="0" tIns="0" rIns="0" bIns="0" rtlCol="0" anchor="t"/>
          <a:lstStyle/>
          <a:p>
            <a:pPr marL="0" indent="0">
              <a:buNone/>
            </a:pPr>
            <a:r>
              <a:rPr lang="en-US" sz="1400" b="1" dirty="0">
                <a:solidFill>
                  <a:srgbClr val="C9660A"/>
                </a:solidFill>
                <a:latin typeface="Arial" pitchFamily="34" charset="0"/>
                <a:ea typeface="Arial" pitchFamily="34" charset="-122"/>
                <a:cs typeface="Arial" pitchFamily="34" charset="-120"/>
              </a:rPr>
              <a:t>For Meesho</a:t>
            </a:r>
            <a:endParaRPr lang="en-US" sz="1400" dirty="0"/>
          </a:p>
        </p:txBody>
      </p:sp>
      <p:sp>
        <p:nvSpPr>
          <p:cNvPr id="153" name="Text 151"/>
          <p:cNvSpPr txBox="1"/>
          <p:nvPr/>
        </p:nvSpPr>
        <p:spPr>
          <a:xfrm>
            <a:off x="15270480" y="3794760"/>
            <a:ext cx="2468880" cy="1078992"/>
          </a:xfrm>
          <a:prstGeom prst="rect">
            <a:avLst/>
          </a:prstGeom>
          <a:noFill/>
          <a:ln/>
        </p:spPr>
        <p:txBody>
          <a:bodyPr wrap="square" lIns="0" tIns="0" rIns="0" bIns="0" rtlCol="0" anchor="t"/>
          <a:lstStyle/>
          <a:p>
            <a:pPr marL="0" indent="0">
              <a:buNone/>
            </a:pPr>
            <a:r>
              <a:rPr lang="en-US" sz="1200" dirty="0">
                <a:solidFill>
                  <a:srgbClr val="2B2B2B"/>
                </a:solidFill>
                <a:latin typeface="Arial" pitchFamily="34" charset="0"/>
                <a:ea typeface="Arial" pitchFamily="34" charset="-122"/>
                <a:cs typeface="Arial" pitchFamily="34" charset="-120"/>
              </a:rPr>
              <a:t>Turns a competitor-led recommendation into a floor-aware one; ranges and seller choice keep it clear of price herding.</a:t>
            </a:r>
            <a:endParaRPr lang="en-US" sz="1200" dirty="0"/>
          </a:p>
        </p:txBody>
      </p:sp>
      <p:sp>
        <p:nvSpPr>
          <p:cNvPr id="154" name="Text 152"/>
          <p:cNvSpPr txBox="1"/>
          <p:nvPr/>
        </p:nvSpPr>
        <p:spPr>
          <a:xfrm>
            <a:off x="12435840" y="5010912"/>
            <a:ext cx="5394960" cy="329184"/>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Does this actually solve the problem?</a:t>
            </a:r>
            <a:endParaRPr lang="en-US" sz="1400" dirty="0"/>
          </a:p>
        </p:txBody>
      </p:sp>
      <p:sp>
        <p:nvSpPr>
          <p:cNvPr id="155" name="Shape 153"/>
          <p:cNvSpPr/>
          <p:nvPr/>
        </p:nvSpPr>
        <p:spPr>
          <a:xfrm>
            <a:off x="12435840" y="5358384"/>
            <a:ext cx="685800" cy="329184"/>
          </a:xfrm>
          <a:prstGeom prst="roundRect">
            <a:avLst>
              <a:gd name="adj" fmla="val 16667"/>
            </a:avLst>
          </a:prstGeom>
          <a:solidFill>
            <a:srgbClr val="1E8E3E"/>
          </a:solidFill>
          <a:ln w="12700">
            <a:solidFill>
              <a:srgbClr val="1E8E3E"/>
            </a:solidFill>
            <a:prstDash val="solid"/>
          </a:ln>
        </p:spPr>
        <p:txBody>
          <a:bodyPr/>
          <a:lstStyle/>
          <a:p>
            <a:endParaRPr lang="en-IN"/>
          </a:p>
        </p:txBody>
      </p:sp>
      <p:sp>
        <p:nvSpPr>
          <p:cNvPr id="156" name="Text 154"/>
          <p:cNvSpPr txBox="1"/>
          <p:nvPr/>
        </p:nvSpPr>
        <p:spPr>
          <a:xfrm>
            <a:off x="12435840" y="5358384"/>
            <a:ext cx="6858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YES</a:t>
            </a:r>
            <a:endParaRPr lang="en-US" sz="1200" dirty="0"/>
          </a:p>
        </p:txBody>
      </p:sp>
      <p:sp>
        <p:nvSpPr>
          <p:cNvPr id="157" name="Text 155"/>
          <p:cNvSpPr txBox="1"/>
          <p:nvPr/>
        </p:nvSpPr>
        <p:spPr>
          <a:xfrm>
            <a:off x="13213080" y="5340096"/>
            <a:ext cx="4617720" cy="384048"/>
          </a:xfrm>
          <a:prstGeom prst="rect">
            <a:avLst/>
          </a:prstGeom>
          <a:noFill/>
          <a:ln/>
        </p:spPr>
        <p:txBody>
          <a:bodyPr wrap="square" lIns="0" tIns="0" rIns="0" bIns="0" rtlCol="0" anchor="ctr"/>
          <a:lstStyle/>
          <a:p>
            <a:pPr marL="0" indent="0">
              <a:buNone/>
            </a:pPr>
            <a:r>
              <a:rPr lang="en-US" sz="1200" i="1" dirty="0">
                <a:solidFill>
                  <a:srgbClr val="2B2B2B"/>
                </a:solidFill>
                <a:latin typeface="Arial" pitchFamily="34" charset="0"/>
                <a:ea typeface="Arial" pitchFamily="34" charset="-122"/>
                <a:cs typeface="Arial" pitchFamily="34" charset="-120"/>
              </a:rPr>
              <a:t>It replaces 'copy the cheapest' with 'price inside the band, above my floor', even for a brand-new listing.</a:t>
            </a:r>
            <a:endParaRPr lang="en-US" sz="1200" dirty="0"/>
          </a:p>
        </p:txBody>
      </p:sp>
      <p:graphicFrame>
        <p:nvGraphicFramePr>
          <p:cNvPr id="158" name="Table 0"/>
          <p:cNvGraphicFramePr>
            <a:graphicFrameLocks noGrp="1"/>
          </p:cNvGraphicFramePr>
          <p:nvPr>
            <p:extLst>
              <p:ext uri="{D42A27DB-BD31-4B8C-83A1-F6EECF244321}">
                <p14:modId xmlns:p14="http://schemas.microsoft.com/office/powerpoint/2010/main" val="1579011935"/>
              </p:ext>
            </p:extLst>
          </p:nvPr>
        </p:nvGraphicFramePr>
        <p:xfrm>
          <a:off x="12435840" y="5779008"/>
          <a:ext cx="5394960" cy="1645920"/>
        </p:xfrm>
        <a:graphic>
          <a:graphicData uri="http://schemas.openxmlformats.org/drawingml/2006/table">
            <a:tbl>
              <a:tblPr/>
              <a:tblGrid>
                <a:gridCol w="23774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329184">
                <a:tc>
                  <a:txBody>
                    <a:bodyPr/>
                    <a:lstStyle/>
                    <a:p>
                      <a:pPr marL="0" indent="0">
                        <a:buNone/>
                      </a:pPr>
                      <a:r>
                        <a:rPr lang="en-US" sz="950" b="1" dirty="0">
                          <a:solidFill>
                            <a:srgbClr val="FFFFFF"/>
                          </a:solidFill>
                          <a:latin typeface="Arial" pitchFamily="34" charset="0"/>
                          <a:ea typeface="Arial" pitchFamily="34" charset="-122"/>
                          <a:cs typeface="Arial" pitchFamily="34" charset="-120"/>
                        </a:rPr>
                        <a:t>Check</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buNone/>
                      </a:pPr>
                      <a:r>
                        <a:rPr lang="en-US" sz="950" b="1" dirty="0">
                          <a:solidFill>
                            <a:srgbClr val="FFFFFF"/>
                          </a:solidFill>
                          <a:latin typeface="Arial" pitchFamily="34" charset="0"/>
                          <a:ea typeface="Arial" pitchFamily="34" charset="-122"/>
                          <a:cs typeface="Arial" pitchFamily="34" charset="-120"/>
                        </a:rPr>
                        <a:t>Before</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buNone/>
                      </a:pPr>
                      <a:r>
                        <a:rPr lang="en-US" sz="950" b="1" dirty="0">
                          <a:solidFill>
                            <a:srgbClr val="FFFFFF"/>
                          </a:solidFill>
                          <a:latin typeface="Arial" pitchFamily="34" charset="0"/>
                          <a:ea typeface="Arial" pitchFamily="34" charset="-122"/>
                          <a:cs typeface="Arial" pitchFamily="34" charset="-120"/>
                        </a:rPr>
                        <a:t>With feature</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extLst>
                  <a:ext uri="{0D108BD9-81ED-4DB2-BD59-A6C34878D82A}">
                    <a16:rowId xmlns:a16="http://schemas.microsoft.com/office/drawing/2014/main" val="10000"/>
                  </a:ext>
                </a:extLst>
              </a:tr>
              <a:tr h="329184">
                <a:tc>
                  <a:txBody>
                    <a:bodyPr/>
                    <a:lstStyle/>
                    <a:p>
                      <a:pPr marL="0" indent="0">
                        <a:buNone/>
                      </a:pPr>
                      <a:r>
                        <a:rPr lang="en-US" sz="950" dirty="0">
                          <a:solidFill>
                            <a:srgbClr val="000000"/>
                          </a:solidFill>
                          <a:latin typeface="Arial" pitchFamily="34" charset="0"/>
                          <a:ea typeface="Arial" pitchFamily="34" charset="-122"/>
                          <a:cs typeface="Arial" pitchFamily="34" charset="-120"/>
                        </a:rPr>
                        <a:t>₹299 copied from the market</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C62828"/>
                          </a:solidFill>
                          <a:latin typeface="Arial" pitchFamily="34" charset="0"/>
                          <a:ea typeface="Arial" pitchFamily="34" charset="-122"/>
                          <a:cs typeface="Arial" pitchFamily="34" charset="-120"/>
                        </a:rPr>
                        <a:t>Looks safe</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1E8E3E"/>
                          </a:solidFill>
                          <a:latin typeface="Arial" pitchFamily="34" charset="0"/>
                          <a:ea typeface="Arial" pitchFamily="34" charset="-122"/>
                          <a:cs typeface="Arial" pitchFamily="34" charset="-120"/>
                        </a:rPr>
                        <a:t>Shown as Loss zone</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950" dirty="0">
                          <a:solidFill>
                            <a:srgbClr val="000000"/>
                          </a:solidFill>
                          <a:latin typeface="Arial" pitchFamily="34" charset="0"/>
                          <a:ea typeface="Arial" pitchFamily="34" charset="-122"/>
                          <a:cs typeface="Arial" pitchFamily="34" charset="-120"/>
                        </a:rPr>
                        <a:t>Suggested price (ε = 15)</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C62828"/>
                          </a:solidFill>
                          <a:latin typeface="Arial" pitchFamily="34" charset="0"/>
                          <a:ea typeface="Arial" pitchFamily="34" charset="-122"/>
                          <a:cs typeface="Arial" pitchFamily="34" charset="-120"/>
                        </a:rPr>
                        <a:t>None</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1E8E3E"/>
                          </a:solidFill>
                          <a:latin typeface="Arial" pitchFamily="34" charset="0"/>
                          <a:ea typeface="Arial" pitchFamily="34" charset="-122"/>
                          <a:cs typeface="Arial" pitchFamily="34" charset="-120"/>
                        </a:rPr>
                        <a:t>₹319, keeps ₹3.41</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950" dirty="0">
                          <a:solidFill>
                            <a:srgbClr val="000000"/>
                          </a:solidFill>
                          <a:latin typeface="Arial" pitchFamily="34" charset="0"/>
                          <a:ea typeface="Arial" pitchFamily="34" charset="-122"/>
                          <a:cs typeface="Arial" pitchFamily="34" charset="-120"/>
                        </a:rPr>
                        <a:t>Own-data weight at 30 orders</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C62828"/>
                          </a:solidFill>
                          <a:latin typeface="Arial" pitchFamily="34" charset="0"/>
                          <a:ea typeface="Arial" pitchFamily="34" charset="-122"/>
                          <a:cs typeface="Arial" pitchFamily="34" charset="-120"/>
                        </a:rPr>
                        <a:t>0%</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1E8E3E"/>
                          </a:solidFill>
                          <a:latin typeface="Arial" pitchFamily="34" charset="0"/>
                          <a:ea typeface="Arial" pitchFamily="34" charset="-122"/>
                          <a:cs typeface="Arial" pitchFamily="34" charset="-120"/>
                        </a:rPr>
                        <a:t>50%</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950" dirty="0">
                          <a:solidFill>
                            <a:srgbClr val="000000"/>
                          </a:solidFill>
                          <a:latin typeface="Arial" pitchFamily="34" charset="0"/>
                          <a:ea typeface="Arial" pitchFamily="34" charset="-122"/>
                          <a:cs typeface="Arial" pitchFamily="34" charset="-120"/>
                        </a:rPr>
                        <a:t>Suggestions below floor</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C62828"/>
                          </a:solidFill>
                          <a:latin typeface="Arial" pitchFamily="34" charset="0"/>
                          <a:ea typeface="Arial" pitchFamily="34" charset="-122"/>
                          <a:cs typeface="Arial" pitchFamily="34" charset="-120"/>
                        </a:rPr>
                        <a:t>Possible</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1E8E3E"/>
                          </a:solidFill>
                          <a:latin typeface="Arial" pitchFamily="34" charset="0"/>
                          <a:ea typeface="Arial" pitchFamily="34" charset="-122"/>
                          <a:cs typeface="Arial" pitchFamily="34" charset="-120"/>
                        </a:rPr>
                        <a:t>Never</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59" name="Text 156"/>
          <p:cNvSpPr txBox="1"/>
          <p:nvPr/>
        </p:nvSpPr>
        <p:spPr>
          <a:xfrm>
            <a:off x="12481560" y="7461504"/>
            <a:ext cx="5394960" cy="329184"/>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Benefits</a:t>
            </a:r>
            <a:endParaRPr lang="en-US" sz="1400" dirty="0"/>
          </a:p>
        </p:txBody>
      </p:sp>
      <p:sp>
        <p:nvSpPr>
          <p:cNvPr id="160" name="Shape 157"/>
          <p:cNvSpPr/>
          <p:nvPr/>
        </p:nvSpPr>
        <p:spPr>
          <a:xfrm>
            <a:off x="12435840" y="7726680"/>
            <a:ext cx="2651760" cy="768096"/>
          </a:xfrm>
          <a:prstGeom prst="roundRect">
            <a:avLst>
              <a:gd name="adj" fmla="val 9524"/>
            </a:avLst>
          </a:prstGeom>
          <a:solidFill>
            <a:srgbClr val="E6F4EA"/>
          </a:solidFill>
          <a:ln w="12700">
            <a:solidFill>
              <a:srgbClr val="E6F4EA"/>
            </a:solidFill>
            <a:prstDash val="solid"/>
          </a:ln>
        </p:spPr>
        <p:txBody>
          <a:bodyPr/>
          <a:lstStyle/>
          <a:p>
            <a:endParaRPr lang="en-IN"/>
          </a:p>
        </p:txBody>
      </p:sp>
      <p:sp>
        <p:nvSpPr>
          <p:cNvPr id="161" name="Text 158"/>
          <p:cNvSpPr txBox="1"/>
          <p:nvPr/>
        </p:nvSpPr>
        <p:spPr>
          <a:xfrm>
            <a:off x="12527280" y="7754112"/>
            <a:ext cx="2468880" cy="365760"/>
          </a:xfrm>
          <a:prstGeom prst="rect">
            <a:avLst/>
          </a:prstGeom>
          <a:noFill/>
          <a:ln/>
        </p:spPr>
        <p:txBody>
          <a:bodyPr wrap="square" lIns="0" tIns="0" rIns="0" bIns="0" rtlCol="0" anchor="t"/>
          <a:lstStyle/>
          <a:p>
            <a:pPr marL="0" indent="0">
              <a:buNone/>
            </a:pPr>
            <a:r>
              <a:rPr lang="en-US" sz="1600" b="1" dirty="0">
                <a:solidFill>
                  <a:srgbClr val="1E8E3E"/>
                </a:solidFill>
                <a:latin typeface="Arial" pitchFamily="34" charset="0"/>
                <a:ea typeface="Arial" pitchFamily="34" charset="-122"/>
                <a:cs typeface="Arial" pitchFamily="34" charset="-120"/>
              </a:rPr>
              <a:t>Day 1</a:t>
            </a:r>
            <a:endParaRPr lang="en-US" sz="1600" dirty="0"/>
          </a:p>
        </p:txBody>
      </p:sp>
      <p:sp>
        <p:nvSpPr>
          <p:cNvPr id="162" name="Text 159"/>
          <p:cNvSpPr txBox="1"/>
          <p:nvPr/>
        </p:nvSpPr>
        <p:spPr>
          <a:xfrm>
            <a:off x="12527280" y="8110728"/>
            <a:ext cx="2468880" cy="365760"/>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first price from category data, no history needed</a:t>
            </a:r>
            <a:endParaRPr lang="en-US" sz="1000" dirty="0"/>
          </a:p>
        </p:txBody>
      </p:sp>
      <p:sp>
        <p:nvSpPr>
          <p:cNvPr id="163" name="Shape 160"/>
          <p:cNvSpPr/>
          <p:nvPr/>
        </p:nvSpPr>
        <p:spPr>
          <a:xfrm>
            <a:off x="15179040" y="7726680"/>
            <a:ext cx="2651760" cy="768096"/>
          </a:xfrm>
          <a:prstGeom prst="roundRect">
            <a:avLst>
              <a:gd name="adj" fmla="val 9524"/>
            </a:avLst>
          </a:prstGeom>
          <a:solidFill>
            <a:srgbClr val="F3E8F1"/>
          </a:solidFill>
          <a:ln w="12700">
            <a:solidFill>
              <a:srgbClr val="F3E8F1"/>
            </a:solidFill>
            <a:prstDash val="solid"/>
          </a:ln>
        </p:spPr>
        <p:txBody>
          <a:bodyPr/>
          <a:lstStyle/>
          <a:p>
            <a:endParaRPr lang="en-IN"/>
          </a:p>
        </p:txBody>
      </p:sp>
      <p:sp>
        <p:nvSpPr>
          <p:cNvPr id="164" name="Text 161"/>
          <p:cNvSpPr txBox="1"/>
          <p:nvPr/>
        </p:nvSpPr>
        <p:spPr>
          <a:xfrm>
            <a:off x="15270480" y="7754112"/>
            <a:ext cx="2468880" cy="365760"/>
          </a:xfrm>
          <a:prstGeom prst="rect">
            <a:avLst/>
          </a:prstGeom>
          <a:noFill/>
          <a:ln/>
        </p:spPr>
        <p:txBody>
          <a:bodyPr wrap="square" lIns="0" tIns="0" rIns="0" bIns="0" rtlCol="0" anchor="t"/>
          <a:lstStyle/>
          <a:p>
            <a:pPr marL="0" indent="0">
              <a:buNone/>
            </a:pPr>
            <a:r>
              <a:rPr lang="en-US" sz="1600" b="1" dirty="0">
                <a:solidFill>
                  <a:srgbClr val="5B0F4E"/>
                </a:solidFill>
                <a:latin typeface="Arial" pitchFamily="34" charset="0"/>
                <a:ea typeface="Arial" pitchFamily="34" charset="-122"/>
                <a:cs typeface="Arial" pitchFamily="34" charset="-120"/>
              </a:rPr>
              <a:t>48%</a:t>
            </a:r>
            <a:endParaRPr lang="en-US" sz="1600" dirty="0"/>
          </a:p>
        </p:txBody>
      </p:sp>
      <p:sp>
        <p:nvSpPr>
          <p:cNvPr id="165" name="Text 162"/>
          <p:cNvSpPr txBox="1"/>
          <p:nvPr/>
        </p:nvSpPr>
        <p:spPr>
          <a:xfrm>
            <a:off x="15270480" y="8110728"/>
            <a:ext cx="2468880" cy="365760"/>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price rank shown instead of rival names</a:t>
            </a:r>
            <a:endParaRPr lang="en-US" sz="1000" dirty="0"/>
          </a:p>
        </p:txBody>
      </p:sp>
      <p:sp>
        <p:nvSpPr>
          <p:cNvPr id="166" name="Shape 163"/>
          <p:cNvSpPr/>
          <p:nvPr/>
        </p:nvSpPr>
        <p:spPr>
          <a:xfrm>
            <a:off x="12435840" y="8567928"/>
            <a:ext cx="2651760" cy="768096"/>
          </a:xfrm>
          <a:prstGeom prst="roundRect">
            <a:avLst>
              <a:gd name="adj" fmla="val 9524"/>
            </a:avLst>
          </a:prstGeom>
          <a:solidFill>
            <a:srgbClr val="F3E8F1"/>
          </a:solidFill>
          <a:ln w="12700">
            <a:solidFill>
              <a:srgbClr val="F3E8F1"/>
            </a:solidFill>
            <a:prstDash val="solid"/>
          </a:ln>
        </p:spPr>
        <p:txBody>
          <a:bodyPr/>
          <a:lstStyle/>
          <a:p>
            <a:endParaRPr lang="en-IN"/>
          </a:p>
        </p:txBody>
      </p:sp>
      <p:sp>
        <p:nvSpPr>
          <p:cNvPr id="167" name="Text 164"/>
          <p:cNvSpPr txBox="1"/>
          <p:nvPr/>
        </p:nvSpPr>
        <p:spPr>
          <a:xfrm>
            <a:off x="12527280" y="8595360"/>
            <a:ext cx="2468880" cy="365760"/>
          </a:xfrm>
          <a:prstGeom prst="rect">
            <a:avLst/>
          </a:prstGeom>
          <a:noFill/>
          <a:ln/>
        </p:spPr>
        <p:txBody>
          <a:bodyPr wrap="square" lIns="0" tIns="0" rIns="0" bIns="0" rtlCol="0" anchor="t"/>
          <a:lstStyle/>
          <a:p>
            <a:pPr marL="0" indent="0">
              <a:buNone/>
            </a:pPr>
            <a:r>
              <a:rPr lang="en-US" sz="1600" b="1" dirty="0">
                <a:solidFill>
                  <a:srgbClr val="5B0F4E"/>
                </a:solidFill>
                <a:latin typeface="Arial" pitchFamily="34" charset="0"/>
                <a:ea typeface="Arial" pitchFamily="34" charset="-122"/>
                <a:cs typeface="Arial" pitchFamily="34" charset="-120"/>
              </a:rPr>
              <a:t>₹319</a:t>
            </a:r>
            <a:endParaRPr lang="en-US" sz="1600" dirty="0"/>
          </a:p>
        </p:txBody>
      </p:sp>
      <p:sp>
        <p:nvSpPr>
          <p:cNvPr id="168" name="Text 165"/>
          <p:cNvSpPr txBox="1"/>
          <p:nvPr/>
        </p:nvSpPr>
        <p:spPr>
          <a:xfrm>
            <a:off x="12527280" y="8951976"/>
            <a:ext cx="2468880" cy="365760"/>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suggested price, capped at Q3</a:t>
            </a:r>
            <a:endParaRPr lang="en-US" sz="1000" dirty="0"/>
          </a:p>
        </p:txBody>
      </p:sp>
      <p:sp>
        <p:nvSpPr>
          <p:cNvPr id="169" name="Shape 166"/>
          <p:cNvSpPr/>
          <p:nvPr/>
        </p:nvSpPr>
        <p:spPr>
          <a:xfrm>
            <a:off x="15179040" y="8567928"/>
            <a:ext cx="2651760" cy="768096"/>
          </a:xfrm>
          <a:prstGeom prst="roundRect">
            <a:avLst>
              <a:gd name="adj" fmla="val 9524"/>
            </a:avLst>
          </a:prstGeom>
          <a:solidFill>
            <a:srgbClr val="E6F4EA"/>
          </a:solidFill>
          <a:ln w="12700">
            <a:solidFill>
              <a:srgbClr val="E6F4EA"/>
            </a:solidFill>
            <a:prstDash val="solid"/>
          </a:ln>
        </p:spPr>
        <p:txBody>
          <a:bodyPr/>
          <a:lstStyle/>
          <a:p>
            <a:endParaRPr lang="en-IN"/>
          </a:p>
        </p:txBody>
      </p:sp>
      <p:sp>
        <p:nvSpPr>
          <p:cNvPr id="170" name="Text 167"/>
          <p:cNvSpPr txBox="1"/>
          <p:nvPr/>
        </p:nvSpPr>
        <p:spPr>
          <a:xfrm>
            <a:off x="15270480" y="8595360"/>
            <a:ext cx="2468880" cy="365760"/>
          </a:xfrm>
          <a:prstGeom prst="rect">
            <a:avLst/>
          </a:prstGeom>
          <a:noFill/>
          <a:ln/>
        </p:spPr>
        <p:txBody>
          <a:bodyPr wrap="square" lIns="0" tIns="0" rIns="0" bIns="0" rtlCol="0" anchor="t"/>
          <a:lstStyle/>
          <a:p>
            <a:pPr marL="0" indent="0">
              <a:buNone/>
            </a:pPr>
            <a:r>
              <a:rPr lang="en-US" sz="1600" b="1" dirty="0">
                <a:solidFill>
                  <a:srgbClr val="1E8E3E"/>
                </a:solidFill>
                <a:latin typeface="Arial" pitchFamily="34" charset="0"/>
                <a:ea typeface="Arial" pitchFamily="34" charset="-122"/>
                <a:cs typeface="Arial" pitchFamily="34" charset="-120"/>
              </a:rPr>
              <a:t>50%</a:t>
            </a:r>
            <a:endParaRPr lang="en-US" sz="1600" dirty="0"/>
          </a:p>
        </p:txBody>
      </p:sp>
      <p:sp>
        <p:nvSpPr>
          <p:cNvPr id="171" name="Text 168"/>
          <p:cNvSpPr txBox="1"/>
          <p:nvPr/>
        </p:nvSpPr>
        <p:spPr>
          <a:xfrm>
            <a:off x="15270480" y="8951976"/>
            <a:ext cx="2468880" cy="365760"/>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own data weight at 30 orders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480560" y="502920"/>
            <a:ext cx="8778240" cy="868680"/>
          </a:xfrm>
          <a:prstGeom prst="rect">
            <a:avLst/>
          </a:prstGeom>
          <a:noFill/>
          <a:ln/>
        </p:spPr>
        <p:txBody>
          <a:bodyPr wrap="square" lIns="0" tIns="0" rIns="0" bIns="0" rtlCol="0" anchor="ctr"/>
          <a:lstStyle/>
          <a:p>
            <a:pPr marL="0" indent="0">
              <a:buNone/>
            </a:pPr>
            <a:r>
              <a:rPr lang="en-US" sz="4000" b="1" dirty="0">
                <a:solidFill>
                  <a:srgbClr val="5B0F4E"/>
                </a:solidFill>
                <a:latin typeface="Arial" pitchFamily="34" charset="0"/>
                <a:ea typeface="Arial" pitchFamily="34" charset="-122"/>
                <a:cs typeface="Arial" pitchFamily="34" charset="-120"/>
              </a:rPr>
              <a:t>Lifecycle Autopilot</a:t>
            </a:r>
            <a:endParaRPr lang="en-US" sz="4000" dirty="0"/>
          </a:p>
        </p:txBody>
      </p:sp>
      <p:sp>
        <p:nvSpPr>
          <p:cNvPr id="3" name="Text 1"/>
          <p:cNvSpPr txBox="1"/>
          <p:nvPr/>
        </p:nvSpPr>
        <p:spPr>
          <a:xfrm>
            <a:off x="4480560" y="1371600"/>
            <a:ext cx="8778240" cy="502920"/>
          </a:xfrm>
          <a:prstGeom prst="rect">
            <a:avLst/>
          </a:prstGeom>
          <a:noFill/>
          <a:ln/>
        </p:spPr>
        <p:txBody>
          <a:bodyPr wrap="square" lIns="0" tIns="0" rIns="0" bIns="0" rtlCol="0" anchor="ctr"/>
          <a:lstStyle/>
          <a:p>
            <a:pPr marL="0" indent="0">
              <a:buNone/>
            </a:pPr>
            <a:r>
              <a:rPr lang="en-US" sz="1700" i="1" dirty="0">
                <a:solidFill>
                  <a:srgbClr val="C9660A"/>
                </a:solidFill>
                <a:latin typeface="Arial" pitchFamily="34" charset="0"/>
                <a:ea typeface="Arial" pitchFamily="34" charset="-122"/>
                <a:cs typeface="Arial" pitchFamily="34" charset="-120"/>
              </a:rPr>
              <a:t>Feature 3 · Keeps the Price right after Launch with 3 triggers and one nudge at a time</a:t>
            </a:r>
            <a:endParaRPr lang="en-US" sz="1700" dirty="0"/>
          </a:p>
        </p:txBody>
      </p:sp>
      <p:sp>
        <p:nvSpPr>
          <p:cNvPr id="4" name="Shape 2"/>
          <p:cNvSpPr/>
          <p:nvPr/>
        </p:nvSpPr>
        <p:spPr>
          <a:xfrm>
            <a:off x="45720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5" name="Text 3"/>
          <p:cNvSpPr txBox="1"/>
          <p:nvPr/>
        </p:nvSpPr>
        <p:spPr>
          <a:xfrm>
            <a:off x="45720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PROBLEM</a:t>
            </a:r>
            <a:endParaRPr lang="en-US" sz="1250" dirty="0"/>
          </a:p>
        </p:txBody>
      </p:sp>
      <p:sp>
        <p:nvSpPr>
          <p:cNvPr id="6" name="Shape 4"/>
          <p:cNvSpPr/>
          <p:nvPr/>
        </p:nvSpPr>
        <p:spPr>
          <a:xfrm>
            <a:off x="219456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7" name="Text 5"/>
          <p:cNvSpPr txBox="1"/>
          <p:nvPr/>
        </p:nvSpPr>
        <p:spPr>
          <a:xfrm>
            <a:off x="219456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SEGMENTATION</a:t>
            </a:r>
            <a:endParaRPr lang="en-US" sz="1250" dirty="0"/>
          </a:p>
        </p:txBody>
      </p:sp>
      <p:sp>
        <p:nvSpPr>
          <p:cNvPr id="8" name="Shape 6"/>
          <p:cNvSpPr/>
          <p:nvPr/>
        </p:nvSpPr>
        <p:spPr>
          <a:xfrm>
            <a:off x="393192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9" name="Text 7"/>
          <p:cNvSpPr txBox="1"/>
          <p:nvPr/>
        </p:nvSpPr>
        <p:spPr>
          <a:xfrm>
            <a:off x="393192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PRIORITISATION</a:t>
            </a:r>
            <a:endParaRPr lang="en-US" sz="1250" dirty="0"/>
          </a:p>
        </p:txBody>
      </p:sp>
      <p:sp>
        <p:nvSpPr>
          <p:cNvPr id="10" name="Shape 8"/>
          <p:cNvSpPr/>
          <p:nvPr/>
        </p:nvSpPr>
        <p:spPr>
          <a:xfrm>
            <a:off x="566928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1" name="Text 9"/>
          <p:cNvSpPr txBox="1"/>
          <p:nvPr/>
        </p:nvSpPr>
        <p:spPr>
          <a:xfrm>
            <a:off x="566928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BENCHMARKING</a:t>
            </a:r>
            <a:endParaRPr lang="en-US" sz="1250" dirty="0"/>
          </a:p>
        </p:txBody>
      </p:sp>
      <p:sp>
        <p:nvSpPr>
          <p:cNvPr id="12" name="Shape 10"/>
          <p:cNvSpPr/>
          <p:nvPr/>
        </p:nvSpPr>
        <p:spPr>
          <a:xfrm>
            <a:off x="740664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3" name="Text 11"/>
          <p:cNvSpPr txBox="1"/>
          <p:nvPr/>
        </p:nvSpPr>
        <p:spPr>
          <a:xfrm>
            <a:off x="740664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SOLUTION</a:t>
            </a:r>
            <a:endParaRPr lang="en-US" sz="1250" dirty="0"/>
          </a:p>
        </p:txBody>
      </p:sp>
      <p:sp>
        <p:nvSpPr>
          <p:cNvPr id="14" name="Shape 12"/>
          <p:cNvSpPr/>
          <p:nvPr/>
        </p:nvSpPr>
        <p:spPr>
          <a:xfrm>
            <a:off x="914400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5" name="Text 13"/>
          <p:cNvSpPr txBox="1"/>
          <p:nvPr/>
        </p:nvSpPr>
        <p:spPr>
          <a:xfrm>
            <a:off x="914400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MUNAFA METER</a:t>
            </a:r>
            <a:endParaRPr lang="en-US" sz="1250" dirty="0"/>
          </a:p>
        </p:txBody>
      </p:sp>
      <p:sp>
        <p:nvSpPr>
          <p:cNvPr id="16" name="Shape 14"/>
          <p:cNvSpPr/>
          <p:nvPr/>
        </p:nvSpPr>
        <p:spPr>
          <a:xfrm>
            <a:off x="1088136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7" name="Text 15"/>
          <p:cNvSpPr txBox="1"/>
          <p:nvPr/>
        </p:nvSpPr>
        <p:spPr>
          <a:xfrm>
            <a:off x="1088136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SMART BAND</a:t>
            </a:r>
            <a:endParaRPr lang="en-US" sz="1250" dirty="0"/>
          </a:p>
        </p:txBody>
      </p:sp>
      <p:sp>
        <p:nvSpPr>
          <p:cNvPr id="18" name="Shape 16"/>
          <p:cNvSpPr/>
          <p:nvPr/>
        </p:nvSpPr>
        <p:spPr>
          <a:xfrm>
            <a:off x="12618720" y="2542032"/>
            <a:ext cx="1700784" cy="420624"/>
          </a:xfrm>
          <a:prstGeom prst="rect">
            <a:avLst/>
          </a:prstGeom>
          <a:solidFill>
            <a:srgbClr val="F29A1F"/>
          </a:solidFill>
          <a:ln w="12700">
            <a:solidFill>
              <a:srgbClr val="F29A1F"/>
            </a:solidFill>
            <a:prstDash val="solid"/>
          </a:ln>
        </p:spPr>
        <p:txBody>
          <a:bodyPr/>
          <a:lstStyle/>
          <a:p>
            <a:endParaRPr lang="en-IN"/>
          </a:p>
        </p:txBody>
      </p:sp>
      <p:sp>
        <p:nvSpPr>
          <p:cNvPr id="19" name="Text 17"/>
          <p:cNvSpPr txBox="1"/>
          <p:nvPr/>
        </p:nvSpPr>
        <p:spPr>
          <a:xfrm>
            <a:off x="1261872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AUTOPILOT</a:t>
            </a:r>
            <a:endParaRPr lang="en-US" sz="1250" dirty="0"/>
          </a:p>
        </p:txBody>
      </p:sp>
      <p:sp>
        <p:nvSpPr>
          <p:cNvPr id="20" name="Shape 18"/>
          <p:cNvSpPr/>
          <p:nvPr/>
        </p:nvSpPr>
        <p:spPr>
          <a:xfrm>
            <a:off x="1435608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21" name="Text 19"/>
          <p:cNvSpPr txBox="1"/>
          <p:nvPr/>
        </p:nvSpPr>
        <p:spPr>
          <a:xfrm>
            <a:off x="1435608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IMPACT</a:t>
            </a:r>
            <a:endParaRPr lang="en-US" sz="1250" dirty="0"/>
          </a:p>
        </p:txBody>
      </p:sp>
      <p:sp>
        <p:nvSpPr>
          <p:cNvPr id="22" name="Shape 20"/>
          <p:cNvSpPr/>
          <p:nvPr/>
        </p:nvSpPr>
        <p:spPr>
          <a:xfrm>
            <a:off x="1609344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23" name="Text 21"/>
          <p:cNvSpPr txBox="1"/>
          <p:nvPr/>
        </p:nvSpPr>
        <p:spPr>
          <a:xfrm>
            <a:off x="1609344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PITFALLS</a:t>
            </a:r>
            <a:endParaRPr lang="en-US" sz="1250" dirty="0"/>
          </a:p>
        </p:txBody>
      </p:sp>
      <p:sp>
        <p:nvSpPr>
          <p:cNvPr id="24" name="Shape 22"/>
          <p:cNvSpPr/>
          <p:nvPr/>
        </p:nvSpPr>
        <p:spPr>
          <a:xfrm>
            <a:off x="457200" y="3127248"/>
            <a:ext cx="5303520" cy="1691640"/>
          </a:xfrm>
          <a:prstGeom prst="roundRect">
            <a:avLst>
              <a:gd name="adj" fmla="val 7500"/>
            </a:avLst>
          </a:prstGeom>
          <a:solidFill>
            <a:srgbClr val="F3E8F1"/>
          </a:solidFill>
          <a:ln w="12700">
            <a:solidFill>
              <a:srgbClr val="F3E8F1"/>
            </a:solidFill>
            <a:prstDash val="solid"/>
          </a:ln>
        </p:spPr>
        <p:txBody>
          <a:bodyPr/>
          <a:lstStyle/>
          <a:p>
            <a:endParaRPr lang="en-IN"/>
          </a:p>
        </p:txBody>
      </p:sp>
      <p:sp>
        <p:nvSpPr>
          <p:cNvPr id="25" name="Text 23"/>
          <p:cNvSpPr txBox="1"/>
          <p:nvPr/>
        </p:nvSpPr>
        <p:spPr>
          <a:xfrm>
            <a:off x="594360" y="3182112"/>
            <a:ext cx="5029200" cy="329184"/>
          </a:xfrm>
          <a:prstGeom prst="rect">
            <a:avLst/>
          </a:prstGeom>
          <a:noFill/>
          <a:ln/>
        </p:spPr>
        <p:txBody>
          <a:bodyPr wrap="square" lIns="0" tIns="0" rIns="0" bIns="0" rtlCol="0" anchor="t"/>
          <a:lstStyle/>
          <a:p>
            <a:pPr marL="0" indent="0">
              <a:buNone/>
            </a:pPr>
            <a:r>
              <a:rPr lang="en-US" b="1" dirty="0">
                <a:solidFill>
                  <a:srgbClr val="5B0F4E"/>
                </a:solidFill>
                <a:latin typeface="Arial" pitchFamily="34" charset="0"/>
                <a:ea typeface="Arial" pitchFamily="34" charset="-122"/>
                <a:cs typeface="Arial" pitchFamily="34" charset="-120"/>
              </a:rPr>
              <a:t>About the feature</a:t>
            </a:r>
            <a:endParaRPr lang="en-US" dirty="0"/>
          </a:p>
        </p:txBody>
      </p:sp>
      <p:sp>
        <p:nvSpPr>
          <p:cNvPr id="26" name="Text 24"/>
          <p:cNvSpPr txBox="1"/>
          <p:nvPr/>
        </p:nvSpPr>
        <p:spPr>
          <a:xfrm>
            <a:off x="594360" y="3622409"/>
            <a:ext cx="5157216" cy="1051560"/>
          </a:xfrm>
          <a:prstGeom prst="rect">
            <a:avLst/>
          </a:prstGeom>
          <a:noFill/>
          <a:ln/>
        </p:spPr>
        <p:txBody>
          <a:bodyPr wrap="square" lIns="0" tIns="0" rIns="0" bIns="0" rtlCol="0" anchor="t"/>
          <a:lstStyle/>
          <a:p>
            <a:pPr marL="0" indent="0">
              <a:buNone/>
            </a:pPr>
            <a:r>
              <a:rPr lang="en-US" sz="1200" dirty="0">
                <a:solidFill>
                  <a:srgbClr val="2B2B2B"/>
                </a:solidFill>
                <a:latin typeface="Arial" pitchFamily="34" charset="0"/>
                <a:ea typeface="Arial" pitchFamily="34" charset="-122"/>
                <a:cs typeface="Arial" pitchFamily="34" charset="-120"/>
              </a:rPr>
              <a:t>Watches each listing after it goes live and sends one nudge when a trigger fires: T1 launch screen (≤ half the expected orders after ~1,000 views), T2 cost change (slab, GST, purchase cost or return rate moves, so the floor is recalculated), T3 season end (markdown ladder down to the clearance floor). Every nudge shows the ₹ impact; the seller taps Apply or Ignore.</a:t>
            </a:r>
            <a:endParaRPr lang="en-US" sz="1200" dirty="0"/>
          </a:p>
        </p:txBody>
      </p:sp>
      <p:sp>
        <p:nvSpPr>
          <p:cNvPr id="27" name="Text 25"/>
          <p:cNvSpPr txBox="1"/>
          <p:nvPr/>
        </p:nvSpPr>
        <p:spPr>
          <a:xfrm>
            <a:off x="457200" y="5122025"/>
            <a:ext cx="5303520" cy="329184"/>
          </a:xfrm>
          <a:prstGeom prst="rect">
            <a:avLst/>
          </a:prstGeom>
          <a:noFill/>
          <a:ln/>
        </p:spPr>
        <p:txBody>
          <a:bodyPr wrap="square" lIns="0" tIns="0" rIns="0" bIns="0" rtlCol="0" anchor="t"/>
          <a:lstStyle/>
          <a:p>
            <a:pPr marL="0" indent="0">
              <a:buNone/>
            </a:pPr>
            <a:r>
              <a:rPr lang="en-US" b="1" dirty="0">
                <a:solidFill>
                  <a:srgbClr val="5B0F4E"/>
                </a:solidFill>
                <a:latin typeface="Arial" pitchFamily="34" charset="0"/>
                <a:ea typeface="Arial" pitchFamily="34" charset="-122"/>
                <a:cs typeface="Arial" pitchFamily="34" charset="-120"/>
              </a:rPr>
              <a:t>Pain points addressed</a:t>
            </a:r>
            <a:endParaRPr lang="en-US" dirty="0"/>
          </a:p>
        </p:txBody>
      </p:sp>
      <p:sp>
        <p:nvSpPr>
          <p:cNvPr id="28" name="Shape 26"/>
          <p:cNvSpPr/>
          <p:nvPr/>
        </p:nvSpPr>
        <p:spPr>
          <a:xfrm>
            <a:off x="457200" y="5487785"/>
            <a:ext cx="566928" cy="566928"/>
          </a:xfrm>
          <a:prstGeom prst="roundRect">
            <a:avLst>
              <a:gd name="adj" fmla="val 12903"/>
            </a:avLst>
          </a:prstGeom>
          <a:solidFill>
            <a:srgbClr val="F29A1F"/>
          </a:solidFill>
          <a:ln w="12700">
            <a:solidFill>
              <a:srgbClr val="F29A1F"/>
            </a:solidFill>
            <a:prstDash val="solid"/>
          </a:ln>
        </p:spPr>
        <p:txBody>
          <a:bodyPr/>
          <a:lstStyle/>
          <a:p>
            <a:endParaRPr lang="en-IN"/>
          </a:p>
        </p:txBody>
      </p:sp>
      <p:sp>
        <p:nvSpPr>
          <p:cNvPr id="29" name="Text 27"/>
          <p:cNvSpPr txBox="1"/>
          <p:nvPr/>
        </p:nvSpPr>
        <p:spPr>
          <a:xfrm>
            <a:off x="457200" y="5487785"/>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P6</a:t>
            </a:r>
            <a:endParaRPr lang="en-US" sz="1300" dirty="0"/>
          </a:p>
        </p:txBody>
      </p:sp>
      <p:sp>
        <p:nvSpPr>
          <p:cNvPr id="30" name="Text 28"/>
          <p:cNvSpPr txBox="1"/>
          <p:nvPr/>
        </p:nvSpPr>
        <p:spPr>
          <a:xfrm>
            <a:off x="1097280" y="5469497"/>
            <a:ext cx="1493520" cy="365760"/>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Stale prices over the product's life</a:t>
            </a:r>
            <a:endParaRPr lang="en-US" sz="1400" dirty="0"/>
          </a:p>
        </p:txBody>
      </p:sp>
      <p:sp>
        <p:nvSpPr>
          <p:cNvPr id="31" name="Text 29"/>
          <p:cNvSpPr txBox="1"/>
          <p:nvPr/>
        </p:nvSpPr>
        <p:spPr>
          <a:xfrm>
            <a:off x="2633179" y="5487785"/>
            <a:ext cx="2990381" cy="310896"/>
          </a:xfrm>
          <a:prstGeom prst="rect">
            <a:avLst/>
          </a:prstGeom>
          <a:noFill/>
          <a:ln/>
        </p:spPr>
        <p:txBody>
          <a:bodyPr wrap="square" lIns="0" tIns="0" rIns="0" bIns="0" rtlCol="0" anchor="t"/>
          <a:lstStyle/>
          <a:p>
            <a:pPr marL="0" indent="0">
              <a:buNone/>
            </a:pPr>
            <a:r>
              <a:rPr lang="en-US" sz="1200" i="1" dirty="0">
                <a:solidFill>
                  <a:srgbClr val="555555"/>
                </a:solidFill>
                <a:latin typeface="Arial" pitchFamily="34" charset="0"/>
                <a:ea typeface="Arial" pitchFamily="34" charset="-122"/>
                <a:cs typeface="Arial" pitchFamily="34" charset="-120"/>
              </a:rPr>
              <a:t>Jewellery seller's inputs were 8 months old; the case asks how price should evolve</a:t>
            </a:r>
            <a:endParaRPr lang="en-US" sz="1200" dirty="0"/>
          </a:p>
        </p:txBody>
      </p:sp>
      <p:sp>
        <p:nvSpPr>
          <p:cNvPr id="32" name="Shape 30"/>
          <p:cNvSpPr/>
          <p:nvPr/>
        </p:nvSpPr>
        <p:spPr>
          <a:xfrm>
            <a:off x="457200" y="6146153"/>
            <a:ext cx="566928" cy="566928"/>
          </a:xfrm>
          <a:prstGeom prst="roundRect">
            <a:avLst>
              <a:gd name="adj" fmla="val 12903"/>
            </a:avLst>
          </a:prstGeom>
          <a:solidFill>
            <a:srgbClr val="F29A1F"/>
          </a:solidFill>
          <a:ln w="12700">
            <a:solidFill>
              <a:srgbClr val="F29A1F"/>
            </a:solidFill>
            <a:prstDash val="solid"/>
          </a:ln>
        </p:spPr>
        <p:txBody>
          <a:bodyPr/>
          <a:lstStyle/>
          <a:p>
            <a:endParaRPr lang="en-IN"/>
          </a:p>
        </p:txBody>
      </p:sp>
      <p:sp>
        <p:nvSpPr>
          <p:cNvPr id="33" name="Text 31"/>
          <p:cNvSpPr txBox="1"/>
          <p:nvPr/>
        </p:nvSpPr>
        <p:spPr>
          <a:xfrm>
            <a:off x="457200" y="6146153"/>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P10</a:t>
            </a:r>
            <a:endParaRPr lang="en-US" sz="1300" dirty="0"/>
          </a:p>
        </p:txBody>
      </p:sp>
      <p:sp>
        <p:nvSpPr>
          <p:cNvPr id="34" name="Text 32"/>
          <p:cNvSpPr txBox="1"/>
          <p:nvPr/>
        </p:nvSpPr>
        <p:spPr>
          <a:xfrm>
            <a:off x="1087582" y="6194367"/>
            <a:ext cx="2213956" cy="379060"/>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Low conversion misread as a price problem</a:t>
            </a:r>
            <a:endParaRPr lang="en-US" sz="1400" dirty="0"/>
          </a:p>
        </p:txBody>
      </p:sp>
      <p:sp>
        <p:nvSpPr>
          <p:cNvPr id="35" name="Text 33"/>
          <p:cNvSpPr txBox="1"/>
          <p:nvPr/>
        </p:nvSpPr>
        <p:spPr>
          <a:xfrm>
            <a:off x="3266209" y="6210161"/>
            <a:ext cx="2047702" cy="379060"/>
          </a:xfrm>
          <a:prstGeom prst="rect">
            <a:avLst/>
          </a:prstGeom>
          <a:noFill/>
          <a:ln/>
        </p:spPr>
        <p:txBody>
          <a:bodyPr wrap="square" lIns="0" tIns="0" rIns="0" bIns="0" rtlCol="0" anchor="t"/>
          <a:lstStyle/>
          <a:p>
            <a:pPr marL="0" indent="0">
              <a:buNone/>
            </a:pPr>
            <a:r>
              <a:rPr lang="en-US" sz="1200" i="1" dirty="0">
                <a:solidFill>
                  <a:srgbClr val="555555"/>
                </a:solidFill>
                <a:latin typeface="Arial" pitchFamily="34" charset="0"/>
                <a:ea typeface="Arial" pitchFamily="34" charset="-122"/>
                <a:cs typeface="Arial" pitchFamily="34" charset="-120"/>
              </a:rPr>
              <a:t>Few orders may mean weak photos or visibility, not price</a:t>
            </a:r>
            <a:endParaRPr lang="en-US" sz="1200" dirty="0"/>
          </a:p>
        </p:txBody>
      </p:sp>
      <p:sp>
        <p:nvSpPr>
          <p:cNvPr id="36" name="Shape 34"/>
          <p:cNvSpPr/>
          <p:nvPr/>
        </p:nvSpPr>
        <p:spPr>
          <a:xfrm>
            <a:off x="457200" y="6804521"/>
            <a:ext cx="566928" cy="566928"/>
          </a:xfrm>
          <a:prstGeom prst="roundRect">
            <a:avLst>
              <a:gd name="adj" fmla="val 12903"/>
            </a:avLst>
          </a:prstGeom>
          <a:solidFill>
            <a:srgbClr val="F29A1F"/>
          </a:solidFill>
          <a:ln w="12700">
            <a:solidFill>
              <a:srgbClr val="F29A1F"/>
            </a:solidFill>
            <a:prstDash val="solid"/>
          </a:ln>
        </p:spPr>
        <p:txBody>
          <a:bodyPr/>
          <a:lstStyle/>
          <a:p>
            <a:endParaRPr lang="en-IN"/>
          </a:p>
        </p:txBody>
      </p:sp>
      <p:sp>
        <p:nvSpPr>
          <p:cNvPr id="37" name="Text 35"/>
          <p:cNvSpPr txBox="1"/>
          <p:nvPr/>
        </p:nvSpPr>
        <p:spPr>
          <a:xfrm>
            <a:off x="457200" y="6804521"/>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P8</a:t>
            </a:r>
            <a:endParaRPr lang="en-US" sz="1300" dirty="0"/>
          </a:p>
        </p:txBody>
      </p:sp>
      <p:sp>
        <p:nvSpPr>
          <p:cNvPr id="38" name="Text 36"/>
          <p:cNvSpPr txBox="1"/>
          <p:nvPr/>
        </p:nvSpPr>
        <p:spPr>
          <a:xfrm>
            <a:off x="1097280" y="6786233"/>
            <a:ext cx="2047702" cy="274320"/>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Season-end dead stock</a:t>
            </a:r>
            <a:endParaRPr lang="en-US" sz="1400" dirty="0"/>
          </a:p>
        </p:txBody>
      </p:sp>
      <p:sp>
        <p:nvSpPr>
          <p:cNvPr id="39" name="Text 37"/>
          <p:cNvSpPr txBox="1"/>
          <p:nvPr/>
        </p:nvSpPr>
        <p:spPr>
          <a:xfrm>
            <a:off x="3266209" y="6804519"/>
            <a:ext cx="2047702" cy="374905"/>
          </a:xfrm>
          <a:prstGeom prst="rect">
            <a:avLst/>
          </a:prstGeom>
          <a:noFill/>
          <a:ln/>
        </p:spPr>
        <p:txBody>
          <a:bodyPr wrap="square" lIns="0" tIns="0" rIns="0" bIns="0" rtlCol="0" anchor="t"/>
          <a:lstStyle/>
          <a:p>
            <a:pPr marL="0" indent="0">
              <a:buNone/>
            </a:pPr>
            <a:r>
              <a:rPr lang="en-US" sz="1200" i="1" dirty="0">
                <a:solidFill>
                  <a:srgbClr val="555555"/>
                </a:solidFill>
                <a:latin typeface="Arial" pitchFamily="34" charset="0"/>
                <a:ea typeface="Arial" pitchFamily="34" charset="-122"/>
                <a:cs typeface="Arial" pitchFamily="34" charset="-120"/>
              </a:rPr>
              <a:t>Winterwear seller: 70–80 late returns became dead stock</a:t>
            </a:r>
            <a:endParaRPr lang="en-US" sz="1200" dirty="0"/>
          </a:p>
        </p:txBody>
      </p:sp>
      <p:sp>
        <p:nvSpPr>
          <p:cNvPr id="40" name="Text 38"/>
          <p:cNvSpPr txBox="1"/>
          <p:nvPr/>
        </p:nvSpPr>
        <p:spPr>
          <a:xfrm>
            <a:off x="457200" y="7589520"/>
            <a:ext cx="5303520" cy="329184"/>
          </a:xfrm>
          <a:prstGeom prst="rect">
            <a:avLst/>
          </a:prstGeom>
          <a:noFill/>
          <a:ln/>
        </p:spPr>
        <p:txBody>
          <a:bodyPr wrap="square" lIns="0" tIns="0" rIns="0" bIns="0" rtlCol="0" anchor="t"/>
          <a:lstStyle/>
          <a:p>
            <a:pPr marL="0" indent="0">
              <a:buNone/>
            </a:pPr>
            <a:r>
              <a:rPr lang="en-US" b="1" dirty="0">
                <a:solidFill>
                  <a:srgbClr val="5B0F4E"/>
                </a:solidFill>
                <a:latin typeface="Arial" pitchFamily="34" charset="0"/>
                <a:ea typeface="Arial" pitchFamily="34" charset="-122"/>
                <a:cs typeface="Arial" pitchFamily="34" charset="-120"/>
              </a:rPr>
              <a:t>Why this feature</a:t>
            </a:r>
            <a:endParaRPr lang="en-US" dirty="0"/>
          </a:p>
        </p:txBody>
      </p:sp>
      <p:sp>
        <p:nvSpPr>
          <p:cNvPr id="41" name="Text 39"/>
          <p:cNvSpPr txBox="1"/>
          <p:nvPr/>
        </p:nvSpPr>
        <p:spPr>
          <a:xfrm>
            <a:off x="457200" y="7973568"/>
            <a:ext cx="5303520" cy="1920240"/>
          </a:xfrm>
          <a:prstGeom prst="rect">
            <a:avLst/>
          </a:prstGeom>
          <a:noFill/>
          <a:ln/>
        </p:spPr>
        <p:txBody>
          <a:bodyPr wrap="square" lIns="254" tIns="254" rIns="254" bIns="254" rtlCol="0" anchor="t"/>
          <a:lstStyle/>
          <a:p>
            <a:pPr marL="342900" indent="-342900">
              <a:spcAft>
                <a:spcPts val="300"/>
              </a:spcAft>
              <a:buSzPct val="100000"/>
              <a:buChar char="•"/>
            </a:pPr>
            <a:r>
              <a:rPr lang="en-US" sz="1200" dirty="0">
                <a:solidFill>
                  <a:srgbClr val="2B2B2B"/>
                </a:solidFill>
                <a:latin typeface="Arial" pitchFamily="34" charset="0"/>
                <a:ea typeface="Arial" pitchFamily="34" charset="-122"/>
                <a:cs typeface="Arial" pitchFamily="34" charset="-120"/>
              </a:rPr>
              <a:t>The brief explicitly asks how pricing should change over the product's life</a:t>
            </a:r>
            <a:endParaRPr lang="en-US" sz="1200" dirty="0"/>
          </a:p>
          <a:p>
            <a:pPr marL="342900" indent="-342900">
              <a:spcAft>
                <a:spcPts val="300"/>
              </a:spcAft>
              <a:buSzPct val="100000"/>
              <a:buChar char="•"/>
            </a:pPr>
            <a:r>
              <a:rPr lang="en-US" sz="1200" dirty="0">
                <a:solidFill>
                  <a:srgbClr val="2B2B2B"/>
                </a:solidFill>
                <a:latin typeface="Arial" pitchFamily="34" charset="0"/>
                <a:ea typeface="Arial" pitchFamily="34" charset="-122"/>
                <a:cs typeface="Arial" pitchFamily="34" charset="-120"/>
              </a:rPr>
              <a:t>Kept lean on purpose: 3 triggers, not continuous repricing (low effort, low nudge fatigue)</a:t>
            </a:r>
            <a:endParaRPr lang="en-US" sz="1200" dirty="0"/>
          </a:p>
          <a:p>
            <a:pPr marL="342900" indent="-342900">
              <a:spcAft>
                <a:spcPts val="300"/>
              </a:spcAft>
              <a:buSzPct val="100000"/>
              <a:buChar char="•"/>
            </a:pPr>
            <a:r>
              <a:rPr lang="en-US" sz="1200" dirty="0">
                <a:solidFill>
                  <a:srgbClr val="2B2B2B"/>
                </a:solidFill>
                <a:latin typeface="Arial" pitchFamily="34" charset="0"/>
                <a:ea typeface="Arial" pitchFamily="34" charset="-122"/>
                <a:cs typeface="Arial" pitchFamily="34" charset="-120"/>
              </a:rPr>
              <a:t>Statistically safe: a normal listing hits T1 by chance only 1.1% of the time</a:t>
            </a:r>
            <a:endParaRPr lang="en-US" sz="1200" dirty="0"/>
          </a:p>
          <a:p>
            <a:pPr marL="342900" indent="-342900">
              <a:spcAft>
                <a:spcPts val="300"/>
              </a:spcAft>
              <a:buSzPct val="100000"/>
              <a:buChar char="•"/>
            </a:pPr>
            <a:r>
              <a:rPr lang="en-US" sz="1200" dirty="0">
                <a:solidFill>
                  <a:srgbClr val="2B2B2B"/>
                </a:solidFill>
                <a:latin typeface="Arial" pitchFamily="34" charset="0"/>
                <a:ea typeface="Arial" pitchFamily="34" charset="-122"/>
                <a:cs typeface="Arial" pitchFamily="34" charset="-120"/>
              </a:rPr>
              <a:t>Never auto-applies; seller always decides (trust, regulatory comfort)</a:t>
            </a:r>
            <a:endParaRPr lang="en-US" sz="1200" dirty="0"/>
          </a:p>
          <a:p>
            <a:pPr marL="342900" indent="-342900">
              <a:spcAft>
                <a:spcPts val="300"/>
              </a:spcAft>
              <a:buSzPct val="100000"/>
              <a:buChar char="•"/>
            </a:pPr>
            <a:r>
              <a:rPr lang="en-US" sz="1200" dirty="0">
                <a:solidFill>
                  <a:srgbClr val="2B2B2B"/>
                </a:solidFill>
                <a:latin typeface="Arial" pitchFamily="34" charset="0"/>
                <a:ea typeface="Arial" pitchFamily="34" charset="-122"/>
                <a:cs typeface="Arial" pitchFamily="34" charset="-120"/>
              </a:rPr>
              <a:t>Reuses Munafa Meter's floor, so every nudge stays above it</a:t>
            </a:r>
            <a:endParaRPr lang="en-US" sz="1200" dirty="0"/>
          </a:p>
        </p:txBody>
      </p:sp>
      <p:sp>
        <p:nvSpPr>
          <p:cNvPr id="42" name="Text 40"/>
          <p:cNvSpPr txBox="1"/>
          <p:nvPr/>
        </p:nvSpPr>
        <p:spPr>
          <a:xfrm>
            <a:off x="5989320" y="3127248"/>
            <a:ext cx="6217920" cy="329184"/>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Wireframe (desktop prototype)</a:t>
            </a:r>
            <a:endParaRPr lang="en-US" sz="1400" dirty="0"/>
          </a:p>
        </p:txBody>
      </p:sp>
      <p:sp>
        <p:nvSpPr>
          <p:cNvPr id="43" name="Shape 41"/>
          <p:cNvSpPr/>
          <p:nvPr/>
        </p:nvSpPr>
        <p:spPr>
          <a:xfrm>
            <a:off x="5989320" y="3474720"/>
            <a:ext cx="4343400" cy="3154680"/>
          </a:xfrm>
          <a:prstGeom prst="roundRect">
            <a:avLst>
              <a:gd name="adj" fmla="val 2319"/>
            </a:avLst>
          </a:prstGeom>
          <a:solidFill>
            <a:srgbClr val="FFFFFF"/>
          </a:solidFill>
          <a:ln w="12700">
            <a:solidFill>
              <a:srgbClr val="C9C9D1"/>
            </a:solidFill>
            <a:prstDash val="solid"/>
          </a:ln>
          <a:effectLst>
            <a:outerShdw blurRad="50800" dist="19050" dir="5400000" algn="bl" rotWithShape="0">
              <a:srgbClr val="999999">
                <a:alpha val="25000"/>
              </a:srgbClr>
            </a:outerShdw>
          </a:effectLst>
        </p:spPr>
        <p:txBody>
          <a:bodyPr/>
          <a:lstStyle/>
          <a:p>
            <a:endParaRPr lang="en-IN"/>
          </a:p>
        </p:txBody>
      </p:sp>
      <p:sp>
        <p:nvSpPr>
          <p:cNvPr id="44" name="Shape 42"/>
          <p:cNvSpPr/>
          <p:nvPr/>
        </p:nvSpPr>
        <p:spPr>
          <a:xfrm>
            <a:off x="6007608" y="3493008"/>
            <a:ext cx="4306824" cy="219456"/>
          </a:xfrm>
          <a:prstGeom prst="rect">
            <a:avLst/>
          </a:prstGeom>
          <a:solidFill>
            <a:srgbClr val="EDEDF2"/>
          </a:solidFill>
          <a:ln w="12700">
            <a:solidFill>
              <a:srgbClr val="EDEDF2"/>
            </a:solidFill>
            <a:prstDash val="solid"/>
          </a:ln>
        </p:spPr>
        <p:txBody>
          <a:bodyPr/>
          <a:lstStyle/>
          <a:p>
            <a:endParaRPr lang="en-IN"/>
          </a:p>
        </p:txBody>
      </p:sp>
      <p:sp>
        <p:nvSpPr>
          <p:cNvPr id="45" name="Shape 43"/>
          <p:cNvSpPr/>
          <p:nvPr/>
        </p:nvSpPr>
        <p:spPr>
          <a:xfrm>
            <a:off x="6080760" y="3538728"/>
            <a:ext cx="91440" cy="91440"/>
          </a:xfrm>
          <a:prstGeom prst="ellipse">
            <a:avLst/>
          </a:prstGeom>
          <a:solidFill>
            <a:srgbClr val="F28B82"/>
          </a:solidFill>
          <a:ln w="12700">
            <a:solidFill>
              <a:srgbClr val="F28B82"/>
            </a:solidFill>
            <a:prstDash val="solid"/>
          </a:ln>
        </p:spPr>
        <p:txBody>
          <a:bodyPr/>
          <a:lstStyle/>
          <a:p>
            <a:endParaRPr lang="en-IN"/>
          </a:p>
        </p:txBody>
      </p:sp>
      <p:sp>
        <p:nvSpPr>
          <p:cNvPr id="46" name="Shape 44"/>
          <p:cNvSpPr/>
          <p:nvPr/>
        </p:nvSpPr>
        <p:spPr>
          <a:xfrm>
            <a:off x="6227064" y="3538728"/>
            <a:ext cx="91440" cy="91440"/>
          </a:xfrm>
          <a:prstGeom prst="ellipse">
            <a:avLst/>
          </a:prstGeom>
          <a:solidFill>
            <a:srgbClr val="FDD663"/>
          </a:solidFill>
          <a:ln w="12700">
            <a:solidFill>
              <a:srgbClr val="FDD663"/>
            </a:solidFill>
            <a:prstDash val="solid"/>
          </a:ln>
        </p:spPr>
        <p:txBody>
          <a:bodyPr/>
          <a:lstStyle/>
          <a:p>
            <a:endParaRPr lang="en-IN"/>
          </a:p>
        </p:txBody>
      </p:sp>
      <p:sp>
        <p:nvSpPr>
          <p:cNvPr id="47" name="Shape 45"/>
          <p:cNvSpPr/>
          <p:nvPr/>
        </p:nvSpPr>
        <p:spPr>
          <a:xfrm>
            <a:off x="6373368" y="3538728"/>
            <a:ext cx="91440" cy="91440"/>
          </a:xfrm>
          <a:prstGeom prst="ellipse">
            <a:avLst/>
          </a:prstGeom>
          <a:solidFill>
            <a:srgbClr val="A8DAB5"/>
          </a:solidFill>
          <a:ln w="12700">
            <a:solidFill>
              <a:srgbClr val="A8DAB5"/>
            </a:solidFill>
            <a:prstDash val="solid"/>
          </a:ln>
        </p:spPr>
        <p:txBody>
          <a:bodyPr/>
          <a:lstStyle/>
          <a:p>
            <a:endParaRPr lang="en-IN"/>
          </a:p>
        </p:txBody>
      </p:sp>
      <p:sp>
        <p:nvSpPr>
          <p:cNvPr id="48" name="Text 46"/>
          <p:cNvSpPr txBox="1"/>
          <p:nvPr/>
        </p:nvSpPr>
        <p:spPr>
          <a:xfrm>
            <a:off x="6629400" y="3493008"/>
            <a:ext cx="1828800" cy="219456"/>
          </a:xfrm>
          <a:prstGeom prst="rect">
            <a:avLst/>
          </a:prstGeom>
          <a:noFill/>
          <a:ln/>
        </p:spPr>
        <p:txBody>
          <a:bodyPr wrap="square" lIns="0" tIns="0" rIns="0" bIns="0" rtlCol="0" anchor="ctr"/>
          <a:lstStyle/>
          <a:p>
            <a:pPr marL="0" indent="0">
              <a:buNone/>
            </a:pPr>
            <a:r>
              <a:rPr lang="en-US" sz="750" dirty="0">
                <a:solidFill>
                  <a:srgbClr val="555555"/>
                </a:solidFill>
                <a:latin typeface="Arial" pitchFamily="34" charset="0"/>
                <a:ea typeface="Arial" pitchFamily="34" charset="-122"/>
                <a:cs typeface="Arial" pitchFamily="34" charset="-120"/>
              </a:rPr>
              <a:t>sahidaam.app (demo)</a:t>
            </a:r>
            <a:endParaRPr lang="en-US" sz="750" dirty="0"/>
          </a:p>
        </p:txBody>
      </p:sp>
      <p:sp>
        <p:nvSpPr>
          <p:cNvPr id="49" name="Shape 47"/>
          <p:cNvSpPr/>
          <p:nvPr/>
        </p:nvSpPr>
        <p:spPr>
          <a:xfrm>
            <a:off x="6007608" y="3712464"/>
            <a:ext cx="4306824" cy="310896"/>
          </a:xfrm>
          <a:prstGeom prst="rect">
            <a:avLst/>
          </a:prstGeom>
          <a:solidFill>
            <a:srgbClr val="FFFFFF"/>
          </a:solidFill>
          <a:ln w="12700">
            <a:solidFill>
              <a:srgbClr val="FFFFFF"/>
            </a:solidFill>
            <a:prstDash val="solid"/>
          </a:ln>
        </p:spPr>
        <p:txBody>
          <a:bodyPr/>
          <a:lstStyle/>
          <a:p>
            <a:endParaRPr lang="en-IN"/>
          </a:p>
        </p:txBody>
      </p:sp>
      <p:sp>
        <p:nvSpPr>
          <p:cNvPr id="50" name="Shape 48"/>
          <p:cNvSpPr/>
          <p:nvPr/>
        </p:nvSpPr>
        <p:spPr>
          <a:xfrm>
            <a:off x="6007608" y="4023360"/>
            <a:ext cx="4306824" cy="0"/>
          </a:xfrm>
          <a:prstGeom prst="line">
            <a:avLst/>
          </a:prstGeom>
          <a:noFill/>
          <a:ln w="9525">
            <a:solidFill>
              <a:srgbClr val="E6E6EB"/>
            </a:solidFill>
            <a:prstDash val="solid"/>
          </a:ln>
        </p:spPr>
        <p:txBody>
          <a:bodyPr/>
          <a:lstStyle/>
          <a:p>
            <a:endParaRPr lang="en-IN"/>
          </a:p>
        </p:txBody>
      </p:sp>
      <p:sp>
        <p:nvSpPr>
          <p:cNvPr id="51" name="Text 49"/>
          <p:cNvSpPr txBox="1"/>
          <p:nvPr/>
        </p:nvSpPr>
        <p:spPr>
          <a:xfrm>
            <a:off x="6099048" y="3730752"/>
            <a:ext cx="914400" cy="274320"/>
          </a:xfrm>
          <a:prstGeom prst="rect">
            <a:avLst/>
          </a:prstGeom>
          <a:noFill/>
          <a:ln/>
        </p:spPr>
        <p:txBody>
          <a:bodyPr wrap="square" lIns="0" tIns="0" rIns="0" bIns="0" rtlCol="0" anchor="ctr"/>
          <a:lstStyle/>
          <a:p>
            <a:pPr marL="0" indent="0">
              <a:buNone/>
            </a:pPr>
            <a:r>
              <a:rPr lang="en-US" sz="1000" b="1" dirty="0">
                <a:solidFill>
                  <a:srgbClr val="5B0F4E"/>
                </a:solidFill>
                <a:latin typeface="Arial" pitchFamily="34" charset="0"/>
                <a:ea typeface="Arial" pitchFamily="34" charset="-122"/>
                <a:cs typeface="Arial" pitchFamily="34" charset="-120"/>
              </a:rPr>
              <a:t>Sahi Daam</a:t>
            </a:r>
            <a:endParaRPr lang="en-US" sz="1000" dirty="0"/>
          </a:p>
        </p:txBody>
      </p:sp>
      <p:sp>
        <p:nvSpPr>
          <p:cNvPr id="52" name="Text 50"/>
          <p:cNvSpPr txBox="1"/>
          <p:nvPr/>
        </p:nvSpPr>
        <p:spPr>
          <a:xfrm>
            <a:off x="7086600" y="3730752"/>
            <a:ext cx="868680" cy="274320"/>
          </a:xfrm>
          <a:prstGeom prst="rect">
            <a:avLst/>
          </a:prstGeom>
          <a:noFill/>
          <a:ln/>
        </p:spPr>
        <p:txBody>
          <a:bodyPr wrap="square" lIns="0" tIns="0" rIns="0" bIns="0" rtlCol="0" anchor="ctr"/>
          <a:lstStyle/>
          <a:p>
            <a:pPr marL="0" indent="0">
              <a:buNone/>
            </a:pPr>
            <a:r>
              <a:rPr lang="en-US" sz="750" dirty="0">
                <a:solidFill>
                  <a:srgbClr val="2B2B2B"/>
                </a:solidFill>
                <a:latin typeface="Arial" pitchFamily="34" charset="0"/>
                <a:ea typeface="Arial" pitchFamily="34" charset="-122"/>
                <a:cs typeface="Arial" pitchFamily="34" charset="-120"/>
              </a:rPr>
              <a:t>Munafa Meter</a:t>
            </a:r>
            <a:endParaRPr lang="en-US" sz="750" dirty="0"/>
          </a:p>
        </p:txBody>
      </p:sp>
      <p:sp>
        <p:nvSpPr>
          <p:cNvPr id="53" name="Text 51"/>
          <p:cNvSpPr txBox="1"/>
          <p:nvPr/>
        </p:nvSpPr>
        <p:spPr>
          <a:xfrm>
            <a:off x="7955280" y="3730752"/>
            <a:ext cx="868680" cy="274320"/>
          </a:xfrm>
          <a:prstGeom prst="rect">
            <a:avLst/>
          </a:prstGeom>
          <a:noFill/>
          <a:ln/>
        </p:spPr>
        <p:txBody>
          <a:bodyPr wrap="square" lIns="0" tIns="0" rIns="0" bIns="0" rtlCol="0" anchor="ctr"/>
          <a:lstStyle/>
          <a:p>
            <a:pPr marL="0" indent="0">
              <a:buNone/>
            </a:pPr>
            <a:r>
              <a:rPr lang="en-US" sz="750" dirty="0">
                <a:solidFill>
                  <a:srgbClr val="2B2B2B"/>
                </a:solidFill>
                <a:latin typeface="Arial" pitchFamily="34" charset="0"/>
                <a:ea typeface="Arial" pitchFamily="34" charset="-122"/>
                <a:cs typeface="Arial" pitchFamily="34" charset="-120"/>
              </a:rPr>
              <a:t>Smart Band</a:t>
            </a:r>
            <a:endParaRPr lang="en-US" sz="750" dirty="0"/>
          </a:p>
        </p:txBody>
      </p:sp>
      <p:sp>
        <p:nvSpPr>
          <p:cNvPr id="54" name="Text 52"/>
          <p:cNvSpPr txBox="1"/>
          <p:nvPr/>
        </p:nvSpPr>
        <p:spPr>
          <a:xfrm>
            <a:off x="8823960" y="3730752"/>
            <a:ext cx="868680" cy="274320"/>
          </a:xfrm>
          <a:prstGeom prst="rect">
            <a:avLst/>
          </a:prstGeom>
          <a:noFill/>
          <a:ln/>
        </p:spPr>
        <p:txBody>
          <a:bodyPr wrap="square" lIns="0" tIns="0" rIns="0" bIns="0" rtlCol="0" anchor="ctr"/>
          <a:lstStyle/>
          <a:p>
            <a:pPr marL="0" indent="0">
              <a:buNone/>
            </a:pPr>
            <a:r>
              <a:rPr lang="en-US" sz="750" b="1" dirty="0">
                <a:solidFill>
                  <a:srgbClr val="F43397"/>
                </a:solidFill>
                <a:latin typeface="Arial" pitchFamily="34" charset="0"/>
                <a:ea typeface="Arial" pitchFamily="34" charset="-122"/>
                <a:cs typeface="Arial" pitchFamily="34" charset="-120"/>
              </a:rPr>
              <a:t>Autopilot</a:t>
            </a:r>
            <a:endParaRPr lang="en-US" sz="750" dirty="0"/>
          </a:p>
        </p:txBody>
      </p:sp>
      <p:sp>
        <p:nvSpPr>
          <p:cNvPr id="55" name="Shape 53"/>
          <p:cNvSpPr/>
          <p:nvPr/>
        </p:nvSpPr>
        <p:spPr>
          <a:xfrm>
            <a:off x="9464040" y="3758184"/>
            <a:ext cx="758952" cy="219456"/>
          </a:xfrm>
          <a:prstGeom prst="roundRect">
            <a:avLst>
              <a:gd name="adj" fmla="val 20833"/>
            </a:avLst>
          </a:prstGeom>
          <a:solidFill>
            <a:srgbClr val="4A2BD0"/>
          </a:solidFill>
          <a:ln w="12700">
            <a:solidFill>
              <a:srgbClr val="4A2BD0"/>
            </a:solidFill>
            <a:prstDash val="solid"/>
          </a:ln>
        </p:spPr>
        <p:txBody>
          <a:bodyPr/>
          <a:lstStyle/>
          <a:p>
            <a:endParaRPr lang="en-IN"/>
          </a:p>
        </p:txBody>
      </p:sp>
      <p:sp>
        <p:nvSpPr>
          <p:cNvPr id="56" name="Text 54"/>
          <p:cNvSpPr txBox="1"/>
          <p:nvPr/>
        </p:nvSpPr>
        <p:spPr>
          <a:xfrm>
            <a:off x="9464040" y="3758184"/>
            <a:ext cx="758952" cy="219456"/>
          </a:xfrm>
          <a:prstGeom prst="rect">
            <a:avLst/>
          </a:prstGeom>
          <a:noFill/>
          <a:ln/>
        </p:spPr>
        <p:txBody>
          <a:bodyPr wrap="square" lIns="0" tIns="0" rIns="0" bIns="0"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Start pricing</a:t>
            </a:r>
            <a:endParaRPr lang="en-US" sz="700" dirty="0"/>
          </a:p>
        </p:txBody>
      </p:sp>
      <p:sp>
        <p:nvSpPr>
          <p:cNvPr id="57" name="Text 55"/>
          <p:cNvSpPr txBox="1"/>
          <p:nvPr/>
        </p:nvSpPr>
        <p:spPr>
          <a:xfrm>
            <a:off x="6099048" y="4114800"/>
            <a:ext cx="2286000" cy="201168"/>
          </a:xfrm>
          <a:prstGeom prst="rect">
            <a:avLst/>
          </a:prstGeom>
          <a:noFill/>
          <a:ln/>
        </p:spPr>
        <p:txBody>
          <a:bodyPr wrap="square" lIns="0" tIns="0" rIns="0" bIns="0" rtlCol="0" anchor="t"/>
          <a:lstStyle/>
          <a:p>
            <a:pPr marL="0" indent="0">
              <a:buNone/>
            </a:pPr>
            <a:r>
              <a:rPr lang="en-US" sz="800" b="1" dirty="0">
                <a:solidFill>
                  <a:srgbClr val="2B2B2B"/>
                </a:solidFill>
                <a:latin typeface="Arial" pitchFamily="34" charset="0"/>
                <a:ea typeface="Arial" pitchFamily="34" charset="-122"/>
                <a:cs typeface="Arial" pitchFamily="34" charset="-120"/>
              </a:rPr>
              <a:t>Kurti season · week 10 of 26</a:t>
            </a:r>
            <a:endParaRPr lang="en-US" sz="800" dirty="0"/>
          </a:p>
        </p:txBody>
      </p:sp>
      <p:sp>
        <p:nvSpPr>
          <p:cNvPr id="58" name="Shape 56"/>
          <p:cNvSpPr/>
          <p:nvPr/>
        </p:nvSpPr>
        <p:spPr>
          <a:xfrm>
            <a:off x="6144768" y="4462272"/>
            <a:ext cx="3977640" cy="45720"/>
          </a:xfrm>
          <a:prstGeom prst="rect">
            <a:avLst/>
          </a:prstGeom>
          <a:solidFill>
            <a:srgbClr val="D9C8D5"/>
          </a:solidFill>
          <a:ln w="12700">
            <a:solidFill>
              <a:srgbClr val="D9C8D5"/>
            </a:solidFill>
            <a:prstDash val="solid"/>
          </a:ln>
        </p:spPr>
        <p:txBody>
          <a:bodyPr/>
          <a:lstStyle/>
          <a:p>
            <a:endParaRPr lang="en-IN"/>
          </a:p>
        </p:txBody>
      </p:sp>
      <p:sp>
        <p:nvSpPr>
          <p:cNvPr id="59" name="Shape 57"/>
          <p:cNvSpPr/>
          <p:nvPr/>
        </p:nvSpPr>
        <p:spPr>
          <a:xfrm>
            <a:off x="6144768" y="4462272"/>
            <a:ext cx="1529862" cy="45720"/>
          </a:xfrm>
          <a:prstGeom prst="rect">
            <a:avLst/>
          </a:prstGeom>
          <a:solidFill>
            <a:srgbClr val="F29A1F"/>
          </a:solidFill>
          <a:ln w="12700">
            <a:solidFill>
              <a:srgbClr val="F29A1F"/>
            </a:solidFill>
            <a:prstDash val="solid"/>
          </a:ln>
        </p:spPr>
        <p:txBody>
          <a:bodyPr/>
          <a:lstStyle/>
          <a:p>
            <a:endParaRPr lang="en-IN"/>
          </a:p>
        </p:txBody>
      </p:sp>
      <p:sp>
        <p:nvSpPr>
          <p:cNvPr id="60" name="Shape 58"/>
          <p:cNvSpPr/>
          <p:nvPr/>
        </p:nvSpPr>
        <p:spPr>
          <a:xfrm>
            <a:off x="6138965" y="4398264"/>
            <a:ext cx="164592" cy="164592"/>
          </a:xfrm>
          <a:prstGeom prst="ellipse">
            <a:avLst/>
          </a:prstGeom>
          <a:solidFill>
            <a:srgbClr val="5B0F4E"/>
          </a:solidFill>
          <a:ln w="12700">
            <a:solidFill>
              <a:srgbClr val="FFFFFF"/>
            </a:solidFill>
            <a:prstDash val="solid"/>
          </a:ln>
        </p:spPr>
        <p:txBody>
          <a:bodyPr/>
          <a:lstStyle/>
          <a:p>
            <a:endParaRPr lang="en-IN"/>
          </a:p>
        </p:txBody>
      </p:sp>
      <p:sp>
        <p:nvSpPr>
          <p:cNvPr id="61" name="Text 59"/>
          <p:cNvSpPr txBox="1"/>
          <p:nvPr/>
        </p:nvSpPr>
        <p:spPr>
          <a:xfrm>
            <a:off x="5946941" y="4572000"/>
            <a:ext cx="548640" cy="164592"/>
          </a:xfrm>
          <a:prstGeom prst="rect">
            <a:avLst/>
          </a:prstGeom>
          <a:noFill/>
          <a:ln/>
        </p:spPr>
        <p:txBody>
          <a:bodyPr wrap="square" lIns="0" tIns="0" rIns="0" bIns="0" rtlCol="0" anchor="t"/>
          <a:lstStyle/>
          <a:p>
            <a:pPr marL="0" indent="0" algn="ctr">
              <a:buNone/>
            </a:pPr>
            <a:r>
              <a:rPr lang="en-US" sz="600" dirty="0">
                <a:solidFill>
                  <a:srgbClr val="5B0F4E"/>
                </a:solidFill>
                <a:latin typeface="Arial" pitchFamily="34" charset="0"/>
                <a:ea typeface="Arial" pitchFamily="34" charset="-122"/>
                <a:cs typeface="Arial" pitchFamily="34" charset="-120"/>
              </a:rPr>
              <a:t>T1 · wk 1</a:t>
            </a:r>
            <a:endParaRPr lang="en-US" sz="600" dirty="0"/>
          </a:p>
        </p:txBody>
      </p:sp>
      <p:sp>
        <p:nvSpPr>
          <p:cNvPr id="62" name="Shape 60"/>
          <p:cNvSpPr/>
          <p:nvPr/>
        </p:nvSpPr>
        <p:spPr>
          <a:xfrm>
            <a:off x="7515840" y="4398264"/>
            <a:ext cx="164592" cy="164592"/>
          </a:xfrm>
          <a:prstGeom prst="ellipse">
            <a:avLst/>
          </a:prstGeom>
          <a:solidFill>
            <a:srgbClr val="5B0F4E"/>
          </a:solidFill>
          <a:ln w="12700">
            <a:solidFill>
              <a:srgbClr val="FFFFFF"/>
            </a:solidFill>
            <a:prstDash val="solid"/>
          </a:ln>
        </p:spPr>
        <p:txBody>
          <a:bodyPr/>
          <a:lstStyle/>
          <a:p>
            <a:endParaRPr lang="en-IN"/>
          </a:p>
        </p:txBody>
      </p:sp>
      <p:sp>
        <p:nvSpPr>
          <p:cNvPr id="63" name="Text 61"/>
          <p:cNvSpPr txBox="1"/>
          <p:nvPr/>
        </p:nvSpPr>
        <p:spPr>
          <a:xfrm>
            <a:off x="7323816" y="4572000"/>
            <a:ext cx="548640" cy="164592"/>
          </a:xfrm>
          <a:prstGeom prst="rect">
            <a:avLst/>
          </a:prstGeom>
          <a:noFill/>
          <a:ln/>
        </p:spPr>
        <p:txBody>
          <a:bodyPr wrap="square" lIns="0" tIns="0" rIns="0" bIns="0" rtlCol="0" anchor="t"/>
          <a:lstStyle/>
          <a:p>
            <a:pPr marL="0" indent="0" algn="ctr">
              <a:buNone/>
            </a:pPr>
            <a:r>
              <a:rPr lang="en-US" sz="600" dirty="0">
                <a:solidFill>
                  <a:srgbClr val="5B0F4E"/>
                </a:solidFill>
                <a:latin typeface="Arial" pitchFamily="34" charset="0"/>
                <a:ea typeface="Arial" pitchFamily="34" charset="-122"/>
                <a:cs typeface="Arial" pitchFamily="34" charset="-120"/>
              </a:rPr>
              <a:t>T2 · wk 10</a:t>
            </a:r>
            <a:endParaRPr lang="en-US" sz="600" dirty="0"/>
          </a:p>
        </p:txBody>
      </p:sp>
      <p:sp>
        <p:nvSpPr>
          <p:cNvPr id="64" name="Shape 62"/>
          <p:cNvSpPr/>
          <p:nvPr/>
        </p:nvSpPr>
        <p:spPr>
          <a:xfrm>
            <a:off x="9198688" y="4398264"/>
            <a:ext cx="164592" cy="164592"/>
          </a:xfrm>
          <a:prstGeom prst="ellipse">
            <a:avLst/>
          </a:prstGeom>
          <a:solidFill>
            <a:srgbClr val="5B0F4E"/>
          </a:solidFill>
          <a:ln w="12700">
            <a:solidFill>
              <a:srgbClr val="FFFFFF"/>
            </a:solidFill>
            <a:prstDash val="solid"/>
          </a:ln>
        </p:spPr>
        <p:txBody>
          <a:bodyPr/>
          <a:lstStyle/>
          <a:p>
            <a:endParaRPr lang="en-IN"/>
          </a:p>
        </p:txBody>
      </p:sp>
      <p:sp>
        <p:nvSpPr>
          <p:cNvPr id="65" name="Text 63"/>
          <p:cNvSpPr txBox="1"/>
          <p:nvPr/>
        </p:nvSpPr>
        <p:spPr>
          <a:xfrm>
            <a:off x="9006664" y="4572000"/>
            <a:ext cx="548640" cy="164592"/>
          </a:xfrm>
          <a:prstGeom prst="rect">
            <a:avLst/>
          </a:prstGeom>
          <a:noFill/>
          <a:ln/>
        </p:spPr>
        <p:txBody>
          <a:bodyPr wrap="square" lIns="0" tIns="0" rIns="0" bIns="0" rtlCol="0" anchor="t"/>
          <a:lstStyle/>
          <a:p>
            <a:pPr marL="0" indent="0" algn="ctr">
              <a:buNone/>
            </a:pPr>
            <a:r>
              <a:rPr lang="en-US" sz="600" dirty="0">
                <a:solidFill>
                  <a:srgbClr val="5B0F4E"/>
                </a:solidFill>
                <a:latin typeface="Arial" pitchFamily="34" charset="0"/>
                <a:ea typeface="Arial" pitchFamily="34" charset="-122"/>
                <a:cs typeface="Arial" pitchFamily="34" charset="-120"/>
              </a:rPr>
              <a:t>T3 · wk 21</a:t>
            </a:r>
            <a:endParaRPr lang="en-US" sz="600" dirty="0"/>
          </a:p>
        </p:txBody>
      </p:sp>
      <p:sp>
        <p:nvSpPr>
          <p:cNvPr id="66" name="Shape 64"/>
          <p:cNvSpPr/>
          <p:nvPr/>
        </p:nvSpPr>
        <p:spPr>
          <a:xfrm>
            <a:off x="6099048" y="4800600"/>
            <a:ext cx="2240280" cy="960120"/>
          </a:xfrm>
          <a:prstGeom prst="roundRect">
            <a:avLst>
              <a:gd name="adj" fmla="val 4762"/>
            </a:avLst>
          </a:prstGeom>
          <a:solidFill>
            <a:srgbClr val="FFF1DC"/>
          </a:solidFill>
          <a:ln w="12700">
            <a:solidFill>
              <a:srgbClr val="FFF1DC"/>
            </a:solidFill>
            <a:prstDash val="solid"/>
          </a:ln>
        </p:spPr>
        <p:txBody>
          <a:bodyPr/>
          <a:lstStyle/>
          <a:p>
            <a:endParaRPr lang="en-IN"/>
          </a:p>
        </p:txBody>
      </p:sp>
      <p:sp>
        <p:nvSpPr>
          <p:cNvPr id="67" name="Text 65"/>
          <p:cNvSpPr txBox="1"/>
          <p:nvPr/>
        </p:nvSpPr>
        <p:spPr>
          <a:xfrm>
            <a:off x="6153912" y="4818888"/>
            <a:ext cx="2103120" cy="182880"/>
          </a:xfrm>
          <a:prstGeom prst="rect">
            <a:avLst/>
          </a:prstGeom>
          <a:noFill/>
          <a:ln/>
        </p:spPr>
        <p:txBody>
          <a:bodyPr wrap="square" lIns="0" tIns="0" rIns="0" bIns="0" rtlCol="0" anchor="t"/>
          <a:lstStyle/>
          <a:p>
            <a:pPr marL="0" indent="0">
              <a:buNone/>
            </a:pPr>
            <a:r>
              <a:rPr lang="en-US" sz="750" b="1" dirty="0">
                <a:solidFill>
                  <a:srgbClr val="C9660A"/>
                </a:solidFill>
                <a:latin typeface="Arial" pitchFamily="34" charset="0"/>
                <a:ea typeface="Arial" pitchFamily="34" charset="-122"/>
                <a:cs typeface="Arial" pitchFamily="34" charset="-120"/>
              </a:rPr>
              <a:t>T2 · Cost change</a:t>
            </a:r>
            <a:endParaRPr lang="en-US" sz="750" dirty="0"/>
          </a:p>
        </p:txBody>
      </p:sp>
      <p:sp>
        <p:nvSpPr>
          <p:cNvPr id="68" name="Text 66"/>
          <p:cNvSpPr txBox="1"/>
          <p:nvPr/>
        </p:nvSpPr>
        <p:spPr>
          <a:xfrm>
            <a:off x="6153912" y="5001768"/>
            <a:ext cx="2130552" cy="457200"/>
          </a:xfrm>
          <a:prstGeom prst="rect">
            <a:avLst/>
          </a:prstGeom>
          <a:noFill/>
          <a:ln/>
        </p:spPr>
        <p:txBody>
          <a:bodyPr wrap="square" lIns="0" tIns="0" rIns="0" bIns="0" rtlCol="0" anchor="t"/>
          <a:lstStyle/>
          <a:p>
            <a:pPr marL="0" indent="0">
              <a:buNone/>
            </a:pPr>
            <a:r>
              <a:rPr lang="en-US" sz="700" dirty="0">
                <a:solidFill>
                  <a:srgbClr val="2B2B2B"/>
                </a:solidFill>
                <a:latin typeface="Arial" pitchFamily="34" charset="0"/>
                <a:ea typeface="Arial" pitchFamily="34" charset="-122"/>
                <a:cs typeface="Arial" pitchFamily="34" charset="-120"/>
              </a:rPr>
              <a:t>Shipping up ₹10. New floor ₹313. Your ₹319 still clears it: you keep ~₹4.8 / order.</a:t>
            </a:r>
            <a:endParaRPr lang="en-US" sz="700" dirty="0"/>
          </a:p>
        </p:txBody>
      </p:sp>
      <p:sp>
        <p:nvSpPr>
          <p:cNvPr id="69" name="Shape 67"/>
          <p:cNvSpPr/>
          <p:nvPr/>
        </p:nvSpPr>
        <p:spPr>
          <a:xfrm>
            <a:off x="6153912" y="5486400"/>
            <a:ext cx="914400" cy="201168"/>
          </a:xfrm>
          <a:prstGeom prst="roundRect">
            <a:avLst>
              <a:gd name="adj" fmla="val 18182"/>
            </a:avLst>
          </a:prstGeom>
          <a:solidFill>
            <a:srgbClr val="1E8E3E"/>
          </a:solidFill>
          <a:ln w="12700">
            <a:solidFill>
              <a:srgbClr val="1E8E3E"/>
            </a:solidFill>
            <a:prstDash val="solid"/>
          </a:ln>
        </p:spPr>
        <p:txBody>
          <a:bodyPr/>
          <a:lstStyle/>
          <a:p>
            <a:endParaRPr lang="en-IN"/>
          </a:p>
        </p:txBody>
      </p:sp>
      <p:sp>
        <p:nvSpPr>
          <p:cNvPr id="70" name="Text 68"/>
          <p:cNvSpPr txBox="1"/>
          <p:nvPr/>
        </p:nvSpPr>
        <p:spPr>
          <a:xfrm>
            <a:off x="6153912" y="5486400"/>
            <a:ext cx="91440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Apply</a:t>
            </a:r>
            <a:endParaRPr lang="en-US" sz="700" dirty="0"/>
          </a:p>
        </p:txBody>
      </p:sp>
      <p:sp>
        <p:nvSpPr>
          <p:cNvPr id="71" name="Shape 69"/>
          <p:cNvSpPr/>
          <p:nvPr/>
        </p:nvSpPr>
        <p:spPr>
          <a:xfrm>
            <a:off x="7150608" y="5486400"/>
            <a:ext cx="914400" cy="201168"/>
          </a:xfrm>
          <a:prstGeom prst="roundRect">
            <a:avLst>
              <a:gd name="adj" fmla="val 18182"/>
            </a:avLst>
          </a:prstGeom>
          <a:solidFill>
            <a:srgbClr val="F4F4F4"/>
          </a:solidFill>
          <a:ln w="12700">
            <a:solidFill>
              <a:srgbClr val="F4F4F4"/>
            </a:solidFill>
            <a:prstDash val="solid"/>
          </a:ln>
        </p:spPr>
        <p:txBody>
          <a:bodyPr/>
          <a:lstStyle/>
          <a:p>
            <a:endParaRPr lang="en-IN"/>
          </a:p>
        </p:txBody>
      </p:sp>
      <p:sp>
        <p:nvSpPr>
          <p:cNvPr id="72" name="Text 70"/>
          <p:cNvSpPr txBox="1"/>
          <p:nvPr/>
        </p:nvSpPr>
        <p:spPr>
          <a:xfrm>
            <a:off x="7150608" y="5486400"/>
            <a:ext cx="914400" cy="201168"/>
          </a:xfrm>
          <a:prstGeom prst="rect">
            <a:avLst/>
          </a:prstGeom>
          <a:noFill/>
          <a:ln/>
        </p:spPr>
        <p:txBody>
          <a:bodyPr wrap="square" lIns="0" tIns="0" rIns="0" bIns="0" rtlCol="0" anchor="ctr"/>
          <a:lstStyle/>
          <a:p>
            <a:pPr marL="0" indent="0" algn="ctr">
              <a:buNone/>
            </a:pPr>
            <a:r>
              <a:rPr lang="en-US" sz="700" b="1" dirty="0">
                <a:solidFill>
                  <a:srgbClr val="2B2B2B"/>
                </a:solidFill>
                <a:latin typeface="Arial" pitchFamily="34" charset="0"/>
                <a:ea typeface="Arial" pitchFamily="34" charset="-122"/>
                <a:cs typeface="Arial" pitchFamily="34" charset="-120"/>
              </a:rPr>
              <a:t>Ignore</a:t>
            </a:r>
            <a:endParaRPr lang="en-US" sz="700" dirty="0"/>
          </a:p>
        </p:txBody>
      </p:sp>
      <p:sp>
        <p:nvSpPr>
          <p:cNvPr id="73" name="Shape 71"/>
          <p:cNvSpPr/>
          <p:nvPr/>
        </p:nvSpPr>
        <p:spPr>
          <a:xfrm>
            <a:off x="8476488" y="4800600"/>
            <a:ext cx="1737360" cy="960120"/>
          </a:xfrm>
          <a:prstGeom prst="roundRect">
            <a:avLst>
              <a:gd name="adj" fmla="val 4762"/>
            </a:avLst>
          </a:prstGeom>
          <a:solidFill>
            <a:srgbClr val="ECE5DD"/>
          </a:solidFill>
          <a:ln w="12700">
            <a:solidFill>
              <a:srgbClr val="ECE5DD"/>
            </a:solidFill>
            <a:prstDash val="solid"/>
          </a:ln>
        </p:spPr>
        <p:txBody>
          <a:bodyPr/>
          <a:lstStyle/>
          <a:p>
            <a:endParaRPr lang="en-IN"/>
          </a:p>
        </p:txBody>
      </p:sp>
      <p:sp>
        <p:nvSpPr>
          <p:cNvPr id="74" name="Text 72"/>
          <p:cNvSpPr txBox="1"/>
          <p:nvPr/>
        </p:nvSpPr>
        <p:spPr>
          <a:xfrm>
            <a:off x="8531352" y="4818888"/>
            <a:ext cx="1645920" cy="164592"/>
          </a:xfrm>
          <a:prstGeom prst="rect">
            <a:avLst/>
          </a:prstGeom>
          <a:noFill/>
          <a:ln/>
        </p:spPr>
        <p:txBody>
          <a:bodyPr wrap="square" lIns="0" tIns="0" rIns="0" bIns="0" rtlCol="0" anchor="t"/>
          <a:lstStyle/>
          <a:p>
            <a:pPr marL="0" indent="0">
              <a:buNone/>
            </a:pPr>
            <a:r>
              <a:rPr lang="en-US" sz="650" b="1" dirty="0">
                <a:solidFill>
                  <a:srgbClr val="1D6F42"/>
                </a:solidFill>
                <a:latin typeface="Arial" pitchFamily="34" charset="0"/>
                <a:ea typeface="Arial" pitchFamily="34" charset="-122"/>
                <a:cs typeface="Arial" pitchFamily="34" charset="-120"/>
              </a:rPr>
              <a:t>WhatsApp preview</a:t>
            </a:r>
            <a:endParaRPr lang="en-US" sz="650" dirty="0"/>
          </a:p>
        </p:txBody>
      </p:sp>
      <p:sp>
        <p:nvSpPr>
          <p:cNvPr id="75" name="Shape 73"/>
          <p:cNvSpPr/>
          <p:nvPr/>
        </p:nvSpPr>
        <p:spPr>
          <a:xfrm>
            <a:off x="8531352" y="5001768"/>
            <a:ext cx="1627632" cy="685800"/>
          </a:xfrm>
          <a:prstGeom prst="roundRect">
            <a:avLst>
              <a:gd name="adj" fmla="val 6667"/>
            </a:avLst>
          </a:prstGeom>
          <a:solidFill>
            <a:srgbClr val="DCF8C6"/>
          </a:solidFill>
          <a:ln w="12700">
            <a:solidFill>
              <a:srgbClr val="DCF8C6"/>
            </a:solidFill>
            <a:prstDash val="solid"/>
          </a:ln>
        </p:spPr>
        <p:txBody>
          <a:bodyPr/>
          <a:lstStyle/>
          <a:p>
            <a:endParaRPr lang="en-IN"/>
          </a:p>
        </p:txBody>
      </p:sp>
      <p:sp>
        <p:nvSpPr>
          <p:cNvPr id="76" name="Text 74"/>
          <p:cNvSpPr txBox="1"/>
          <p:nvPr/>
        </p:nvSpPr>
        <p:spPr>
          <a:xfrm>
            <a:off x="8567928" y="5020056"/>
            <a:ext cx="1572768" cy="640080"/>
          </a:xfrm>
          <a:prstGeom prst="rect">
            <a:avLst/>
          </a:prstGeom>
          <a:noFill/>
          <a:ln/>
        </p:spPr>
        <p:txBody>
          <a:bodyPr wrap="square" lIns="0" tIns="0" rIns="0" bIns="0" rtlCol="0" anchor="t"/>
          <a:lstStyle/>
          <a:p>
            <a:pPr marL="0" indent="0">
              <a:buNone/>
            </a:pPr>
            <a:r>
              <a:rPr lang="en-US" sz="700" dirty="0">
                <a:solidFill>
                  <a:srgbClr val="2B2B2B"/>
                </a:solidFill>
                <a:latin typeface="Arial" pitchFamily="34" charset="0"/>
                <a:ea typeface="Arial" pitchFamily="34" charset="-122"/>
                <a:cs typeface="Arial" pitchFamily="34" charset="-120"/>
              </a:rPr>
              <a:t>शिपिंग ₹10 बढ़ी। नई न्यूनतम कीमत ₹313। आपकी ₹319 कीमत ठीक है।</a:t>
            </a:r>
            <a:endParaRPr lang="en-US" sz="700" dirty="0"/>
          </a:p>
        </p:txBody>
      </p:sp>
      <p:sp>
        <p:nvSpPr>
          <p:cNvPr id="77" name="Text 75"/>
          <p:cNvSpPr txBox="1"/>
          <p:nvPr/>
        </p:nvSpPr>
        <p:spPr>
          <a:xfrm>
            <a:off x="6099048" y="5833872"/>
            <a:ext cx="2377440" cy="182880"/>
          </a:xfrm>
          <a:prstGeom prst="rect">
            <a:avLst/>
          </a:prstGeom>
          <a:noFill/>
          <a:ln/>
        </p:spPr>
        <p:txBody>
          <a:bodyPr wrap="square" lIns="0" tIns="0" rIns="0" bIns="0" rtlCol="0" anchor="t"/>
          <a:lstStyle/>
          <a:p>
            <a:pPr marL="0" indent="0">
              <a:buNone/>
            </a:pPr>
            <a:r>
              <a:rPr lang="en-US" sz="750" b="1" dirty="0">
                <a:solidFill>
                  <a:srgbClr val="2B2B2B"/>
                </a:solidFill>
                <a:latin typeface="Arial" pitchFamily="34" charset="0"/>
                <a:ea typeface="Arial" pitchFamily="34" charset="-122"/>
                <a:cs typeface="Arial" pitchFamily="34" charset="-120"/>
              </a:rPr>
              <a:t>Cumulative profit: with vs without</a:t>
            </a:r>
            <a:endParaRPr lang="en-US" sz="750" dirty="0"/>
          </a:p>
        </p:txBody>
      </p:sp>
      <p:sp>
        <p:nvSpPr>
          <p:cNvPr id="78" name="Shape 76"/>
          <p:cNvSpPr/>
          <p:nvPr/>
        </p:nvSpPr>
        <p:spPr>
          <a:xfrm flipV="1">
            <a:off x="6144768" y="6080760"/>
            <a:ext cx="2377440" cy="164592"/>
          </a:xfrm>
          <a:prstGeom prst="line">
            <a:avLst/>
          </a:prstGeom>
          <a:noFill/>
          <a:ln w="25400">
            <a:solidFill>
              <a:srgbClr val="1E8E3E"/>
            </a:solidFill>
            <a:prstDash val="solid"/>
          </a:ln>
        </p:spPr>
        <p:txBody>
          <a:bodyPr/>
          <a:lstStyle/>
          <a:p>
            <a:endParaRPr lang="en-IN"/>
          </a:p>
        </p:txBody>
      </p:sp>
      <p:sp>
        <p:nvSpPr>
          <p:cNvPr id="79" name="Shape 77"/>
          <p:cNvSpPr/>
          <p:nvPr/>
        </p:nvSpPr>
        <p:spPr>
          <a:xfrm>
            <a:off x="6144768" y="6217920"/>
            <a:ext cx="2377440" cy="164592"/>
          </a:xfrm>
          <a:prstGeom prst="line">
            <a:avLst/>
          </a:prstGeom>
          <a:noFill/>
          <a:ln w="25400">
            <a:solidFill>
              <a:srgbClr val="C62828"/>
            </a:solidFill>
            <a:prstDash val="solid"/>
          </a:ln>
        </p:spPr>
        <p:txBody>
          <a:bodyPr/>
          <a:lstStyle/>
          <a:p>
            <a:endParaRPr lang="en-IN"/>
          </a:p>
        </p:txBody>
      </p:sp>
      <p:sp>
        <p:nvSpPr>
          <p:cNvPr id="80" name="Shape 78"/>
          <p:cNvSpPr/>
          <p:nvPr/>
        </p:nvSpPr>
        <p:spPr>
          <a:xfrm>
            <a:off x="8705088" y="5897880"/>
            <a:ext cx="1508760" cy="530352"/>
          </a:xfrm>
          <a:prstGeom prst="roundRect">
            <a:avLst>
              <a:gd name="adj" fmla="val 8621"/>
            </a:avLst>
          </a:prstGeom>
          <a:solidFill>
            <a:srgbClr val="F3E8F1"/>
          </a:solidFill>
          <a:ln w="12700">
            <a:solidFill>
              <a:srgbClr val="F3E8F1"/>
            </a:solidFill>
            <a:prstDash val="solid"/>
          </a:ln>
        </p:spPr>
        <p:txBody>
          <a:bodyPr/>
          <a:lstStyle/>
          <a:p>
            <a:endParaRPr lang="en-IN"/>
          </a:p>
        </p:txBody>
      </p:sp>
      <p:sp>
        <p:nvSpPr>
          <p:cNvPr id="81" name="Text 79"/>
          <p:cNvSpPr txBox="1"/>
          <p:nvPr/>
        </p:nvSpPr>
        <p:spPr>
          <a:xfrm>
            <a:off x="8750808" y="5907024"/>
            <a:ext cx="1463040" cy="502920"/>
          </a:xfrm>
          <a:prstGeom prst="rect">
            <a:avLst/>
          </a:prstGeom>
          <a:noFill/>
          <a:ln/>
        </p:spPr>
        <p:txBody>
          <a:bodyPr wrap="square" lIns="0" tIns="0" rIns="0" bIns="0" rtlCol="0" anchor="t"/>
          <a:lstStyle/>
          <a:p>
            <a:pPr marL="0" indent="0">
              <a:buNone/>
            </a:pPr>
            <a:r>
              <a:rPr lang="en-US" sz="750" b="1" dirty="0">
                <a:solidFill>
                  <a:srgbClr val="5B0F4E"/>
                </a:solidFill>
                <a:latin typeface="Arial" pitchFamily="34" charset="0"/>
                <a:ea typeface="Arial" pitchFamily="34" charset="-122"/>
                <a:cs typeface="Arial" pitchFamily="34" charset="-120"/>
              </a:rPr>
              <a:t>Season P&amp;L</a:t>
            </a:r>
            <a:endParaRPr lang="en-US" sz="750" dirty="0"/>
          </a:p>
          <a:p>
            <a:pPr marL="0" indent="0">
              <a:buNone/>
            </a:pPr>
            <a:r>
              <a:rPr lang="en-US" sz="750" b="1" dirty="0">
                <a:solidFill>
                  <a:srgbClr val="5B0F4E"/>
                </a:solidFill>
                <a:latin typeface="Arial" pitchFamily="34" charset="0"/>
                <a:ea typeface="Arial" pitchFamily="34" charset="-122"/>
                <a:cs typeface="Arial" pitchFamily="34" charset="-120"/>
              </a:rPr>
              <a:t>−₹21,872 → +₹1,698</a:t>
            </a:r>
            <a:endParaRPr lang="en-US" sz="750" dirty="0"/>
          </a:p>
        </p:txBody>
      </p:sp>
      <p:sp>
        <p:nvSpPr>
          <p:cNvPr id="82" name="Shape 80"/>
          <p:cNvSpPr/>
          <p:nvPr/>
        </p:nvSpPr>
        <p:spPr>
          <a:xfrm>
            <a:off x="10515600" y="3538728"/>
            <a:ext cx="256032" cy="256032"/>
          </a:xfrm>
          <a:prstGeom prst="ellipse">
            <a:avLst/>
          </a:prstGeom>
          <a:solidFill>
            <a:srgbClr val="E0457B"/>
          </a:solidFill>
          <a:ln w="12700">
            <a:solidFill>
              <a:srgbClr val="FFFFFF"/>
            </a:solidFill>
            <a:prstDash val="solid"/>
          </a:ln>
        </p:spPr>
        <p:txBody>
          <a:bodyPr/>
          <a:lstStyle/>
          <a:p>
            <a:endParaRPr lang="en-IN"/>
          </a:p>
        </p:txBody>
      </p:sp>
      <p:sp>
        <p:nvSpPr>
          <p:cNvPr id="83" name="Text 81"/>
          <p:cNvSpPr txBox="1"/>
          <p:nvPr/>
        </p:nvSpPr>
        <p:spPr>
          <a:xfrm>
            <a:off x="10515600" y="353872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84" name="Text 82"/>
          <p:cNvSpPr txBox="1"/>
          <p:nvPr/>
        </p:nvSpPr>
        <p:spPr>
          <a:xfrm>
            <a:off x="10808208" y="3493008"/>
            <a:ext cx="1417320" cy="603504"/>
          </a:xfrm>
          <a:prstGeom prst="rect">
            <a:avLst/>
          </a:prstGeom>
          <a:noFill/>
          <a:ln/>
        </p:spPr>
        <p:txBody>
          <a:bodyPr wrap="square" lIns="0" tIns="0" rIns="0" bIns="0" rtlCol="0" anchor="t"/>
          <a:lstStyle/>
          <a:p>
            <a:pPr marL="0" indent="0">
              <a:buNone/>
            </a:pPr>
            <a:r>
              <a:rPr lang="en-US" sz="850" dirty="0">
                <a:solidFill>
                  <a:srgbClr val="2B2B2B"/>
                </a:solidFill>
                <a:latin typeface="Arial" pitchFamily="34" charset="0"/>
                <a:ea typeface="Arial" pitchFamily="34" charset="-122"/>
                <a:cs typeface="Arial" pitchFamily="34" charset="-120"/>
              </a:rPr>
              <a:t>Timeline: which trigger fired in which week (T1 wk 1, T2 wk 10, T3 wk 21)</a:t>
            </a:r>
            <a:endParaRPr lang="en-US" sz="850" dirty="0"/>
          </a:p>
        </p:txBody>
      </p:sp>
      <p:sp>
        <p:nvSpPr>
          <p:cNvPr id="85" name="Shape 83"/>
          <p:cNvSpPr/>
          <p:nvPr/>
        </p:nvSpPr>
        <p:spPr>
          <a:xfrm>
            <a:off x="6093245" y="4334256"/>
            <a:ext cx="219456" cy="219456"/>
          </a:xfrm>
          <a:prstGeom prst="ellipse">
            <a:avLst/>
          </a:prstGeom>
          <a:solidFill>
            <a:srgbClr val="E0457B"/>
          </a:solidFill>
          <a:ln w="12700">
            <a:solidFill>
              <a:srgbClr val="FFFFFF"/>
            </a:solidFill>
            <a:prstDash val="solid"/>
          </a:ln>
        </p:spPr>
        <p:txBody>
          <a:bodyPr/>
          <a:lstStyle/>
          <a:p>
            <a:endParaRPr lang="en-IN"/>
          </a:p>
        </p:txBody>
      </p:sp>
      <p:sp>
        <p:nvSpPr>
          <p:cNvPr id="86" name="Text 84"/>
          <p:cNvSpPr txBox="1"/>
          <p:nvPr/>
        </p:nvSpPr>
        <p:spPr>
          <a:xfrm>
            <a:off x="6093245" y="4334256"/>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87" name="Shape 85"/>
          <p:cNvSpPr/>
          <p:nvPr/>
        </p:nvSpPr>
        <p:spPr>
          <a:xfrm flipH="1">
            <a:off x="6330989" y="3666744"/>
            <a:ext cx="4166323" cy="795528"/>
          </a:xfrm>
          <a:prstGeom prst="line">
            <a:avLst/>
          </a:prstGeom>
          <a:noFill/>
          <a:ln w="19050">
            <a:solidFill>
              <a:srgbClr val="E0457B"/>
            </a:solidFill>
            <a:prstDash val="solid"/>
            <a:tailEnd type="triangle"/>
          </a:ln>
        </p:spPr>
        <p:txBody>
          <a:bodyPr/>
          <a:lstStyle/>
          <a:p>
            <a:endParaRPr lang="en-IN"/>
          </a:p>
        </p:txBody>
      </p:sp>
      <p:sp>
        <p:nvSpPr>
          <p:cNvPr id="88" name="Shape 86"/>
          <p:cNvSpPr/>
          <p:nvPr/>
        </p:nvSpPr>
        <p:spPr>
          <a:xfrm>
            <a:off x="10515600" y="4160520"/>
            <a:ext cx="256032" cy="256032"/>
          </a:xfrm>
          <a:prstGeom prst="ellipse">
            <a:avLst/>
          </a:prstGeom>
          <a:solidFill>
            <a:srgbClr val="E0457B"/>
          </a:solidFill>
          <a:ln w="12700">
            <a:solidFill>
              <a:srgbClr val="FFFFFF"/>
            </a:solidFill>
            <a:prstDash val="solid"/>
          </a:ln>
        </p:spPr>
        <p:txBody>
          <a:bodyPr/>
          <a:lstStyle/>
          <a:p>
            <a:endParaRPr lang="en-IN"/>
          </a:p>
        </p:txBody>
      </p:sp>
      <p:sp>
        <p:nvSpPr>
          <p:cNvPr id="89" name="Text 87"/>
          <p:cNvSpPr txBox="1"/>
          <p:nvPr/>
        </p:nvSpPr>
        <p:spPr>
          <a:xfrm>
            <a:off x="10515600" y="41605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90" name="Text 88"/>
          <p:cNvSpPr txBox="1"/>
          <p:nvPr/>
        </p:nvSpPr>
        <p:spPr>
          <a:xfrm>
            <a:off x="10808208" y="4114800"/>
            <a:ext cx="1417320" cy="603504"/>
          </a:xfrm>
          <a:prstGeom prst="rect">
            <a:avLst/>
          </a:prstGeom>
          <a:noFill/>
          <a:ln/>
        </p:spPr>
        <p:txBody>
          <a:bodyPr wrap="square" lIns="0" tIns="0" rIns="0" bIns="0" rtlCol="0" anchor="t"/>
          <a:lstStyle/>
          <a:p>
            <a:pPr marL="0" indent="0">
              <a:buNone/>
            </a:pPr>
            <a:r>
              <a:rPr lang="en-US" sz="850" dirty="0">
                <a:solidFill>
                  <a:srgbClr val="2B2B2B"/>
                </a:solidFill>
                <a:latin typeface="Arial" pitchFamily="34" charset="0"/>
                <a:ea typeface="Arial" pitchFamily="34" charset="-122"/>
                <a:cs typeface="Arial" pitchFamily="34" charset="-120"/>
              </a:rPr>
              <a:t>Nudge explains the change and its ₹ impact per order</a:t>
            </a:r>
            <a:endParaRPr lang="en-US" sz="850" dirty="0"/>
          </a:p>
        </p:txBody>
      </p:sp>
      <p:sp>
        <p:nvSpPr>
          <p:cNvPr id="91" name="Shape 89"/>
          <p:cNvSpPr/>
          <p:nvPr/>
        </p:nvSpPr>
        <p:spPr>
          <a:xfrm>
            <a:off x="8211312" y="4718304"/>
            <a:ext cx="219456" cy="219456"/>
          </a:xfrm>
          <a:prstGeom prst="ellipse">
            <a:avLst/>
          </a:prstGeom>
          <a:solidFill>
            <a:srgbClr val="E0457B"/>
          </a:solidFill>
          <a:ln w="12700">
            <a:solidFill>
              <a:srgbClr val="FFFFFF"/>
            </a:solidFill>
            <a:prstDash val="solid"/>
          </a:ln>
        </p:spPr>
        <p:txBody>
          <a:bodyPr/>
          <a:lstStyle/>
          <a:p>
            <a:endParaRPr lang="en-IN"/>
          </a:p>
        </p:txBody>
      </p:sp>
      <p:sp>
        <p:nvSpPr>
          <p:cNvPr id="92" name="Text 90"/>
          <p:cNvSpPr txBox="1"/>
          <p:nvPr/>
        </p:nvSpPr>
        <p:spPr>
          <a:xfrm>
            <a:off x="8211312" y="4718304"/>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93" name="Shape 91"/>
          <p:cNvSpPr/>
          <p:nvPr/>
        </p:nvSpPr>
        <p:spPr>
          <a:xfrm flipH="1">
            <a:off x="8449056" y="4288536"/>
            <a:ext cx="2048256" cy="557784"/>
          </a:xfrm>
          <a:prstGeom prst="line">
            <a:avLst/>
          </a:prstGeom>
          <a:noFill/>
          <a:ln w="19050">
            <a:solidFill>
              <a:srgbClr val="E0457B"/>
            </a:solidFill>
            <a:prstDash val="solid"/>
            <a:tailEnd type="triangle"/>
          </a:ln>
        </p:spPr>
        <p:txBody>
          <a:bodyPr/>
          <a:lstStyle/>
          <a:p>
            <a:endParaRPr lang="en-IN"/>
          </a:p>
        </p:txBody>
      </p:sp>
      <p:sp>
        <p:nvSpPr>
          <p:cNvPr id="94" name="Shape 92"/>
          <p:cNvSpPr/>
          <p:nvPr/>
        </p:nvSpPr>
        <p:spPr>
          <a:xfrm>
            <a:off x="10515600" y="4782312"/>
            <a:ext cx="256032" cy="256032"/>
          </a:xfrm>
          <a:prstGeom prst="ellipse">
            <a:avLst/>
          </a:prstGeom>
          <a:solidFill>
            <a:srgbClr val="E0457B"/>
          </a:solidFill>
          <a:ln w="12700">
            <a:solidFill>
              <a:srgbClr val="FFFFFF"/>
            </a:solidFill>
            <a:prstDash val="solid"/>
          </a:ln>
        </p:spPr>
        <p:txBody>
          <a:bodyPr/>
          <a:lstStyle/>
          <a:p>
            <a:endParaRPr lang="en-IN"/>
          </a:p>
        </p:txBody>
      </p:sp>
      <p:sp>
        <p:nvSpPr>
          <p:cNvPr id="95" name="Text 93"/>
          <p:cNvSpPr txBox="1"/>
          <p:nvPr/>
        </p:nvSpPr>
        <p:spPr>
          <a:xfrm>
            <a:off x="10515600" y="478231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96" name="Text 94"/>
          <p:cNvSpPr txBox="1"/>
          <p:nvPr/>
        </p:nvSpPr>
        <p:spPr>
          <a:xfrm>
            <a:off x="10808208" y="4736592"/>
            <a:ext cx="1417320" cy="603504"/>
          </a:xfrm>
          <a:prstGeom prst="rect">
            <a:avLst/>
          </a:prstGeom>
          <a:noFill/>
          <a:ln/>
        </p:spPr>
        <p:txBody>
          <a:bodyPr wrap="square" lIns="0" tIns="0" rIns="0" bIns="0" rtlCol="0" anchor="t"/>
          <a:lstStyle/>
          <a:p>
            <a:pPr marL="0" indent="0">
              <a:buNone/>
            </a:pPr>
            <a:r>
              <a:rPr lang="en-US" sz="850" dirty="0">
                <a:solidFill>
                  <a:srgbClr val="2B2B2B"/>
                </a:solidFill>
                <a:latin typeface="Arial" pitchFamily="34" charset="0"/>
                <a:ea typeface="Arial" pitchFamily="34" charset="-122"/>
                <a:cs typeface="Arial" pitchFamily="34" charset="-120"/>
              </a:rPr>
              <a:t>Same nudge on WhatsApp, in Hindi or English</a:t>
            </a:r>
            <a:endParaRPr lang="en-US" sz="850" dirty="0"/>
          </a:p>
        </p:txBody>
      </p:sp>
      <p:sp>
        <p:nvSpPr>
          <p:cNvPr id="97" name="Shape 95"/>
          <p:cNvSpPr/>
          <p:nvPr/>
        </p:nvSpPr>
        <p:spPr>
          <a:xfrm>
            <a:off x="10085832" y="4736592"/>
            <a:ext cx="219456" cy="219456"/>
          </a:xfrm>
          <a:prstGeom prst="ellipse">
            <a:avLst/>
          </a:prstGeom>
          <a:solidFill>
            <a:srgbClr val="E0457B"/>
          </a:solidFill>
          <a:ln w="12700">
            <a:solidFill>
              <a:srgbClr val="FFFFFF"/>
            </a:solidFill>
            <a:prstDash val="solid"/>
          </a:ln>
        </p:spPr>
        <p:txBody>
          <a:bodyPr/>
          <a:lstStyle/>
          <a:p>
            <a:endParaRPr lang="en-IN"/>
          </a:p>
        </p:txBody>
      </p:sp>
      <p:sp>
        <p:nvSpPr>
          <p:cNvPr id="98" name="Text 96"/>
          <p:cNvSpPr txBox="1"/>
          <p:nvPr/>
        </p:nvSpPr>
        <p:spPr>
          <a:xfrm>
            <a:off x="10085832" y="4736592"/>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99" name="Shape 97"/>
          <p:cNvSpPr/>
          <p:nvPr/>
        </p:nvSpPr>
        <p:spPr>
          <a:xfrm flipH="1" flipV="1">
            <a:off x="10323576" y="4864608"/>
            <a:ext cx="173736" cy="45720"/>
          </a:xfrm>
          <a:prstGeom prst="line">
            <a:avLst/>
          </a:prstGeom>
          <a:noFill/>
          <a:ln w="19050">
            <a:solidFill>
              <a:srgbClr val="E0457B"/>
            </a:solidFill>
            <a:prstDash val="solid"/>
            <a:tailEnd type="triangle"/>
          </a:ln>
        </p:spPr>
        <p:txBody>
          <a:bodyPr/>
          <a:lstStyle/>
          <a:p>
            <a:endParaRPr lang="en-IN"/>
          </a:p>
        </p:txBody>
      </p:sp>
      <p:sp>
        <p:nvSpPr>
          <p:cNvPr id="100" name="Shape 98"/>
          <p:cNvSpPr/>
          <p:nvPr/>
        </p:nvSpPr>
        <p:spPr>
          <a:xfrm>
            <a:off x="10515600" y="5404104"/>
            <a:ext cx="256032" cy="256032"/>
          </a:xfrm>
          <a:prstGeom prst="ellipse">
            <a:avLst/>
          </a:prstGeom>
          <a:solidFill>
            <a:srgbClr val="E0457B"/>
          </a:solidFill>
          <a:ln w="12700">
            <a:solidFill>
              <a:srgbClr val="FFFFFF"/>
            </a:solidFill>
            <a:prstDash val="solid"/>
          </a:ln>
        </p:spPr>
        <p:txBody>
          <a:bodyPr/>
          <a:lstStyle/>
          <a:p>
            <a:endParaRPr lang="en-IN"/>
          </a:p>
        </p:txBody>
      </p:sp>
      <p:sp>
        <p:nvSpPr>
          <p:cNvPr id="101" name="Text 99"/>
          <p:cNvSpPr txBox="1"/>
          <p:nvPr/>
        </p:nvSpPr>
        <p:spPr>
          <a:xfrm>
            <a:off x="10515600" y="5404104"/>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02" name="Text 100"/>
          <p:cNvSpPr txBox="1"/>
          <p:nvPr/>
        </p:nvSpPr>
        <p:spPr>
          <a:xfrm>
            <a:off x="10808208" y="5358384"/>
            <a:ext cx="1417320" cy="603504"/>
          </a:xfrm>
          <a:prstGeom prst="rect">
            <a:avLst/>
          </a:prstGeom>
          <a:noFill/>
          <a:ln/>
        </p:spPr>
        <p:txBody>
          <a:bodyPr wrap="square" lIns="0" tIns="0" rIns="0" bIns="0" rtlCol="0" anchor="t"/>
          <a:lstStyle/>
          <a:p>
            <a:pPr marL="0" indent="0">
              <a:buNone/>
            </a:pPr>
            <a:r>
              <a:rPr lang="en-US" sz="850" dirty="0">
                <a:solidFill>
                  <a:srgbClr val="2B2B2B"/>
                </a:solidFill>
                <a:latin typeface="Arial" pitchFamily="34" charset="0"/>
                <a:ea typeface="Arial" pitchFamily="34" charset="-122"/>
                <a:cs typeface="Arial" pitchFamily="34" charset="-120"/>
              </a:rPr>
              <a:t>Apply / Ignore: nothing changes without the seller</a:t>
            </a:r>
            <a:endParaRPr lang="en-US" sz="850" dirty="0"/>
          </a:p>
        </p:txBody>
      </p:sp>
      <p:sp>
        <p:nvSpPr>
          <p:cNvPr id="103" name="Shape 101"/>
          <p:cNvSpPr/>
          <p:nvPr/>
        </p:nvSpPr>
        <p:spPr>
          <a:xfrm>
            <a:off x="8055864" y="5458968"/>
            <a:ext cx="219456" cy="219456"/>
          </a:xfrm>
          <a:prstGeom prst="ellipse">
            <a:avLst/>
          </a:prstGeom>
          <a:solidFill>
            <a:srgbClr val="E0457B"/>
          </a:solidFill>
          <a:ln w="12700">
            <a:solidFill>
              <a:srgbClr val="FFFFFF"/>
            </a:solidFill>
            <a:prstDash val="solid"/>
          </a:ln>
        </p:spPr>
        <p:txBody>
          <a:bodyPr/>
          <a:lstStyle/>
          <a:p>
            <a:endParaRPr lang="en-IN"/>
          </a:p>
        </p:txBody>
      </p:sp>
      <p:sp>
        <p:nvSpPr>
          <p:cNvPr id="104" name="Text 102"/>
          <p:cNvSpPr txBox="1"/>
          <p:nvPr/>
        </p:nvSpPr>
        <p:spPr>
          <a:xfrm>
            <a:off x="8055864" y="5458968"/>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05" name="Shape 103"/>
          <p:cNvSpPr/>
          <p:nvPr/>
        </p:nvSpPr>
        <p:spPr>
          <a:xfrm flipH="1">
            <a:off x="8293608" y="5532120"/>
            <a:ext cx="2203704" cy="54864"/>
          </a:xfrm>
          <a:prstGeom prst="line">
            <a:avLst/>
          </a:prstGeom>
          <a:noFill/>
          <a:ln w="19050">
            <a:solidFill>
              <a:srgbClr val="E0457B"/>
            </a:solidFill>
            <a:prstDash val="solid"/>
            <a:tailEnd type="triangle"/>
          </a:ln>
        </p:spPr>
        <p:txBody>
          <a:bodyPr/>
          <a:lstStyle/>
          <a:p>
            <a:endParaRPr lang="en-IN"/>
          </a:p>
        </p:txBody>
      </p:sp>
      <p:sp>
        <p:nvSpPr>
          <p:cNvPr id="106" name="Shape 104"/>
          <p:cNvSpPr/>
          <p:nvPr/>
        </p:nvSpPr>
        <p:spPr>
          <a:xfrm>
            <a:off x="10515600" y="6025896"/>
            <a:ext cx="256032" cy="256032"/>
          </a:xfrm>
          <a:prstGeom prst="ellipse">
            <a:avLst/>
          </a:prstGeom>
          <a:solidFill>
            <a:srgbClr val="E0457B"/>
          </a:solidFill>
          <a:ln w="12700">
            <a:solidFill>
              <a:srgbClr val="FFFFFF"/>
            </a:solidFill>
            <a:prstDash val="solid"/>
          </a:ln>
        </p:spPr>
        <p:txBody>
          <a:bodyPr/>
          <a:lstStyle/>
          <a:p>
            <a:endParaRPr lang="en-IN"/>
          </a:p>
        </p:txBody>
      </p:sp>
      <p:sp>
        <p:nvSpPr>
          <p:cNvPr id="107" name="Text 105"/>
          <p:cNvSpPr txBox="1"/>
          <p:nvPr/>
        </p:nvSpPr>
        <p:spPr>
          <a:xfrm>
            <a:off x="10515600" y="6025896"/>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08" name="Text 106"/>
          <p:cNvSpPr txBox="1"/>
          <p:nvPr/>
        </p:nvSpPr>
        <p:spPr>
          <a:xfrm>
            <a:off x="10808208" y="5980176"/>
            <a:ext cx="1417320" cy="603504"/>
          </a:xfrm>
          <a:prstGeom prst="rect">
            <a:avLst/>
          </a:prstGeom>
          <a:noFill/>
          <a:ln/>
        </p:spPr>
        <p:txBody>
          <a:bodyPr wrap="square" lIns="0" tIns="0" rIns="0" bIns="0" rtlCol="0" anchor="t"/>
          <a:lstStyle/>
          <a:p>
            <a:pPr marL="0" indent="0">
              <a:buNone/>
            </a:pPr>
            <a:r>
              <a:rPr lang="en-US" sz="850" dirty="0">
                <a:solidFill>
                  <a:srgbClr val="2B2B2B"/>
                </a:solidFill>
                <a:latin typeface="Arial" pitchFamily="34" charset="0"/>
                <a:ea typeface="Arial" pitchFamily="34" charset="-122"/>
                <a:cs typeface="Arial" pitchFamily="34" charset="-120"/>
              </a:rPr>
              <a:t>Season result with vs without Sahi Daam</a:t>
            </a:r>
            <a:endParaRPr lang="en-US" sz="850" dirty="0"/>
          </a:p>
        </p:txBody>
      </p:sp>
      <p:sp>
        <p:nvSpPr>
          <p:cNvPr id="109" name="Shape 107"/>
          <p:cNvSpPr/>
          <p:nvPr/>
        </p:nvSpPr>
        <p:spPr>
          <a:xfrm>
            <a:off x="10085832" y="6035040"/>
            <a:ext cx="219456" cy="219456"/>
          </a:xfrm>
          <a:prstGeom prst="ellipse">
            <a:avLst/>
          </a:prstGeom>
          <a:solidFill>
            <a:srgbClr val="E0457B"/>
          </a:solidFill>
          <a:ln w="12700">
            <a:solidFill>
              <a:srgbClr val="FFFFFF"/>
            </a:solidFill>
            <a:prstDash val="solid"/>
          </a:ln>
        </p:spPr>
        <p:txBody>
          <a:bodyPr/>
          <a:lstStyle/>
          <a:p>
            <a:endParaRPr lang="en-IN"/>
          </a:p>
        </p:txBody>
      </p:sp>
      <p:sp>
        <p:nvSpPr>
          <p:cNvPr id="110" name="Text 108"/>
          <p:cNvSpPr txBox="1"/>
          <p:nvPr/>
        </p:nvSpPr>
        <p:spPr>
          <a:xfrm>
            <a:off x="10085832" y="6035040"/>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11" name="Shape 109"/>
          <p:cNvSpPr/>
          <p:nvPr/>
        </p:nvSpPr>
        <p:spPr>
          <a:xfrm flipH="1">
            <a:off x="10323576" y="6153912"/>
            <a:ext cx="173736" cy="9144"/>
          </a:xfrm>
          <a:prstGeom prst="line">
            <a:avLst/>
          </a:prstGeom>
          <a:noFill/>
          <a:ln w="19050">
            <a:solidFill>
              <a:srgbClr val="E0457B"/>
            </a:solidFill>
            <a:prstDash val="solid"/>
            <a:tailEnd type="triangle"/>
          </a:ln>
        </p:spPr>
        <p:txBody>
          <a:bodyPr/>
          <a:lstStyle/>
          <a:p>
            <a:endParaRPr lang="en-IN"/>
          </a:p>
        </p:txBody>
      </p:sp>
      <p:sp>
        <p:nvSpPr>
          <p:cNvPr id="112" name="Text 110"/>
          <p:cNvSpPr txBox="1"/>
          <p:nvPr/>
        </p:nvSpPr>
        <p:spPr>
          <a:xfrm>
            <a:off x="5989320" y="6720840"/>
            <a:ext cx="6217920" cy="329184"/>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User flow</a:t>
            </a:r>
            <a:endParaRPr lang="en-US" sz="1400" dirty="0"/>
          </a:p>
        </p:txBody>
      </p:sp>
      <p:sp>
        <p:nvSpPr>
          <p:cNvPr id="113" name="Shape 111"/>
          <p:cNvSpPr/>
          <p:nvPr/>
        </p:nvSpPr>
        <p:spPr>
          <a:xfrm>
            <a:off x="5989320" y="7059168"/>
            <a:ext cx="1325880" cy="566928"/>
          </a:xfrm>
          <a:prstGeom prst="chevron">
            <a:avLst/>
          </a:prstGeom>
          <a:solidFill>
            <a:srgbClr val="5B0F4E"/>
          </a:solidFill>
          <a:ln w="6350">
            <a:solidFill>
              <a:srgbClr val="FFFFFF"/>
            </a:solidFill>
            <a:prstDash val="solid"/>
          </a:ln>
        </p:spPr>
        <p:txBody>
          <a:bodyPr/>
          <a:lstStyle/>
          <a:p>
            <a:endParaRPr lang="en-IN"/>
          </a:p>
        </p:txBody>
      </p:sp>
      <p:sp>
        <p:nvSpPr>
          <p:cNvPr id="114" name="Text 112"/>
          <p:cNvSpPr txBox="1"/>
          <p:nvPr/>
        </p:nvSpPr>
        <p:spPr>
          <a:xfrm>
            <a:off x="6172200" y="7059168"/>
            <a:ext cx="841248" cy="56692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Listing goes live</a:t>
            </a:r>
            <a:endParaRPr lang="en-US" sz="1000" dirty="0"/>
          </a:p>
        </p:txBody>
      </p:sp>
      <p:sp>
        <p:nvSpPr>
          <p:cNvPr id="115" name="Shape 113"/>
          <p:cNvSpPr/>
          <p:nvPr/>
        </p:nvSpPr>
        <p:spPr>
          <a:xfrm>
            <a:off x="7242048" y="7059168"/>
            <a:ext cx="1325880" cy="566928"/>
          </a:xfrm>
          <a:prstGeom prst="chevron">
            <a:avLst/>
          </a:prstGeom>
          <a:solidFill>
            <a:srgbClr val="8C5A80"/>
          </a:solidFill>
          <a:ln w="6350">
            <a:solidFill>
              <a:srgbClr val="FFFFFF"/>
            </a:solidFill>
            <a:prstDash val="solid"/>
          </a:ln>
        </p:spPr>
        <p:txBody>
          <a:bodyPr/>
          <a:lstStyle/>
          <a:p>
            <a:endParaRPr lang="en-IN"/>
          </a:p>
        </p:txBody>
      </p:sp>
      <p:sp>
        <p:nvSpPr>
          <p:cNvPr id="116" name="Text 114"/>
          <p:cNvSpPr txBox="1"/>
          <p:nvPr/>
        </p:nvSpPr>
        <p:spPr>
          <a:xfrm>
            <a:off x="7424928" y="7059168"/>
            <a:ext cx="960120" cy="56692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Signals watched</a:t>
            </a:r>
            <a:endParaRPr lang="en-US" sz="1000" dirty="0"/>
          </a:p>
        </p:txBody>
      </p:sp>
      <p:sp>
        <p:nvSpPr>
          <p:cNvPr id="117" name="Shape 115"/>
          <p:cNvSpPr/>
          <p:nvPr/>
        </p:nvSpPr>
        <p:spPr>
          <a:xfrm>
            <a:off x="8494776" y="7059168"/>
            <a:ext cx="1325880" cy="566928"/>
          </a:xfrm>
          <a:prstGeom prst="chevron">
            <a:avLst/>
          </a:prstGeom>
          <a:solidFill>
            <a:srgbClr val="5B0F4E"/>
          </a:solidFill>
          <a:ln w="6350">
            <a:solidFill>
              <a:srgbClr val="FFFFFF"/>
            </a:solidFill>
            <a:prstDash val="solid"/>
          </a:ln>
        </p:spPr>
        <p:txBody>
          <a:bodyPr/>
          <a:lstStyle/>
          <a:p>
            <a:endParaRPr lang="en-IN"/>
          </a:p>
        </p:txBody>
      </p:sp>
      <p:sp>
        <p:nvSpPr>
          <p:cNvPr id="118" name="Text 116"/>
          <p:cNvSpPr txBox="1"/>
          <p:nvPr/>
        </p:nvSpPr>
        <p:spPr>
          <a:xfrm>
            <a:off x="8677656" y="7059168"/>
            <a:ext cx="1005840" cy="56692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Trigger fires</a:t>
            </a:r>
            <a:endParaRPr lang="en-US" sz="1000" dirty="0"/>
          </a:p>
        </p:txBody>
      </p:sp>
      <p:sp>
        <p:nvSpPr>
          <p:cNvPr id="119" name="Shape 117"/>
          <p:cNvSpPr/>
          <p:nvPr/>
        </p:nvSpPr>
        <p:spPr>
          <a:xfrm>
            <a:off x="9747504" y="7059168"/>
            <a:ext cx="1325880" cy="566928"/>
          </a:xfrm>
          <a:prstGeom prst="chevron">
            <a:avLst/>
          </a:prstGeom>
          <a:solidFill>
            <a:srgbClr val="8C5A80"/>
          </a:solidFill>
          <a:ln w="6350">
            <a:solidFill>
              <a:srgbClr val="FFFFFF"/>
            </a:solidFill>
            <a:prstDash val="solid"/>
          </a:ln>
        </p:spPr>
        <p:txBody>
          <a:bodyPr/>
          <a:lstStyle/>
          <a:p>
            <a:endParaRPr lang="en-IN"/>
          </a:p>
        </p:txBody>
      </p:sp>
      <p:sp>
        <p:nvSpPr>
          <p:cNvPr id="120" name="Text 118"/>
          <p:cNvSpPr txBox="1"/>
          <p:nvPr/>
        </p:nvSpPr>
        <p:spPr>
          <a:xfrm>
            <a:off x="9930384" y="7059168"/>
            <a:ext cx="1005840" cy="56692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Nudge with ₹ impact</a:t>
            </a:r>
            <a:endParaRPr lang="en-US" sz="1000" dirty="0"/>
          </a:p>
        </p:txBody>
      </p:sp>
      <p:sp>
        <p:nvSpPr>
          <p:cNvPr id="121" name="Shape 119"/>
          <p:cNvSpPr/>
          <p:nvPr/>
        </p:nvSpPr>
        <p:spPr>
          <a:xfrm>
            <a:off x="11000232" y="7059168"/>
            <a:ext cx="1325880" cy="566928"/>
          </a:xfrm>
          <a:prstGeom prst="chevron">
            <a:avLst/>
          </a:prstGeom>
          <a:solidFill>
            <a:srgbClr val="5B0F4E"/>
          </a:solidFill>
          <a:ln w="6350">
            <a:solidFill>
              <a:srgbClr val="FFFFFF"/>
            </a:solidFill>
            <a:prstDash val="solid"/>
          </a:ln>
        </p:spPr>
        <p:txBody>
          <a:bodyPr/>
          <a:lstStyle/>
          <a:p>
            <a:endParaRPr lang="en-IN"/>
          </a:p>
        </p:txBody>
      </p:sp>
      <p:sp>
        <p:nvSpPr>
          <p:cNvPr id="122" name="Text 120"/>
          <p:cNvSpPr txBox="1"/>
          <p:nvPr/>
        </p:nvSpPr>
        <p:spPr>
          <a:xfrm>
            <a:off x="11183112" y="7059168"/>
            <a:ext cx="715663" cy="56692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Apply / Ignore</a:t>
            </a:r>
            <a:endParaRPr lang="en-US" sz="1000" dirty="0"/>
          </a:p>
        </p:txBody>
      </p:sp>
      <p:sp>
        <p:nvSpPr>
          <p:cNvPr id="123" name="Text 121"/>
          <p:cNvSpPr txBox="1"/>
          <p:nvPr/>
        </p:nvSpPr>
        <p:spPr>
          <a:xfrm>
            <a:off x="5989320" y="7726680"/>
            <a:ext cx="5446467" cy="228600"/>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System architecture</a:t>
            </a:r>
            <a:endParaRPr lang="en-US" sz="1400" dirty="0"/>
          </a:p>
        </p:txBody>
      </p:sp>
      <p:sp>
        <p:nvSpPr>
          <p:cNvPr id="124" name="Shape 122"/>
          <p:cNvSpPr/>
          <p:nvPr/>
        </p:nvSpPr>
        <p:spPr>
          <a:xfrm>
            <a:off x="5989320" y="8065008"/>
            <a:ext cx="1371600" cy="1298448"/>
          </a:xfrm>
          <a:prstGeom prst="roundRect">
            <a:avLst>
              <a:gd name="adj" fmla="val 5634"/>
            </a:avLst>
          </a:prstGeom>
          <a:solidFill>
            <a:srgbClr val="F4F4F4"/>
          </a:solidFill>
          <a:ln w="12700">
            <a:solidFill>
              <a:srgbClr val="F4F4F4"/>
            </a:solidFill>
            <a:prstDash val="solid"/>
          </a:ln>
        </p:spPr>
        <p:txBody>
          <a:bodyPr/>
          <a:lstStyle/>
          <a:p>
            <a:endParaRPr lang="en-IN"/>
          </a:p>
        </p:txBody>
      </p:sp>
      <p:sp>
        <p:nvSpPr>
          <p:cNvPr id="125" name="Text 123"/>
          <p:cNvSpPr txBox="1"/>
          <p:nvPr/>
        </p:nvSpPr>
        <p:spPr>
          <a:xfrm>
            <a:off x="6044184" y="8092440"/>
            <a:ext cx="1261872" cy="292608"/>
          </a:xfrm>
          <a:prstGeom prst="rect">
            <a:avLst/>
          </a:prstGeom>
          <a:noFill/>
          <a:ln/>
        </p:spPr>
        <p:txBody>
          <a:bodyPr wrap="square" lIns="0" tIns="0" rIns="0" bIns="0" rtlCol="0" anchor="t"/>
          <a:lstStyle/>
          <a:p>
            <a:pPr marL="0" indent="0">
              <a:buNone/>
            </a:pPr>
            <a:r>
              <a:rPr lang="en-US" sz="1050" b="1" dirty="0">
                <a:solidFill>
                  <a:srgbClr val="5B0F4E"/>
                </a:solidFill>
                <a:latin typeface="Arial" pitchFamily="34" charset="0"/>
                <a:ea typeface="Arial" pitchFamily="34" charset="-122"/>
                <a:cs typeface="Arial" pitchFamily="34" charset="-120"/>
              </a:rPr>
              <a:t>Inputs</a:t>
            </a:r>
            <a:endParaRPr lang="en-US" sz="1050" dirty="0"/>
          </a:p>
        </p:txBody>
      </p:sp>
      <p:sp>
        <p:nvSpPr>
          <p:cNvPr id="126" name="Text 124"/>
          <p:cNvSpPr txBox="1"/>
          <p:nvPr/>
        </p:nvSpPr>
        <p:spPr>
          <a:xfrm>
            <a:off x="6044184" y="8375904"/>
            <a:ext cx="1261872" cy="969264"/>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Views, orders, returns, settlements, fee changes, stock, season dates</a:t>
            </a:r>
            <a:endParaRPr lang="en-US" sz="1000" dirty="0"/>
          </a:p>
        </p:txBody>
      </p:sp>
      <p:sp>
        <p:nvSpPr>
          <p:cNvPr id="127" name="Shape 125"/>
          <p:cNvSpPr/>
          <p:nvPr/>
        </p:nvSpPr>
        <p:spPr>
          <a:xfrm>
            <a:off x="7379208" y="8595360"/>
            <a:ext cx="182880" cy="219456"/>
          </a:xfrm>
          <a:prstGeom prst="rightArrow">
            <a:avLst/>
          </a:prstGeom>
          <a:solidFill>
            <a:srgbClr val="5B0F4E"/>
          </a:solidFill>
          <a:ln w="12700">
            <a:solidFill>
              <a:srgbClr val="5B0F4E"/>
            </a:solidFill>
            <a:prstDash val="solid"/>
          </a:ln>
        </p:spPr>
        <p:txBody>
          <a:bodyPr/>
          <a:lstStyle/>
          <a:p>
            <a:endParaRPr lang="en-IN" sz="1000"/>
          </a:p>
        </p:txBody>
      </p:sp>
      <p:sp>
        <p:nvSpPr>
          <p:cNvPr id="128" name="Shape 126"/>
          <p:cNvSpPr/>
          <p:nvPr/>
        </p:nvSpPr>
        <p:spPr>
          <a:xfrm>
            <a:off x="7571232" y="8065008"/>
            <a:ext cx="1371600" cy="1298448"/>
          </a:xfrm>
          <a:prstGeom prst="roundRect">
            <a:avLst>
              <a:gd name="adj" fmla="val 5634"/>
            </a:avLst>
          </a:prstGeom>
          <a:solidFill>
            <a:srgbClr val="FFF1DC"/>
          </a:solidFill>
          <a:ln w="12700">
            <a:solidFill>
              <a:srgbClr val="FFF1DC"/>
            </a:solidFill>
            <a:prstDash val="solid"/>
          </a:ln>
        </p:spPr>
        <p:txBody>
          <a:bodyPr/>
          <a:lstStyle/>
          <a:p>
            <a:endParaRPr lang="en-IN"/>
          </a:p>
        </p:txBody>
      </p:sp>
      <p:sp>
        <p:nvSpPr>
          <p:cNvPr id="129" name="Text 127"/>
          <p:cNvSpPr txBox="1"/>
          <p:nvPr/>
        </p:nvSpPr>
        <p:spPr>
          <a:xfrm>
            <a:off x="7626096" y="8092440"/>
            <a:ext cx="1261872" cy="292608"/>
          </a:xfrm>
          <a:prstGeom prst="rect">
            <a:avLst/>
          </a:prstGeom>
          <a:noFill/>
          <a:ln/>
        </p:spPr>
        <p:txBody>
          <a:bodyPr wrap="square" lIns="0" tIns="0" rIns="0" bIns="0" rtlCol="0" anchor="t"/>
          <a:lstStyle/>
          <a:p>
            <a:pPr marL="0" indent="0">
              <a:buNone/>
            </a:pPr>
            <a:r>
              <a:rPr lang="en-US" sz="1050" b="1" dirty="0">
                <a:solidFill>
                  <a:srgbClr val="C9660A"/>
                </a:solidFill>
                <a:latin typeface="Arial" pitchFamily="34" charset="0"/>
                <a:ea typeface="Arial" pitchFamily="34" charset="-122"/>
                <a:cs typeface="Arial" pitchFamily="34" charset="-120"/>
              </a:rPr>
              <a:t>Engine</a:t>
            </a:r>
            <a:endParaRPr lang="en-US" sz="1050" dirty="0"/>
          </a:p>
        </p:txBody>
      </p:sp>
      <p:sp>
        <p:nvSpPr>
          <p:cNvPr id="130" name="Text 128"/>
          <p:cNvSpPr txBox="1"/>
          <p:nvPr/>
        </p:nvSpPr>
        <p:spPr>
          <a:xfrm>
            <a:off x="7626096" y="8375904"/>
            <a:ext cx="1261872" cy="969264"/>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Poisson launch screen; floor recalculation; markdown ladder ≥ clearance floor</a:t>
            </a:r>
            <a:endParaRPr lang="en-US" sz="1000" dirty="0"/>
          </a:p>
        </p:txBody>
      </p:sp>
      <p:sp>
        <p:nvSpPr>
          <p:cNvPr id="131" name="Shape 129"/>
          <p:cNvSpPr/>
          <p:nvPr/>
        </p:nvSpPr>
        <p:spPr>
          <a:xfrm>
            <a:off x="8961120" y="8595360"/>
            <a:ext cx="182880" cy="219456"/>
          </a:xfrm>
          <a:prstGeom prst="rightArrow">
            <a:avLst/>
          </a:prstGeom>
          <a:solidFill>
            <a:srgbClr val="5B0F4E"/>
          </a:solidFill>
          <a:ln w="12700">
            <a:solidFill>
              <a:srgbClr val="5B0F4E"/>
            </a:solidFill>
            <a:prstDash val="solid"/>
          </a:ln>
        </p:spPr>
        <p:txBody>
          <a:bodyPr/>
          <a:lstStyle/>
          <a:p>
            <a:endParaRPr lang="en-IN" sz="1000"/>
          </a:p>
        </p:txBody>
      </p:sp>
      <p:sp>
        <p:nvSpPr>
          <p:cNvPr id="132" name="Shape 130"/>
          <p:cNvSpPr/>
          <p:nvPr/>
        </p:nvSpPr>
        <p:spPr>
          <a:xfrm>
            <a:off x="9153144" y="8065008"/>
            <a:ext cx="1371600" cy="1298448"/>
          </a:xfrm>
          <a:prstGeom prst="roundRect">
            <a:avLst>
              <a:gd name="adj" fmla="val 5634"/>
            </a:avLst>
          </a:prstGeom>
          <a:solidFill>
            <a:srgbClr val="F4F4F4"/>
          </a:solidFill>
          <a:ln w="12700">
            <a:solidFill>
              <a:srgbClr val="F4F4F4"/>
            </a:solidFill>
            <a:prstDash val="solid"/>
          </a:ln>
        </p:spPr>
        <p:txBody>
          <a:bodyPr/>
          <a:lstStyle/>
          <a:p>
            <a:endParaRPr lang="en-IN"/>
          </a:p>
        </p:txBody>
      </p:sp>
      <p:sp>
        <p:nvSpPr>
          <p:cNvPr id="133" name="Text 131"/>
          <p:cNvSpPr txBox="1"/>
          <p:nvPr/>
        </p:nvSpPr>
        <p:spPr>
          <a:xfrm>
            <a:off x="9208008" y="8092440"/>
            <a:ext cx="1261872" cy="292608"/>
          </a:xfrm>
          <a:prstGeom prst="rect">
            <a:avLst/>
          </a:prstGeom>
          <a:noFill/>
          <a:ln/>
        </p:spPr>
        <p:txBody>
          <a:bodyPr wrap="square" lIns="0" tIns="0" rIns="0" bIns="0" rtlCol="0" anchor="t"/>
          <a:lstStyle/>
          <a:p>
            <a:pPr marL="0" indent="0">
              <a:buNone/>
            </a:pPr>
            <a:r>
              <a:rPr lang="en-US" sz="1050" b="1" dirty="0">
                <a:solidFill>
                  <a:srgbClr val="5B0F4E"/>
                </a:solidFill>
                <a:latin typeface="Arial" pitchFamily="34" charset="0"/>
                <a:ea typeface="Arial" pitchFamily="34" charset="-122"/>
                <a:cs typeface="Arial" pitchFamily="34" charset="-120"/>
              </a:rPr>
              <a:t>Outputs</a:t>
            </a:r>
            <a:endParaRPr lang="en-US" sz="1050" dirty="0"/>
          </a:p>
        </p:txBody>
      </p:sp>
      <p:sp>
        <p:nvSpPr>
          <p:cNvPr id="134" name="Text 132"/>
          <p:cNvSpPr txBox="1"/>
          <p:nvPr/>
        </p:nvSpPr>
        <p:spPr>
          <a:xfrm>
            <a:off x="9208008" y="8375904"/>
            <a:ext cx="1261872" cy="969264"/>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One nudge with ₹ impact and a suggested action</a:t>
            </a:r>
            <a:endParaRPr lang="en-US" sz="1000" dirty="0"/>
          </a:p>
        </p:txBody>
      </p:sp>
      <p:sp>
        <p:nvSpPr>
          <p:cNvPr id="135" name="Shape 133"/>
          <p:cNvSpPr/>
          <p:nvPr/>
        </p:nvSpPr>
        <p:spPr>
          <a:xfrm>
            <a:off x="10543032" y="8595360"/>
            <a:ext cx="182880" cy="219456"/>
          </a:xfrm>
          <a:prstGeom prst="rightArrow">
            <a:avLst/>
          </a:prstGeom>
          <a:solidFill>
            <a:srgbClr val="5B0F4E"/>
          </a:solidFill>
          <a:ln w="12700">
            <a:solidFill>
              <a:srgbClr val="5B0F4E"/>
            </a:solidFill>
            <a:prstDash val="solid"/>
          </a:ln>
        </p:spPr>
        <p:txBody>
          <a:bodyPr/>
          <a:lstStyle/>
          <a:p>
            <a:endParaRPr lang="en-IN" sz="1000"/>
          </a:p>
        </p:txBody>
      </p:sp>
      <p:sp>
        <p:nvSpPr>
          <p:cNvPr id="136" name="Shape 134"/>
          <p:cNvSpPr/>
          <p:nvPr/>
        </p:nvSpPr>
        <p:spPr>
          <a:xfrm>
            <a:off x="10735056" y="8065008"/>
            <a:ext cx="1371600" cy="1298448"/>
          </a:xfrm>
          <a:prstGeom prst="roundRect">
            <a:avLst>
              <a:gd name="adj" fmla="val 5634"/>
            </a:avLst>
          </a:prstGeom>
          <a:solidFill>
            <a:srgbClr val="F4F4F4"/>
          </a:solidFill>
          <a:ln w="12700">
            <a:solidFill>
              <a:srgbClr val="F4F4F4"/>
            </a:solidFill>
            <a:prstDash val="solid"/>
          </a:ln>
        </p:spPr>
        <p:txBody>
          <a:bodyPr/>
          <a:lstStyle/>
          <a:p>
            <a:endParaRPr lang="en-IN"/>
          </a:p>
        </p:txBody>
      </p:sp>
      <p:sp>
        <p:nvSpPr>
          <p:cNvPr id="137" name="Text 135"/>
          <p:cNvSpPr txBox="1"/>
          <p:nvPr/>
        </p:nvSpPr>
        <p:spPr>
          <a:xfrm>
            <a:off x="10789920" y="8092440"/>
            <a:ext cx="1261872" cy="292608"/>
          </a:xfrm>
          <a:prstGeom prst="rect">
            <a:avLst/>
          </a:prstGeom>
          <a:noFill/>
          <a:ln/>
        </p:spPr>
        <p:txBody>
          <a:bodyPr wrap="square" lIns="0" tIns="0" rIns="0" bIns="0" rtlCol="0" anchor="t"/>
          <a:lstStyle/>
          <a:p>
            <a:pPr marL="0" indent="0">
              <a:buNone/>
            </a:pPr>
            <a:r>
              <a:rPr lang="en-US" sz="1050" b="1" dirty="0">
                <a:solidFill>
                  <a:srgbClr val="5B0F4E"/>
                </a:solidFill>
                <a:latin typeface="Arial" pitchFamily="34" charset="0"/>
                <a:ea typeface="Arial" pitchFamily="34" charset="-122"/>
                <a:cs typeface="Arial" pitchFamily="34" charset="-120"/>
              </a:rPr>
              <a:t>Touchpoints</a:t>
            </a:r>
            <a:endParaRPr lang="en-US" sz="1050" dirty="0"/>
          </a:p>
        </p:txBody>
      </p:sp>
      <p:sp>
        <p:nvSpPr>
          <p:cNvPr id="138" name="Text 136"/>
          <p:cNvSpPr txBox="1"/>
          <p:nvPr/>
        </p:nvSpPr>
        <p:spPr>
          <a:xfrm>
            <a:off x="10789920" y="8375904"/>
            <a:ext cx="1261872" cy="969264"/>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WhatsApp / app notification → price edit screen</a:t>
            </a:r>
            <a:endParaRPr lang="en-US" sz="1000" dirty="0"/>
          </a:p>
        </p:txBody>
      </p:sp>
      <p:sp>
        <p:nvSpPr>
          <p:cNvPr id="139" name="Text 137"/>
          <p:cNvSpPr txBox="1"/>
          <p:nvPr/>
        </p:nvSpPr>
        <p:spPr>
          <a:xfrm>
            <a:off x="12435840" y="3127248"/>
            <a:ext cx="5394960" cy="329184"/>
          </a:xfrm>
          <a:prstGeom prst="rect">
            <a:avLst/>
          </a:prstGeom>
          <a:noFill/>
          <a:ln/>
        </p:spPr>
        <p:txBody>
          <a:bodyPr wrap="square" lIns="0" tIns="0" rIns="0" bIns="0" rtlCol="0" anchor="t"/>
          <a:lstStyle/>
          <a:p>
            <a:pPr marL="0" indent="0">
              <a:buNone/>
            </a:pPr>
            <a:r>
              <a:rPr lang="en-US" b="1" dirty="0">
                <a:solidFill>
                  <a:srgbClr val="5B0F4E"/>
                </a:solidFill>
                <a:latin typeface="Arial" pitchFamily="34" charset="0"/>
                <a:ea typeface="Arial" pitchFamily="34" charset="-122"/>
                <a:cs typeface="Arial" pitchFamily="34" charset="-120"/>
              </a:rPr>
              <a:t>Value proposition</a:t>
            </a:r>
            <a:endParaRPr lang="en-US" dirty="0"/>
          </a:p>
        </p:txBody>
      </p:sp>
      <p:sp>
        <p:nvSpPr>
          <p:cNvPr id="140" name="Shape 138"/>
          <p:cNvSpPr/>
          <p:nvPr/>
        </p:nvSpPr>
        <p:spPr>
          <a:xfrm>
            <a:off x="12435840" y="3474720"/>
            <a:ext cx="2651760" cy="1417320"/>
          </a:xfrm>
          <a:prstGeom prst="roundRect">
            <a:avLst>
              <a:gd name="adj" fmla="val 7742"/>
            </a:avLst>
          </a:prstGeom>
          <a:solidFill>
            <a:srgbClr val="F3E8F1"/>
          </a:solidFill>
          <a:ln w="12700">
            <a:solidFill>
              <a:srgbClr val="F3E8F1"/>
            </a:solidFill>
            <a:prstDash val="solid"/>
          </a:ln>
        </p:spPr>
        <p:txBody>
          <a:bodyPr/>
          <a:lstStyle/>
          <a:p>
            <a:endParaRPr lang="en-IN"/>
          </a:p>
        </p:txBody>
      </p:sp>
      <p:sp>
        <p:nvSpPr>
          <p:cNvPr id="141" name="Text 139"/>
          <p:cNvSpPr txBox="1"/>
          <p:nvPr/>
        </p:nvSpPr>
        <p:spPr>
          <a:xfrm>
            <a:off x="12527280" y="3511296"/>
            <a:ext cx="2468880" cy="274320"/>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For the seller</a:t>
            </a:r>
            <a:endParaRPr lang="en-US" sz="1400" dirty="0"/>
          </a:p>
        </p:txBody>
      </p:sp>
      <p:sp>
        <p:nvSpPr>
          <p:cNvPr id="142" name="Text 140"/>
          <p:cNvSpPr txBox="1"/>
          <p:nvPr/>
        </p:nvSpPr>
        <p:spPr>
          <a:xfrm>
            <a:off x="12527280" y="3794760"/>
            <a:ext cx="2468880" cy="1078992"/>
          </a:xfrm>
          <a:prstGeom prst="rect">
            <a:avLst/>
          </a:prstGeom>
          <a:noFill/>
          <a:ln/>
        </p:spPr>
        <p:txBody>
          <a:bodyPr wrap="square" lIns="0" tIns="0" rIns="0" bIns="0" rtlCol="0" anchor="t"/>
          <a:lstStyle/>
          <a:p>
            <a:pPr marL="0" indent="0">
              <a:buNone/>
            </a:pPr>
            <a:r>
              <a:rPr lang="en-US" sz="1200" dirty="0">
                <a:solidFill>
                  <a:srgbClr val="2B2B2B"/>
                </a:solidFill>
                <a:latin typeface="Arial" pitchFamily="34" charset="0"/>
                <a:ea typeface="Arial" pitchFamily="34" charset="-122"/>
                <a:cs typeface="Arial" pitchFamily="34" charset="-120"/>
              </a:rPr>
              <a:t>Never leave a wrong price running: one clear message, in rupees and in your language, only when something changes.</a:t>
            </a:r>
            <a:endParaRPr lang="en-US" sz="1200" dirty="0"/>
          </a:p>
        </p:txBody>
      </p:sp>
      <p:sp>
        <p:nvSpPr>
          <p:cNvPr id="143" name="Shape 141"/>
          <p:cNvSpPr/>
          <p:nvPr/>
        </p:nvSpPr>
        <p:spPr>
          <a:xfrm>
            <a:off x="15179040" y="3474720"/>
            <a:ext cx="2651760" cy="1417320"/>
          </a:xfrm>
          <a:prstGeom prst="roundRect">
            <a:avLst>
              <a:gd name="adj" fmla="val 7742"/>
            </a:avLst>
          </a:prstGeom>
          <a:solidFill>
            <a:srgbClr val="FFF1DC"/>
          </a:solidFill>
          <a:ln w="12700">
            <a:solidFill>
              <a:srgbClr val="FFF1DC"/>
            </a:solidFill>
            <a:prstDash val="solid"/>
          </a:ln>
        </p:spPr>
        <p:txBody>
          <a:bodyPr/>
          <a:lstStyle/>
          <a:p>
            <a:endParaRPr lang="en-IN"/>
          </a:p>
        </p:txBody>
      </p:sp>
      <p:sp>
        <p:nvSpPr>
          <p:cNvPr id="144" name="Text 142"/>
          <p:cNvSpPr txBox="1"/>
          <p:nvPr/>
        </p:nvSpPr>
        <p:spPr>
          <a:xfrm>
            <a:off x="15270480" y="3511296"/>
            <a:ext cx="2468880" cy="274320"/>
          </a:xfrm>
          <a:prstGeom prst="rect">
            <a:avLst/>
          </a:prstGeom>
          <a:noFill/>
          <a:ln/>
        </p:spPr>
        <p:txBody>
          <a:bodyPr wrap="square" lIns="0" tIns="0" rIns="0" bIns="0" rtlCol="0" anchor="t"/>
          <a:lstStyle/>
          <a:p>
            <a:pPr marL="0" indent="0">
              <a:buNone/>
            </a:pPr>
            <a:r>
              <a:rPr lang="en-US" sz="1400" b="1" dirty="0">
                <a:solidFill>
                  <a:srgbClr val="C9660A"/>
                </a:solidFill>
                <a:latin typeface="Arial" pitchFamily="34" charset="0"/>
                <a:ea typeface="Arial" pitchFamily="34" charset="-122"/>
                <a:cs typeface="Arial" pitchFamily="34" charset="-120"/>
              </a:rPr>
              <a:t>For Meesho</a:t>
            </a:r>
            <a:endParaRPr lang="en-US" sz="1400" dirty="0"/>
          </a:p>
        </p:txBody>
      </p:sp>
      <p:sp>
        <p:nvSpPr>
          <p:cNvPr id="145" name="Text 143"/>
          <p:cNvSpPr txBox="1"/>
          <p:nvPr/>
        </p:nvSpPr>
        <p:spPr>
          <a:xfrm>
            <a:off x="15270480" y="3794760"/>
            <a:ext cx="2468880" cy="1078992"/>
          </a:xfrm>
          <a:prstGeom prst="rect">
            <a:avLst/>
          </a:prstGeom>
          <a:noFill/>
          <a:ln/>
        </p:spPr>
        <p:txBody>
          <a:bodyPr wrap="square" lIns="0" tIns="0" rIns="0" bIns="0" rtlCol="0" anchor="t"/>
          <a:lstStyle/>
          <a:p>
            <a:pPr marL="0" indent="0">
              <a:buNone/>
            </a:pPr>
            <a:r>
              <a:rPr lang="en-US" sz="1200" dirty="0">
                <a:solidFill>
                  <a:srgbClr val="2B2B2B"/>
                </a:solidFill>
                <a:latin typeface="Arial" pitchFamily="34" charset="0"/>
                <a:ea typeface="Arial" pitchFamily="34" charset="-122"/>
                <a:cs typeface="Arial" pitchFamily="34" charset="-120"/>
              </a:rPr>
              <a:t>Fewer stale and below-floor listings, less dead stock and fewer settlement disputes, so more sellers survive their first season.</a:t>
            </a:r>
            <a:endParaRPr lang="en-US" sz="1200" dirty="0"/>
          </a:p>
        </p:txBody>
      </p:sp>
      <p:sp>
        <p:nvSpPr>
          <p:cNvPr id="146" name="Text 144"/>
          <p:cNvSpPr txBox="1"/>
          <p:nvPr/>
        </p:nvSpPr>
        <p:spPr>
          <a:xfrm>
            <a:off x="12435840" y="5010912"/>
            <a:ext cx="5394960" cy="329184"/>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Does this actually solve the problem?</a:t>
            </a:r>
            <a:endParaRPr lang="en-US" sz="1400" dirty="0"/>
          </a:p>
        </p:txBody>
      </p:sp>
      <p:sp>
        <p:nvSpPr>
          <p:cNvPr id="147" name="Shape 145"/>
          <p:cNvSpPr/>
          <p:nvPr/>
        </p:nvSpPr>
        <p:spPr>
          <a:xfrm>
            <a:off x="12435840" y="5358384"/>
            <a:ext cx="685800" cy="329184"/>
          </a:xfrm>
          <a:prstGeom prst="roundRect">
            <a:avLst>
              <a:gd name="adj" fmla="val 16667"/>
            </a:avLst>
          </a:prstGeom>
          <a:solidFill>
            <a:srgbClr val="1E8E3E"/>
          </a:solidFill>
          <a:ln w="12700">
            <a:solidFill>
              <a:srgbClr val="1E8E3E"/>
            </a:solidFill>
            <a:prstDash val="solid"/>
          </a:ln>
        </p:spPr>
        <p:txBody>
          <a:bodyPr/>
          <a:lstStyle/>
          <a:p>
            <a:endParaRPr lang="en-IN"/>
          </a:p>
        </p:txBody>
      </p:sp>
      <p:sp>
        <p:nvSpPr>
          <p:cNvPr id="148" name="Text 146"/>
          <p:cNvSpPr txBox="1"/>
          <p:nvPr/>
        </p:nvSpPr>
        <p:spPr>
          <a:xfrm>
            <a:off x="12435840" y="5358384"/>
            <a:ext cx="6858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YES</a:t>
            </a:r>
            <a:endParaRPr lang="en-US" sz="1200" dirty="0"/>
          </a:p>
        </p:txBody>
      </p:sp>
      <p:sp>
        <p:nvSpPr>
          <p:cNvPr id="149" name="Text 147"/>
          <p:cNvSpPr txBox="1"/>
          <p:nvPr/>
        </p:nvSpPr>
        <p:spPr>
          <a:xfrm>
            <a:off x="13213080" y="5340096"/>
            <a:ext cx="4617720" cy="384048"/>
          </a:xfrm>
          <a:prstGeom prst="rect">
            <a:avLst/>
          </a:prstGeom>
          <a:noFill/>
          <a:ln/>
        </p:spPr>
        <p:txBody>
          <a:bodyPr wrap="square" lIns="0" tIns="0" rIns="0" bIns="0" rtlCol="0" anchor="ctr"/>
          <a:lstStyle/>
          <a:p>
            <a:pPr marL="0" indent="0">
              <a:buNone/>
            </a:pPr>
            <a:r>
              <a:rPr lang="en-US" sz="1200" i="1" dirty="0">
                <a:solidFill>
                  <a:srgbClr val="2B2B2B"/>
                </a:solidFill>
                <a:latin typeface="Arial" pitchFamily="34" charset="0"/>
                <a:ea typeface="Arial" pitchFamily="34" charset="-122"/>
                <a:cs typeface="Arial" pitchFamily="34" charset="-120"/>
              </a:rPr>
              <a:t>In a 26-week kurti simulation the seller ends the season profitable with no dead stock.</a:t>
            </a:r>
            <a:endParaRPr lang="en-US" sz="1200" dirty="0"/>
          </a:p>
        </p:txBody>
      </p:sp>
      <p:graphicFrame>
        <p:nvGraphicFramePr>
          <p:cNvPr id="150" name="Table 0"/>
          <p:cNvGraphicFramePr>
            <a:graphicFrameLocks noGrp="1"/>
          </p:cNvGraphicFramePr>
          <p:nvPr>
            <p:extLst>
              <p:ext uri="{D42A27DB-BD31-4B8C-83A1-F6EECF244321}">
                <p14:modId xmlns:p14="http://schemas.microsoft.com/office/powerpoint/2010/main" val="1579011935"/>
              </p:ext>
            </p:extLst>
          </p:nvPr>
        </p:nvGraphicFramePr>
        <p:xfrm>
          <a:off x="12435840" y="5779008"/>
          <a:ext cx="5394960" cy="1645920"/>
        </p:xfrm>
        <a:graphic>
          <a:graphicData uri="http://schemas.openxmlformats.org/drawingml/2006/table">
            <a:tbl>
              <a:tblPr/>
              <a:tblGrid>
                <a:gridCol w="23774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329184">
                <a:tc>
                  <a:txBody>
                    <a:bodyPr/>
                    <a:lstStyle/>
                    <a:p>
                      <a:pPr marL="0" indent="0">
                        <a:buNone/>
                      </a:pPr>
                      <a:r>
                        <a:rPr lang="en-US" sz="950" b="1" dirty="0">
                          <a:solidFill>
                            <a:srgbClr val="FFFFFF"/>
                          </a:solidFill>
                          <a:latin typeface="Arial" pitchFamily="34" charset="0"/>
                          <a:ea typeface="Arial" pitchFamily="34" charset="-122"/>
                          <a:cs typeface="Arial" pitchFamily="34" charset="-120"/>
                        </a:rPr>
                        <a:t>Check</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buNone/>
                      </a:pPr>
                      <a:r>
                        <a:rPr lang="en-US" sz="950" b="1" dirty="0">
                          <a:solidFill>
                            <a:srgbClr val="FFFFFF"/>
                          </a:solidFill>
                          <a:latin typeface="Arial" pitchFamily="34" charset="0"/>
                          <a:ea typeface="Arial" pitchFamily="34" charset="-122"/>
                          <a:cs typeface="Arial" pitchFamily="34" charset="-120"/>
                        </a:rPr>
                        <a:t>Before</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buNone/>
                      </a:pPr>
                      <a:r>
                        <a:rPr lang="en-US" sz="950" b="1" dirty="0">
                          <a:solidFill>
                            <a:srgbClr val="FFFFFF"/>
                          </a:solidFill>
                          <a:latin typeface="Arial" pitchFamily="34" charset="0"/>
                          <a:ea typeface="Arial" pitchFamily="34" charset="-122"/>
                          <a:cs typeface="Arial" pitchFamily="34" charset="-120"/>
                        </a:rPr>
                        <a:t>With feature</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extLst>
                  <a:ext uri="{0D108BD9-81ED-4DB2-BD59-A6C34878D82A}">
                    <a16:rowId xmlns:a16="http://schemas.microsoft.com/office/drawing/2014/main" val="10000"/>
                  </a:ext>
                </a:extLst>
              </a:tr>
              <a:tr h="329184">
                <a:tc>
                  <a:txBody>
                    <a:bodyPr/>
                    <a:lstStyle/>
                    <a:p>
                      <a:pPr marL="0" indent="0">
                        <a:buNone/>
                      </a:pPr>
                      <a:r>
                        <a:rPr lang="en-US" sz="950" dirty="0">
                          <a:solidFill>
                            <a:srgbClr val="000000"/>
                          </a:solidFill>
                          <a:latin typeface="Arial" pitchFamily="34" charset="0"/>
                          <a:ea typeface="Arial" pitchFamily="34" charset="-122"/>
                          <a:cs typeface="Arial" pitchFamily="34" charset="-120"/>
                        </a:rPr>
                        <a:t>Season P&amp;L</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C62828"/>
                          </a:solidFill>
                          <a:latin typeface="Arial" pitchFamily="34" charset="0"/>
                          <a:ea typeface="Arial" pitchFamily="34" charset="-122"/>
                          <a:cs typeface="Arial" pitchFamily="34" charset="-120"/>
                        </a:rPr>
                        <a:t>−₹21,872</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1E8E3E"/>
                          </a:solidFill>
                          <a:latin typeface="Arial" pitchFamily="34" charset="0"/>
                          <a:ea typeface="Arial" pitchFamily="34" charset="-122"/>
                          <a:cs typeface="Arial" pitchFamily="34" charset="-120"/>
                        </a:rPr>
                        <a:t>+₹1,698</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950" dirty="0">
                          <a:solidFill>
                            <a:srgbClr val="000000"/>
                          </a:solidFill>
                          <a:latin typeface="Arial" pitchFamily="34" charset="0"/>
                          <a:ea typeface="Arial" pitchFamily="34" charset="-122"/>
                          <a:cs typeface="Arial" pitchFamily="34" charset="-120"/>
                        </a:rPr>
                        <a:t>Unsold units at season end</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C62828"/>
                          </a:solidFill>
                          <a:latin typeface="Arial" pitchFamily="34" charset="0"/>
                          <a:ea typeface="Arial" pitchFamily="34" charset="-122"/>
                          <a:cs typeface="Arial" pitchFamily="34" charset="-120"/>
                        </a:rPr>
                        <a:t>97</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1E8E3E"/>
                          </a:solidFill>
                          <a:latin typeface="Arial" pitchFamily="34" charset="0"/>
                          <a:ea typeface="Arial" pitchFamily="34" charset="-122"/>
                          <a:cs typeface="Arial" pitchFamily="34" charset="-120"/>
                        </a:rPr>
                        <a:t>0</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950" dirty="0">
                          <a:solidFill>
                            <a:srgbClr val="000000"/>
                          </a:solidFill>
                          <a:latin typeface="Arial" pitchFamily="34" charset="0"/>
                          <a:ea typeface="Arial" pitchFamily="34" charset="-122"/>
                          <a:cs typeface="Arial" pitchFamily="34" charset="-120"/>
                        </a:rPr>
                        <a:t>Weeks priced below floor</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C62828"/>
                          </a:solidFill>
                          <a:latin typeface="Arial" pitchFamily="34" charset="0"/>
                          <a:ea typeface="Arial" pitchFamily="34" charset="-122"/>
                          <a:cs typeface="Arial" pitchFamily="34" charset="-120"/>
                        </a:rPr>
                        <a:t>20</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1E8E3E"/>
                          </a:solidFill>
                          <a:latin typeface="Arial" pitchFamily="34" charset="0"/>
                          <a:ea typeface="Arial" pitchFamily="34" charset="-122"/>
                          <a:cs typeface="Arial" pitchFamily="34" charset="-120"/>
                        </a:rPr>
                        <a:t>0</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950" dirty="0">
                          <a:solidFill>
                            <a:srgbClr val="000000"/>
                          </a:solidFill>
                          <a:latin typeface="Arial" pitchFamily="34" charset="0"/>
                          <a:ea typeface="Arial" pitchFamily="34" charset="-122"/>
                          <a:cs typeface="Arial" pitchFamily="34" charset="-120"/>
                        </a:rPr>
                        <a:t>False alarm chance (T1)</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C62828"/>
                          </a:solidFill>
                          <a:latin typeface="Arial" pitchFamily="34" charset="0"/>
                          <a:ea typeface="Arial" pitchFamily="34" charset="-122"/>
                          <a:cs typeface="Arial" pitchFamily="34" charset="-120"/>
                        </a:rPr>
                        <a:t>n/a</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buNone/>
                      </a:pPr>
                      <a:r>
                        <a:rPr lang="en-US" sz="950" b="1" dirty="0">
                          <a:solidFill>
                            <a:srgbClr val="1E8E3E"/>
                          </a:solidFill>
                          <a:latin typeface="Arial" pitchFamily="34" charset="0"/>
                          <a:ea typeface="Arial" pitchFamily="34" charset="-122"/>
                          <a:cs typeface="Arial" pitchFamily="34" charset="-120"/>
                        </a:rPr>
                        <a:t>1.1%</a:t>
                      </a:r>
                      <a:endParaRPr lang="en-US" sz="950" dirty="0">
                        <a:latin typeface="Arial" charset="0"/>
                        <a:ea typeface="Arial" charset="0"/>
                        <a:cs typeface="Arial" charset="0"/>
                      </a:endParaRPr>
                    </a:p>
                  </a:txBody>
                  <a:tcPr marL="36576" marR="36576" marT="36576" marB="36576"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51" name="Text 148"/>
          <p:cNvSpPr txBox="1"/>
          <p:nvPr/>
        </p:nvSpPr>
        <p:spPr>
          <a:xfrm>
            <a:off x="12441627" y="7467754"/>
            <a:ext cx="5394960" cy="329184"/>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Benefits</a:t>
            </a:r>
            <a:endParaRPr lang="en-US" sz="1400" dirty="0"/>
          </a:p>
        </p:txBody>
      </p:sp>
      <p:sp>
        <p:nvSpPr>
          <p:cNvPr id="152" name="Shape 149"/>
          <p:cNvSpPr/>
          <p:nvPr/>
        </p:nvSpPr>
        <p:spPr>
          <a:xfrm>
            <a:off x="12435840" y="7726680"/>
            <a:ext cx="2651760" cy="768096"/>
          </a:xfrm>
          <a:prstGeom prst="roundRect">
            <a:avLst>
              <a:gd name="adj" fmla="val 9524"/>
            </a:avLst>
          </a:prstGeom>
          <a:solidFill>
            <a:srgbClr val="E6F4EA"/>
          </a:solidFill>
          <a:ln w="12700">
            <a:solidFill>
              <a:srgbClr val="E6F4EA"/>
            </a:solidFill>
            <a:prstDash val="solid"/>
          </a:ln>
        </p:spPr>
        <p:txBody>
          <a:bodyPr/>
          <a:lstStyle/>
          <a:p>
            <a:endParaRPr lang="en-IN"/>
          </a:p>
        </p:txBody>
      </p:sp>
      <p:sp>
        <p:nvSpPr>
          <p:cNvPr id="153" name="Text 150"/>
          <p:cNvSpPr txBox="1"/>
          <p:nvPr/>
        </p:nvSpPr>
        <p:spPr>
          <a:xfrm>
            <a:off x="12527280" y="7754112"/>
            <a:ext cx="2468880" cy="365760"/>
          </a:xfrm>
          <a:prstGeom prst="rect">
            <a:avLst/>
          </a:prstGeom>
          <a:noFill/>
          <a:ln/>
        </p:spPr>
        <p:txBody>
          <a:bodyPr wrap="square" lIns="0" tIns="0" rIns="0" bIns="0" rtlCol="0" anchor="t"/>
          <a:lstStyle/>
          <a:p>
            <a:pPr marL="0" indent="0">
              <a:buNone/>
            </a:pPr>
            <a:r>
              <a:rPr lang="en-US" sz="1600" b="1" dirty="0">
                <a:solidFill>
                  <a:srgbClr val="1E8E3E"/>
                </a:solidFill>
                <a:latin typeface="Arial" pitchFamily="34" charset="0"/>
                <a:ea typeface="Arial" pitchFamily="34" charset="-122"/>
                <a:cs typeface="Arial" pitchFamily="34" charset="-120"/>
              </a:rPr>
              <a:t>3</a:t>
            </a:r>
            <a:endParaRPr lang="en-US" sz="1600" dirty="0"/>
          </a:p>
        </p:txBody>
      </p:sp>
      <p:sp>
        <p:nvSpPr>
          <p:cNvPr id="154" name="Text 151"/>
          <p:cNvSpPr txBox="1"/>
          <p:nvPr/>
        </p:nvSpPr>
        <p:spPr>
          <a:xfrm>
            <a:off x="12527280" y="8110728"/>
            <a:ext cx="2468880" cy="365760"/>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triggers only: lean, low nudge fatigue</a:t>
            </a:r>
            <a:endParaRPr lang="en-US" sz="1000" dirty="0"/>
          </a:p>
        </p:txBody>
      </p:sp>
      <p:sp>
        <p:nvSpPr>
          <p:cNvPr id="155" name="Shape 152"/>
          <p:cNvSpPr/>
          <p:nvPr/>
        </p:nvSpPr>
        <p:spPr>
          <a:xfrm>
            <a:off x="15179040" y="7726680"/>
            <a:ext cx="2651760" cy="768096"/>
          </a:xfrm>
          <a:prstGeom prst="roundRect">
            <a:avLst>
              <a:gd name="adj" fmla="val 9524"/>
            </a:avLst>
          </a:prstGeom>
          <a:solidFill>
            <a:srgbClr val="F3E8F1"/>
          </a:solidFill>
          <a:ln w="12700">
            <a:solidFill>
              <a:srgbClr val="F3E8F1"/>
            </a:solidFill>
            <a:prstDash val="solid"/>
          </a:ln>
        </p:spPr>
        <p:txBody>
          <a:bodyPr/>
          <a:lstStyle/>
          <a:p>
            <a:endParaRPr lang="en-IN"/>
          </a:p>
        </p:txBody>
      </p:sp>
      <p:sp>
        <p:nvSpPr>
          <p:cNvPr id="156" name="Text 153"/>
          <p:cNvSpPr txBox="1"/>
          <p:nvPr/>
        </p:nvSpPr>
        <p:spPr>
          <a:xfrm>
            <a:off x="15270480" y="7754112"/>
            <a:ext cx="2468880" cy="365760"/>
          </a:xfrm>
          <a:prstGeom prst="rect">
            <a:avLst/>
          </a:prstGeom>
          <a:noFill/>
          <a:ln/>
        </p:spPr>
        <p:txBody>
          <a:bodyPr wrap="square" lIns="0" tIns="0" rIns="0" bIns="0" rtlCol="0" anchor="t"/>
          <a:lstStyle/>
          <a:p>
            <a:pPr marL="0" indent="0">
              <a:buNone/>
            </a:pPr>
            <a:r>
              <a:rPr lang="en-US" sz="1600" b="1" dirty="0">
                <a:solidFill>
                  <a:srgbClr val="5B0F4E"/>
                </a:solidFill>
                <a:latin typeface="Arial" pitchFamily="34" charset="0"/>
                <a:ea typeface="Arial" pitchFamily="34" charset="-122"/>
                <a:cs typeface="Arial" pitchFamily="34" charset="-120"/>
              </a:rPr>
              <a:t>1.1%</a:t>
            </a:r>
            <a:endParaRPr lang="en-US" sz="1600" dirty="0"/>
          </a:p>
        </p:txBody>
      </p:sp>
      <p:sp>
        <p:nvSpPr>
          <p:cNvPr id="157" name="Text 154"/>
          <p:cNvSpPr txBox="1"/>
          <p:nvPr/>
        </p:nvSpPr>
        <p:spPr>
          <a:xfrm>
            <a:off x="15270480" y="8110728"/>
            <a:ext cx="2468880" cy="365760"/>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chance T1 fires on a normal listing</a:t>
            </a:r>
            <a:endParaRPr lang="en-US" sz="1000" dirty="0"/>
          </a:p>
        </p:txBody>
      </p:sp>
      <p:sp>
        <p:nvSpPr>
          <p:cNvPr id="158" name="Shape 155"/>
          <p:cNvSpPr/>
          <p:nvPr/>
        </p:nvSpPr>
        <p:spPr>
          <a:xfrm>
            <a:off x="12435840" y="8567928"/>
            <a:ext cx="2651760" cy="768096"/>
          </a:xfrm>
          <a:prstGeom prst="roundRect">
            <a:avLst>
              <a:gd name="adj" fmla="val 9524"/>
            </a:avLst>
          </a:prstGeom>
          <a:solidFill>
            <a:srgbClr val="F3E8F1"/>
          </a:solidFill>
          <a:ln w="12700">
            <a:solidFill>
              <a:srgbClr val="F3E8F1"/>
            </a:solidFill>
            <a:prstDash val="solid"/>
          </a:ln>
        </p:spPr>
        <p:txBody>
          <a:bodyPr/>
          <a:lstStyle/>
          <a:p>
            <a:endParaRPr lang="en-IN"/>
          </a:p>
        </p:txBody>
      </p:sp>
      <p:sp>
        <p:nvSpPr>
          <p:cNvPr id="159" name="Text 156"/>
          <p:cNvSpPr txBox="1"/>
          <p:nvPr/>
        </p:nvSpPr>
        <p:spPr>
          <a:xfrm>
            <a:off x="12527280" y="8595360"/>
            <a:ext cx="2468880" cy="365760"/>
          </a:xfrm>
          <a:prstGeom prst="rect">
            <a:avLst/>
          </a:prstGeom>
          <a:noFill/>
          <a:ln/>
        </p:spPr>
        <p:txBody>
          <a:bodyPr wrap="square" lIns="0" tIns="0" rIns="0" bIns="0" rtlCol="0" anchor="t"/>
          <a:lstStyle/>
          <a:p>
            <a:pPr marL="0" indent="0">
              <a:buNone/>
            </a:pPr>
            <a:r>
              <a:rPr lang="en-US" sz="1600" b="1" dirty="0">
                <a:solidFill>
                  <a:srgbClr val="5B0F4E"/>
                </a:solidFill>
                <a:latin typeface="Arial" pitchFamily="34" charset="0"/>
                <a:ea typeface="Arial" pitchFamily="34" charset="-122"/>
                <a:cs typeface="Arial" pitchFamily="34" charset="-120"/>
              </a:rPr>
              <a:t>₹124</a:t>
            </a:r>
            <a:endParaRPr lang="en-US" sz="1600" dirty="0"/>
          </a:p>
        </p:txBody>
      </p:sp>
      <p:sp>
        <p:nvSpPr>
          <p:cNvPr id="160" name="Text 157"/>
          <p:cNvSpPr txBox="1"/>
          <p:nvPr/>
        </p:nvSpPr>
        <p:spPr>
          <a:xfrm>
            <a:off x="12527280" y="8951976"/>
            <a:ext cx="2468880" cy="365760"/>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clearance floor: markdowns never go below it</a:t>
            </a:r>
            <a:endParaRPr lang="en-US" sz="1000" dirty="0"/>
          </a:p>
        </p:txBody>
      </p:sp>
      <p:sp>
        <p:nvSpPr>
          <p:cNvPr id="161" name="Shape 158"/>
          <p:cNvSpPr/>
          <p:nvPr/>
        </p:nvSpPr>
        <p:spPr>
          <a:xfrm>
            <a:off x="15179040" y="8567928"/>
            <a:ext cx="2651760" cy="768096"/>
          </a:xfrm>
          <a:prstGeom prst="roundRect">
            <a:avLst>
              <a:gd name="adj" fmla="val 9524"/>
            </a:avLst>
          </a:prstGeom>
          <a:solidFill>
            <a:srgbClr val="E6F4EA"/>
          </a:solidFill>
          <a:ln w="12700">
            <a:solidFill>
              <a:srgbClr val="E6F4EA"/>
            </a:solidFill>
            <a:prstDash val="solid"/>
          </a:ln>
        </p:spPr>
        <p:txBody>
          <a:bodyPr/>
          <a:lstStyle/>
          <a:p>
            <a:endParaRPr lang="en-IN"/>
          </a:p>
        </p:txBody>
      </p:sp>
      <p:sp>
        <p:nvSpPr>
          <p:cNvPr id="162" name="Text 159"/>
          <p:cNvSpPr txBox="1"/>
          <p:nvPr/>
        </p:nvSpPr>
        <p:spPr>
          <a:xfrm>
            <a:off x="15270480" y="8595360"/>
            <a:ext cx="2468880" cy="365760"/>
          </a:xfrm>
          <a:prstGeom prst="rect">
            <a:avLst/>
          </a:prstGeom>
          <a:noFill/>
          <a:ln/>
        </p:spPr>
        <p:txBody>
          <a:bodyPr wrap="square" lIns="0" tIns="0" rIns="0" bIns="0" rtlCol="0" anchor="t"/>
          <a:lstStyle/>
          <a:p>
            <a:pPr marL="0" indent="0">
              <a:buNone/>
            </a:pPr>
            <a:r>
              <a:rPr lang="en-US" sz="1600" b="1" dirty="0">
                <a:solidFill>
                  <a:srgbClr val="1E8E3E"/>
                </a:solidFill>
                <a:latin typeface="Arial" pitchFamily="34" charset="0"/>
                <a:ea typeface="Arial" pitchFamily="34" charset="-122"/>
                <a:cs typeface="Arial" pitchFamily="34" charset="-120"/>
              </a:rPr>
              <a:t>0</a:t>
            </a:r>
            <a:endParaRPr lang="en-US" sz="1600" dirty="0"/>
          </a:p>
        </p:txBody>
      </p:sp>
      <p:sp>
        <p:nvSpPr>
          <p:cNvPr id="163" name="Text 160"/>
          <p:cNvSpPr txBox="1"/>
          <p:nvPr/>
        </p:nvSpPr>
        <p:spPr>
          <a:xfrm>
            <a:off x="15270480" y="8951976"/>
            <a:ext cx="2468880" cy="365760"/>
          </a:xfrm>
          <a:prstGeom prst="rect">
            <a:avLst/>
          </a:prstGeom>
          <a:noFill/>
          <a:ln/>
        </p:spPr>
        <p:txBody>
          <a:bodyPr wrap="square" lIns="0" tIns="0" rIns="0" bIns="0" rtlCol="0" anchor="t"/>
          <a:lstStyle/>
          <a:p>
            <a:pPr marL="0" indent="0">
              <a:buNone/>
            </a:pPr>
            <a:r>
              <a:rPr lang="en-US" sz="1000" dirty="0">
                <a:solidFill>
                  <a:srgbClr val="2B2B2B"/>
                </a:solidFill>
                <a:latin typeface="Arial" pitchFamily="34" charset="0"/>
                <a:ea typeface="Arial" pitchFamily="34" charset="-122"/>
                <a:cs typeface="Arial" pitchFamily="34" charset="-120"/>
              </a:rPr>
              <a:t>price changes applied without consent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480560" y="502920"/>
            <a:ext cx="8778240" cy="868680"/>
          </a:xfrm>
          <a:prstGeom prst="rect">
            <a:avLst/>
          </a:prstGeom>
          <a:noFill/>
          <a:ln/>
        </p:spPr>
        <p:txBody>
          <a:bodyPr wrap="square" lIns="0" tIns="0" rIns="0" bIns="0" rtlCol="0" anchor="ctr"/>
          <a:lstStyle/>
          <a:p>
            <a:pPr marL="0" indent="0">
              <a:buNone/>
            </a:pPr>
            <a:r>
              <a:rPr lang="en-US" sz="4000" b="1" dirty="0">
                <a:solidFill>
                  <a:srgbClr val="5B0F4E"/>
                </a:solidFill>
                <a:latin typeface="Arial" pitchFamily="34" charset="0"/>
                <a:ea typeface="Arial" pitchFamily="34" charset="-122"/>
                <a:cs typeface="Arial" pitchFamily="34" charset="-120"/>
              </a:rPr>
              <a:t>Impact &amp; Pitfalls</a:t>
            </a:r>
            <a:endParaRPr lang="en-US" sz="4000" dirty="0"/>
          </a:p>
        </p:txBody>
      </p:sp>
      <p:sp>
        <p:nvSpPr>
          <p:cNvPr id="3" name="Text 1"/>
          <p:cNvSpPr txBox="1"/>
          <p:nvPr/>
        </p:nvSpPr>
        <p:spPr>
          <a:xfrm>
            <a:off x="4480560" y="1371600"/>
            <a:ext cx="8778240" cy="502920"/>
          </a:xfrm>
          <a:prstGeom prst="rect">
            <a:avLst/>
          </a:prstGeom>
          <a:noFill/>
          <a:ln/>
        </p:spPr>
        <p:txBody>
          <a:bodyPr wrap="square" lIns="0" tIns="0" rIns="0" bIns="0" rtlCol="0" anchor="ctr"/>
          <a:lstStyle/>
          <a:p>
            <a:pPr marL="0" indent="0">
              <a:buNone/>
            </a:pPr>
            <a:r>
              <a:rPr lang="en-US" sz="1700" i="1" dirty="0">
                <a:solidFill>
                  <a:srgbClr val="C9660A"/>
                </a:solidFill>
                <a:latin typeface="Arial" pitchFamily="34" charset="0"/>
                <a:ea typeface="Arial" pitchFamily="34" charset="-122"/>
                <a:cs typeface="Arial" pitchFamily="34" charset="-120"/>
              </a:rPr>
              <a:t>Levers that turn the seller profitable, the prototype in action, and the pitfalls we mitigate</a:t>
            </a:r>
            <a:endParaRPr lang="en-US" sz="1700" dirty="0"/>
          </a:p>
        </p:txBody>
      </p:sp>
      <p:sp>
        <p:nvSpPr>
          <p:cNvPr id="4" name="Shape 2"/>
          <p:cNvSpPr/>
          <p:nvPr/>
        </p:nvSpPr>
        <p:spPr>
          <a:xfrm>
            <a:off x="45720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5" name="Text 3"/>
          <p:cNvSpPr txBox="1"/>
          <p:nvPr/>
        </p:nvSpPr>
        <p:spPr>
          <a:xfrm>
            <a:off x="45720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PROBLEM</a:t>
            </a:r>
            <a:endParaRPr lang="en-US" sz="1250" dirty="0"/>
          </a:p>
        </p:txBody>
      </p:sp>
      <p:sp>
        <p:nvSpPr>
          <p:cNvPr id="6" name="Shape 4"/>
          <p:cNvSpPr/>
          <p:nvPr/>
        </p:nvSpPr>
        <p:spPr>
          <a:xfrm>
            <a:off x="219456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7" name="Text 5"/>
          <p:cNvSpPr txBox="1"/>
          <p:nvPr/>
        </p:nvSpPr>
        <p:spPr>
          <a:xfrm>
            <a:off x="219456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SEGMENTATION</a:t>
            </a:r>
            <a:endParaRPr lang="en-US" sz="1250" dirty="0"/>
          </a:p>
        </p:txBody>
      </p:sp>
      <p:sp>
        <p:nvSpPr>
          <p:cNvPr id="8" name="Shape 6"/>
          <p:cNvSpPr/>
          <p:nvPr/>
        </p:nvSpPr>
        <p:spPr>
          <a:xfrm>
            <a:off x="393192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9" name="Text 7"/>
          <p:cNvSpPr txBox="1"/>
          <p:nvPr/>
        </p:nvSpPr>
        <p:spPr>
          <a:xfrm>
            <a:off x="393192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PRIORITISATION</a:t>
            </a:r>
            <a:endParaRPr lang="en-US" sz="1250" dirty="0"/>
          </a:p>
        </p:txBody>
      </p:sp>
      <p:sp>
        <p:nvSpPr>
          <p:cNvPr id="10" name="Shape 8"/>
          <p:cNvSpPr/>
          <p:nvPr/>
        </p:nvSpPr>
        <p:spPr>
          <a:xfrm>
            <a:off x="566928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1" name="Text 9"/>
          <p:cNvSpPr txBox="1"/>
          <p:nvPr/>
        </p:nvSpPr>
        <p:spPr>
          <a:xfrm>
            <a:off x="566928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BENCHMARKING</a:t>
            </a:r>
            <a:endParaRPr lang="en-US" sz="1250" dirty="0"/>
          </a:p>
        </p:txBody>
      </p:sp>
      <p:sp>
        <p:nvSpPr>
          <p:cNvPr id="12" name="Shape 10"/>
          <p:cNvSpPr/>
          <p:nvPr/>
        </p:nvSpPr>
        <p:spPr>
          <a:xfrm>
            <a:off x="740664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3" name="Text 11"/>
          <p:cNvSpPr txBox="1"/>
          <p:nvPr/>
        </p:nvSpPr>
        <p:spPr>
          <a:xfrm>
            <a:off x="740664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SOLUTION</a:t>
            </a:r>
            <a:endParaRPr lang="en-US" sz="1250" dirty="0"/>
          </a:p>
        </p:txBody>
      </p:sp>
      <p:sp>
        <p:nvSpPr>
          <p:cNvPr id="14" name="Shape 12"/>
          <p:cNvSpPr/>
          <p:nvPr/>
        </p:nvSpPr>
        <p:spPr>
          <a:xfrm>
            <a:off x="914400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5" name="Text 13"/>
          <p:cNvSpPr txBox="1"/>
          <p:nvPr/>
        </p:nvSpPr>
        <p:spPr>
          <a:xfrm>
            <a:off x="914400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MUNAFA METER</a:t>
            </a:r>
            <a:endParaRPr lang="en-US" sz="1250" dirty="0"/>
          </a:p>
        </p:txBody>
      </p:sp>
      <p:sp>
        <p:nvSpPr>
          <p:cNvPr id="16" name="Shape 14"/>
          <p:cNvSpPr/>
          <p:nvPr/>
        </p:nvSpPr>
        <p:spPr>
          <a:xfrm>
            <a:off x="1088136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7" name="Text 15"/>
          <p:cNvSpPr txBox="1"/>
          <p:nvPr/>
        </p:nvSpPr>
        <p:spPr>
          <a:xfrm>
            <a:off x="1088136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SMART BAND</a:t>
            </a:r>
            <a:endParaRPr lang="en-US" sz="1250" dirty="0"/>
          </a:p>
        </p:txBody>
      </p:sp>
      <p:sp>
        <p:nvSpPr>
          <p:cNvPr id="18" name="Shape 16"/>
          <p:cNvSpPr/>
          <p:nvPr/>
        </p:nvSpPr>
        <p:spPr>
          <a:xfrm>
            <a:off x="12618720" y="2542032"/>
            <a:ext cx="1700784" cy="420624"/>
          </a:xfrm>
          <a:prstGeom prst="rect">
            <a:avLst/>
          </a:prstGeom>
          <a:solidFill>
            <a:srgbClr val="5B0F4E"/>
          </a:solidFill>
          <a:ln w="12700">
            <a:solidFill>
              <a:srgbClr val="5B0F4E"/>
            </a:solidFill>
            <a:prstDash val="solid"/>
          </a:ln>
        </p:spPr>
        <p:txBody>
          <a:bodyPr/>
          <a:lstStyle/>
          <a:p>
            <a:endParaRPr lang="en-IN"/>
          </a:p>
        </p:txBody>
      </p:sp>
      <p:sp>
        <p:nvSpPr>
          <p:cNvPr id="19" name="Text 17"/>
          <p:cNvSpPr txBox="1"/>
          <p:nvPr/>
        </p:nvSpPr>
        <p:spPr>
          <a:xfrm>
            <a:off x="1261872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AUTOPILOT</a:t>
            </a:r>
            <a:endParaRPr lang="en-US" sz="1250" dirty="0"/>
          </a:p>
        </p:txBody>
      </p:sp>
      <p:sp>
        <p:nvSpPr>
          <p:cNvPr id="20" name="Shape 18"/>
          <p:cNvSpPr/>
          <p:nvPr/>
        </p:nvSpPr>
        <p:spPr>
          <a:xfrm>
            <a:off x="14356080" y="2542032"/>
            <a:ext cx="1700784" cy="420624"/>
          </a:xfrm>
          <a:prstGeom prst="rect">
            <a:avLst/>
          </a:prstGeom>
          <a:solidFill>
            <a:srgbClr val="F29A1F"/>
          </a:solidFill>
          <a:ln w="12700">
            <a:solidFill>
              <a:srgbClr val="F29A1F"/>
            </a:solidFill>
            <a:prstDash val="solid"/>
          </a:ln>
        </p:spPr>
        <p:txBody>
          <a:bodyPr/>
          <a:lstStyle/>
          <a:p>
            <a:endParaRPr lang="en-IN"/>
          </a:p>
        </p:txBody>
      </p:sp>
      <p:sp>
        <p:nvSpPr>
          <p:cNvPr id="21" name="Text 19"/>
          <p:cNvSpPr txBox="1"/>
          <p:nvPr/>
        </p:nvSpPr>
        <p:spPr>
          <a:xfrm>
            <a:off x="1435608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IMPACT</a:t>
            </a:r>
            <a:endParaRPr lang="en-US" sz="1250" dirty="0"/>
          </a:p>
        </p:txBody>
      </p:sp>
      <p:sp>
        <p:nvSpPr>
          <p:cNvPr id="22" name="Shape 20"/>
          <p:cNvSpPr/>
          <p:nvPr/>
        </p:nvSpPr>
        <p:spPr>
          <a:xfrm>
            <a:off x="16093440" y="2542032"/>
            <a:ext cx="1700784" cy="420624"/>
          </a:xfrm>
          <a:prstGeom prst="rect">
            <a:avLst/>
          </a:prstGeom>
          <a:solidFill>
            <a:srgbClr val="F29A1F"/>
          </a:solidFill>
          <a:ln w="12700">
            <a:solidFill>
              <a:srgbClr val="F29A1F"/>
            </a:solidFill>
            <a:prstDash val="solid"/>
          </a:ln>
        </p:spPr>
        <p:txBody>
          <a:bodyPr/>
          <a:lstStyle/>
          <a:p>
            <a:endParaRPr lang="en-IN"/>
          </a:p>
        </p:txBody>
      </p:sp>
      <p:sp>
        <p:nvSpPr>
          <p:cNvPr id="23" name="Text 21"/>
          <p:cNvSpPr txBox="1"/>
          <p:nvPr/>
        </p:nvSpPr>
        <p:spPr>
          <a:xfrm>
            <a:off x="16093440" y="2542032"/>
            <a:ext cx="1700784" cy="420624"/>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PITFALLS</a:t>
            </a:r>
            <a:endParaRPr lang="en-US" sz="1250" dirty="0"/>
          </a:p>
        </p:txBody>
      </p:sp>
      <p:sp>
        <p:nvSpPr>
          <p:cNvPr id="24" name="Text 22"/>
          <p:cNvSpPr txBox="1"/>
          <p:nvPr/>
        </p:nvSpPr>
        <p:spPr>
          <a:xfrm>
            <a:off x="457200" y="3063240"/>
            <a:ext cx="5852160" cy="347472"/>
          </a:xfrm>
          <a:prstGeom prst="rect">
            <a:avLst/>
          </a:prstGeom>
          <a:noFill/>
          <a:ln/>
        </p:spPr>
        <p:txBody>
          <a:bodyPr wrap="square" lIns="762" tIns="762" rIns="762" bIns="762" rtlCol="0" anchor="t"/>
          <a:lstStyle/>
          <a:p>
            <a:pPr marL="0" indent="0">
              <a:buNone/>
            </a:pPr>
            <a:r>
              <a:rPr lang="en-US" sz="1700" b="1" dirty="0">
                <a:solidFill>
                  <a:srgbClr val="5B0F4E"/>
                </a:solidFill>
                <a:latin typeface="Arial" pitchFamily="34" charset="0"/>
                <a:ea typeface="Arial" pitchFamily="34" charset="-122"/>
                <a:cs typeface="Arial" pitchFamily="34" charset="-120"/>
              </a:rPr>
              <a:t>Seller: levers turn the kurti profitable</a:t>
            </a:r>
            <a:endParaRPr lang="en-US" sz="1700" dirty="0"/>
          </a:p>
        </p:txBody>
      </p:sp>
      <p:graphicFrame>
        <p:nvGraphicFramePr>
          <p:cNvPr id="25" name="Chart 0"/>
          <p:cNvGraphicFramePr/>
          <p:nvPr/>
        </p:nvGraphicFramePr>
        <p:xfrm>
          <a:off x="365760" y="3383280"/>
          <a:ext cx="6035040" cy="2697480"/>
        </p:xfrm>
        <a:graphic>
          <a:graphicData uri="http://schemas.openxmlformats.org/drawingml/2006/chart">
            <c:chart xmlns:c="http://schemas.openxmlformats.org/drawingml/2006/chart" xmlns:r="http://schemas.openxmlformats.org/officeDocument/2006/relationships" r:id="rId4"/>
          </a:graphicData>
        </a:graphic>
      </p:graphicFrame>
      <p:sp>
        <p:nvSpPr>
          <p:cNvPr id="26" name="Shape 23"/>
          <p:cNvSpPr/>
          <p:nvPr/>
        </p:nvSpPr>
        <p:spPr>
          <a:xfrm>
            <a:off x="11932920" y="3108960"/>
            <a:ext cx="5897880" cy="1234440"/>
          </a:xfrm>
          <a:prstGeom prst="roundRect">
            <a:avLst>
              <a:gd name="adj" fmla="val 6000"/>
            </a:avLst>
          </a:prstGeom>
          <a:solidFill>
            <a:srgbClr val="E6F4EA"/>
          </a:solidFill>
          <a:ln w="12700">
            <a:solidFill>
              <a:srgbClr val="E6F4EA"/>
            </a:solidFill>
            <a:prstDash val="solid"/>
          </a:ln>
        </p:spPr>
        <p:txBody>
          <a:bodyPr/>
          <a:lstStyle/>
          <a:p>
            <a:endParaRPr lang="en-IN"/>
          </a:p>
        </p:txBody>
      </p:sp>
      <p:sp>
        <p:nvSpPr>
          <p:cNvPr id="27" name="Text 24"/>
          <p:cNvSpPr txBox="1"/>
          <p:nvPr/>
        </p:nvSpPr>
        <p:spPr>
          <a:xfrm>
            <a:off x="12070080" y="3136392"/>
            <a:ext cx="5669280" cy="502920"/>
          </a:xfrm>
          <a:prstGeom prst="rect">
            <a:avLst/>
          </a:prstGeom>
          <a:noFill/>
          <a:ln/>
        </p:spPr>
        <p:txBody>
          <a:bodyPr wrap="square" lIns="762" tIns="762" rIns="762" bIns="762" rtlCol="0" anchor="t"/>
          <a:lstStyle/>
          <a:p>
            <a:pPr marL="0" indent="0">
              <a:buNone/>
            </a:pPr>
            <a:r>
              <a:rPr lang="en-US" sz="2400" b="1" dirty="0">
                <a:solidFill>
                  <a:srgbClr val="1E8E3E"/>
                </a:solidFill>
                <a:latin typeface="Arial" pitchFamily="34" charset="0"/>
                <a:ea typeface="Arial" pitchFamily="34" charset="-122"/>
                <a:cs typeface="Arial" pitchFamily="34" charset="-120"/>
              </a:rPr>
              <a:t>−₹10.59 → +₹13.51</a:t>
            </a:r>
            <a:endParaRPr lang="en-US" sz="2800" dirty="0"/>
          </a:p>
        </p:txBody>
      </p:sp>
      <p:sp>
        <p:nvSpPr>
          <p:cNvPr id="28" name="Text 25"/>
          <p:cNvSpPr txBox="1"/>
          <p:nvPr/>
        </p:nvSpPr>
        <p:spPr>
          <a:xfrm>
            <a:off x="12070080" y="3639312"/>
            <a:ext cx="5669280" cy="685800"/>
          </a:xfrm>
          <a:prstGeom prst="rect">
            <a:avLst/>
          </a:prstGeom>
          <a:noFill/>
          <a:ln/>
        </p:spPr>
        <p:txBody>
          <a:bodyPr wrap="square" lIns="762" tIns="762" rIns="762" bIns="762" rtlCol="0" anchor="t"/>
          <a:lstStyle/>
          <a:p>
            <a:pPr marL="0" indent="0">
              <a:buNone/>
            </a:pPr>
            <a:r>
              <a:rPr lang="en-US" sz="1400" dirty="0">
                <a:solidFill>
                  <a:srgbClr val="2B2B2B"/>
                </a:solidFill>
                <a:latin typeface="Arial" pitchFamily="34" charset="0"/>
                <a:ea typeface="Arial" pitchFamily="34" charset="-122"/>
                <a:cs typeface="Arial" pitchFamily="34" charset="-120"/>
              </a:rPr>
              <a:t>profit per dispatched order at the same ₹299 price, after three levers. Returns are the biggest lever: +1 point of returns costs 3.2× more than +1 point of RTO.</a:t>
            </a:r>
            <a:endParaRPr lang="en-US" sz="1400" dirty="0"/>
          </a:p>
        </p:txBody>
      </p:sp>
      <p:sp>
        <p:nvSpPr>
          <p:cNvPr id="29" name="Video thumbnail frame"/>
          <p:cNvSpPr/>
          <p:nvPr/>
        </p:nvSpPr>
        <p:spPr>
          <a:xfrm>
            <a:off x="6583680" y="3108960"/>
            <a:ext cx="5120640" cy="2880360"/>
          </a:xfrm>
          <a:prstGeom prst="rect">
            <a:avLst/>
          </a:prstGeom>
          <a:solidFill>
            <a:srgbClr val="F7F4F6"/>
          </a:solidFill>
          <a:ln w="19050">
            <a:solidFill>
              <a:srgbClr val="B9A3B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1" name="Table 0"/>
          <p:cNvGraphicFramePr>
            <a:graphicFrameLocks noGrp="1"/>
          </p:cNvGraphicFramePr>
          <p:nvPr>
            <p:extLst>
              <p:ext uri="{D42A27DB-BD31-4B8C-83A1-F6EECF244321}">
                <p14:modId xmlns:p14="http://schemas.microsoft.com/office/powerpoint/2010/main" val="3353070587"/>
              </p:ext>
            </p:extLst>
          </p:nvPr>
        </p:nvGraphicFramePr>
        <p:xfrm>
          <a:off x="457200" y="6419088"/>
          <a:ext cx="12161520" cy="2962656"/>
        </p:xfrm>
        <a:graphic>
          <a:graphicData uri="http://schemas.openxmlformats.org/drawingml/2006/table">
            <a:tbl>
              <a:tblPr/>
              <a:tblGrid>
                <a:gridCol w="1600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804672">
                  <a:extLst>
                    <a:ext uri="{9D8B030D-6E8A-4147-A177-3AD203B41FA5}">
                      <a16:colId xmlns:a16="http://schemas.microsoft.com/office/drawing/2014/main" val="20002"/>
                    </a:ext>
                  </a:extLst>
                </a:gridCol>
                <a:gridCol w="5440680">
                  <a:extLst>
                    <a:ext uri="{9D8B030D-6E8A-4147-A177-3AD203B41FA5}">
                      <a16:colId xmlns:a16="http://schemas.microsoft.com/office/drawing/2014/main" val="20003"/>
                    </a:ext>
                  </a:extLst>
                </a:gridCol>
                <a:gridCol w="804672">
                  <a:extLst>
                    <a:ext uri="{9D8B030D-6E8A-4147-A177-3AD203B41FA5}">
                      <a16:colId xmlns:a16="http://schemas.microsoft.com/office/drawing/2014/main" val="20004"/>
                    </a:ext>
                  </a:extLst>
                </a:gridCol>
                <a:gridCol w="768096">
                  <a:extLst>
                    <a:ext uri="{9D8B030D-6E8A-4147-A177-3AD203B41FA5}">
                      <a16:colId xmlns:a16="http://schemas.microsoft.com/office/drawing/2014/main" val="20005"/>
                    </a:ext>
                  </a:extLst>
                </a:gridCol>
              </a:tblGrid>
              <a:tr h="329184">
                <a:tc>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Solution</a:t>
                      </a:r>
                      <a:endParaRPr lang="en-US" sz="105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Pitfall</a:t>
                      </a:r>
                      <a:endParaRPr lang="en-US" sz="105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RPN before</a:t>
                      </a:r>
                      <a:endParaRPr lang="en-US" sz="105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Mitigation built in</a:t>
                      </a:r>
                      <a:endParaRPr lang="en-US" sz="105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RPN after</a:t>
                      </a:r>
                      <a:endParaRPr lang="en-US" sz="105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Change</a:t>
                      </a:r>
                      <a:endParaRPr lang="en-US" sz="105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extLst>
                  <a:ext uri="{0D108BD9-81ED-4DB2-BD59-A6C34878D82A}">
                    <a16:rowId xmlns:a16="http://schemas.microsoft.com/office/drawing/2014/main" val="10000"/>
                  </a:ext>
                </a:extLst>
              </a:tr>
              <a:tr h="329184">
                <a:tc rowSpan="2">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Munafa Meter</a:t>
                      </a:r>
                      <a:endParaRPr lang="en-US" sz="105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buNone/>
                      </a:pPr>
                      <a:r>
                        <a:rPr lang="en-US" sz="950" b="1" dirty="0">
                          <a:solidFill>
                            <a:srgbClr val="5B0F4E"/>
                          </a:solidFill>
                          <a:latin typeface="Arial" pitchFamily="34" charset="0"/>
                          <a:ea typeface="Arial" pitchFamily="34" charset="-122"/>
                          <a:cs typeface="Arial" pitchFamily="34" charset="-120"/>
                        </a:rPr>
                        <a:t>Wrong seller inputs → wrong floor</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00000"/>
                          </a:solidFill>
                          <a:latin typeface="Arial" pitchFamily="34" charset="0"/>
                          <a:ea typeface="Arial" pitchFamily="34" charset="-122"/>
                          <a:cs typeface="Arial" pitchFamily="34" charset="-120"/>
                        </a:rPr>
                        <a:t>48</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8B4B4"/>
                    </a:solidFill>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Category defaults and sanity ranges; weight check; settlement data corrects costs</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00000"/>
                          </a:solidFill>
                          <a:latin typeface="Arial" pitchFamily="34" charset="0"/>
                          <a:ea typeface="Arial" pitchFamily="34" charset="-122"/>
                          <a:cs typeface="Arial" pitchFamily="34" charset="-120"/>
                        </a:rPr>
                        <a:t>18</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CDEBD3"/>
                    </a:solidFill>
                  </a:tcPr>
                </a:tc>
                <a:tc>
                  <a:txBody>
                    <a:bodyPr/>
                    <a:lstStyle/>
                    <a:p>
                      <a:pPr marL="0" indent="0" algn="ctr">
                        <a:buNone/>
                      </a:pPr>
                      <a:r>
                        <a:rPr lang="en-US" sz="950" b="1" dirty="0">
                          <a:solidFill>
                            <a:srgbClr val="1E8E3E"/>
                          </a:solidFill>
                          <a:latin typeface="Arial" pitchFamily="34" charset="0"/>
                          <a:ea typeface="Arial" pitchFamily="34" charset="-122"/>
                          <a:cs typeface="Arial" pitchFamily="34" charset="-120"/>
                        </a:rPr>
                        <a:t>−63%</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vMerge="1">
                  <a:txBody>
                    <a:bodyPr/>
                    <a:lstStyle/>
                    <a:p>
                      <a:endParaRPr lang="en-US"/>
                    </a:p>
                  </a:txBody>
                  <a:tcPr marL="27432" marR="27432" marT="9144" marB="9144"/>
                </a:tc>
                <a:tc>
                  <a:txBody>
                    <a:bodyPr/>
                    <a:lstStyle/>
                    <a:p>
                      <a:pPr marL="0" indent="0">
                        <a:buNone/>
                      </a:pPr>
                      <a:r>
                        <a:rPr lang="en-US" sz="950" b="1" dirty="0">
                          <a:solidFill>
                            <a:srgbClr val="5B0F4E"/>
                          </a:solidFill>
                          <a:latin typeface="Arial" pitchFamily="34" charset="0"/>
                          <a:ea typeface="Arial" pitchFamily="34" charset="-122"/>
                          <a:cs typeface="Arial" pitchFamily="34" charset="-120"/>
                        </a:rPr>
                        <a:t>Fee or slab changes make rates stale</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00000"/>
                          </a:solidFill>
                          <a:latin typeface="Arial" pitchFamily="34" charset="0"/>
                          <a:ea typeface="Arial" pitchFamily="34" charset="-122"/>
                          <a:cs typeface="Arial" pitchFamily="34" charset="-120"/>
                        </a:rPr>
                        <a:t>36</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CE3A6"/>
                    </a:solidFill>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Rate card read from live config; floor auto-recalculated </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CDEBD3"/>
                    </a:solidFill>
                  </a:tcPr>
                </a:tc>
                <a:tc>
                  <a:txBody>
                    <a:bodyPr/>
                    <a:lstStyle/>
                    <a:p>
                      <a:pPr marL="0" indent="0" algn="ctr">
                        <a:buNone/>
                      </a:pPr>
                      <a:r>
                        <a:rPr lang="en-US" sz="950" b="1" dirty="0">
                          <a:solidFill>
                            <a:srgbClr val="1E8E3E"/>
                          </a:solidFill>
                          <a:latin typeface="Arial" pitchFamily="34" charset="0"/>
                          <a:ea typeface="Arial" pitchFamily="34" charset="-122"/>
                          <a:cs typeface="Arial" pitchFamily="34" charset="-120"/>
                        </a:rPr>
                        <a:t>−89%</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rowSpan="3">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Smart Band</a:t>
                      </a:r>
                      <a:endParaRPr lang="en-US" sz="105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29A1F"/>
                    </a:solidFill>
                  </a:tcPr>
                </a:tc>
                <a:tc>
                  <a:txBody>
                    <a:bodyPr/>
                    <a:lstStyle/>
                    <a:p>
                      <a:pPr marL="0" indent="0">
                        <a:buNone/>
                      </a:pPr>
                      <a:r>
                        <a:rPr lang="en-US" sz="950" b="1" dirty="0">
                          <a:solidFill>
                            <a:srgbClr val="5B0F4E"/>
                          </a:solidFill>
                          <a:latin typeface="Arial" pitchFamily="34" charset="0"/>
                          <a:ea typeface="Arial" pitchFamily="34" charset="-122"/>
                          <a:cs typeface="Arial" pitchFamily="34" charset="-120"/>
                        </a:rPr>
                        <a:t>Price herding / CCI concern</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00000"/>
                          </a:solidFill>
                          <a:latin typeface="Arial" pitchFamily="34" charset="0"/>
                          <a:ea typeface="Arial" pitchFamily="34" charset="-122"/>
                          <a:cs typeface="Arial" pitchFamily="34" charset="-120"/>
                        </a:rPr>
                        <a:t>60</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8B4B4"/>
                    </a:solidFill>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Floor is seller-specific; band shown as a range; seller decides; no cost sharing; audit band drift</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00000"/>
                          </a:solidFill>
                          <a:latin typeface="Arial" pitchFamily="34" charset="0"/>
                          <a:ea typeface="Arial" pitchFamily="34" charset="-122"/>
                          <a:cs typeface="Arial" pitchFamily="34" charset="-120"/>
                        </a:rPr>
                        <a:t>16</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CDEBD3"/>
                    </a:solidFill>
                  </a:tcPr>
                </a:tc>
                <a:tc>
                  <a:txBody>
                    <a:bodyPr/>
                    <a:lstStyle/>
                    <a:p>
                      <a:pPr marL="0" indent="0" algn="ctr">
                        <a:buNone/>
                      </a:pPr>
                      <a:r>
                        <a:rPr lang="en-US" sz="950" b="1" dirty="0">
                          <a:solidFill>
                            <a:srgbClr val="1E8E3E"/>
                          </a:solidFill>
                          <a:latin typeface="Arial" pitchFamily="34" charset="0"/>
                          <a:ea typeface="Arial" pitchFamily="34" charset="-122"/>
                          <a:cs typeface="Arial" pitchFamily="34" charset="-120"/>
                        </a:rPr>
                        <a:t>−73%</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vMerge="1">
                  <a:txBody>
                    <a:bodyPr/>
                    <a:lstStyle/>
                    <a:p>
                      <a:endParaRPr lang="en-US"/>
                    </a:p>
                  </a:txBody>
                  <a:tcPr marL="27432" marR="27432" marT="9144" marB="9144"/>
                </a:tc>
                <a:tc>
                  <a:txBody>
                    <a:bodyPr/>
                    <a:lstStyle/>
                    <a:p>
                      <a:pPr marL="0" indent="0">
                        <a:buNone/>
                      </a:pPr>
                      <a:r>
                        <a:rPr lang="en-US" sz="950" b="1" dirty="0">
                          <a:solidFill>
                            <a:srgbClr val="5B0F4E"/>
                          </a:solidFill>
                          <a:latin typeface="Arial" pitchFamily="34" charset="0"/>
                          <a:ea typeface="Arial" pitchFamily="34" charset="-122"/>
                          <a:cs typeface="Arial" pitchFamily="34" charset="-120"/>
                        </a:rPr>
                        <a:t>Category priors wrong for a niche SKU</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00000"/>
                          </a:solidFill>
                          <a:latin typeface="Arial" pitchFamily="34" charset="0"/>
                          <a:ea typeface="Arial" pitchFamily="34" charset="-122"/>
                          <a:cs typeface="Arial" pitchFamily="34" charset="-120"/>
                        </a:rPr>
                        <a:t>27</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CE3A6"/>
                    </a:solidFill>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'Based on category data' label; own-data blending; launch screen</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00000"/>
                          </a:solidFill>
                          <a:latin typeface="Arial" pitchFamily="34" charset="0"/>
                          <a:ea typeface="Arial" pitchFamily="34" charset="-122"/>
                          <a:cs typeface="Arial" pitchFamily="34" charset="-120"/>
                        </a:rPr>
                        <a:t>12</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CDEBD3"/>
                    </a:solidFill>
                  </a:tcPr>
                </a:tc>
                <a:tc>
                  <a:txBody>
                    <a:bodyPr/>
                    <a:lstStyle/>
                    <a:p>
                      <a:pPr marL="0" indent="0" algn="ctr">
                        <a:buNone/>
                      </a:pPr>
                      <a:r>
                        <a:rPr lang="en-US" sz="950" b="1" dirty="0">
                          <a:solidFill>
                            <a:srgbClr val="1E8E3E"/>
                          </a:solidFill>
                          <a:latin typeface="Arial" pitchFamily="34" charset="0"/>
                          <a:ea typeface="Arial" pitchFamily="34" charset="-122"/>
                          <a:cs typeface="Arial" pitchFamily="34" charset="-120"/>
                        </a:rPr>
                        <a:t>−56%</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vMerge="1">
                  <a:txBody>
                    <a:bodyPr/>
                    <a:lstStyle/>
                    <a:p>
                      <a:endParaRPr lang="en-US"/>
                    </a:p>
                  </a:txBody>
                  <a:tcPr marL="27432" marR="27432" marT="9144" marB="9144"/>
                </a:tc>
                <a:tc>
                  <a:txBody>
                    <a:bodyPr/>
                    <a:lstStyle/>
                    <a:p>
                      <a:pPr marL="0" indent="0">
                        <a:buNone/>
                      </a:pPr>
                      <a:r>
                        <a:rPr lang="en-US" sz="950" b="1" dirty="0">
                          <a:solidFill>
                            <a:srgbClr val="5B0F4E"/>
                          </a:solidFill>
                          <a:latin typeface="Arial" pitchFamily="34" charset="0"/>
                          <a:ea typeface="Arial" pitchFamily="34" charset="-122"/>
                          <a:cs typeface="Arial" pitchFamily="34" charset="-120"/>
                        </a:rPr>
                        <a:t>Buyer prices rise</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00000"/>
                          </a:solidFill>
                          <a:latin typeface="Arial" pitchFamily="34" charset="0"/>
                          <a:ea typeface="Arial" pitchFamily="34" charset="-122"/>
                          <a:cs typeface="Arial" pitchFamily="34" charset="-120"/>
                        </a:rPr>
                        <a:t>24</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CDEBD3"/>
                    </a:solidFill>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Guardrail metric vs control; suggestions capped at band's upper quartile</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00000"/>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CDEBD3"/>
                    </a:solidFill>
                  </a:tcPr>
                </a:tc>
                <a:tc>
                  <a:txBody>
                    <a:bodyPr/>
                    <a:lstStyle/>
                    <a:p>
                      <a:pPr marL="0" indent="0" algn="ctr">
                        <a:buNone/>
                      </a:pPr>
                      <a:r>
                        <a:rPr lang="en-US" sz="950" b="1" dirty="0">
                          <a:solidFill>
                            <a:srgbClr val="1E8E3E"/>
                          </a:solidFill>
                          <a:latin typeface="Arial" pitchFamily="34" charset="0"/>
                          <a:ea typeface="Arial" pitchFamily="34" charset="-122"/>
                          <a:cs typeface="Arial" pitchFamily="34" charset="-120"/>
                        </a:rPr>
                        <a:t>−67%</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Lifecycle Autopilot</a:t>
                      </a:r>
                      <a:endParaRPr lang="en-US" sz="105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5B0F4E"/>
                    </a:solidFill>
                  </a:tcPr>
                </a:tc>
                <a:tc>
                  <a:txBody>
                    <a:bodyPr/>
                    <a:lstStyle/>
                    <a:p>
                      <a:pPr marL="0" indent="0">
                        <a:buNone/>
                      </a:pPr>
                      <a:r>
                        <a:rPr lang="en-US" sz="950" b="1" dirty="0">
                          <a:solidFill>
                            <a:srgbClr val="5B0F4E"/>
                          </a:solidFill>
                          <a:latin typeface="Arial" pitchFamily="34" charset="0"/>
                          <a:ea typeface="Arial" pitchFamily="34" charset="-122"/>
                          <a:cs typeface="Arial" pitchFamily="34" charset="-120"/>
                        </a:rPr>
                        <a:t>Nudge fatigue / distrust</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00000"/>
                          </a:solidFill>
                          <a:latin typeface="Arial" pitchFamily="34" charset="0"/>
                          <a:ea typeface="Arial" pitchFamily="34" charset="-122"/>
                          <a:cs typeface="Arial" pitchFamily="34" charset="-120"/>
                        </a:rPr>
                        <a:t>27</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CE3A6"/>
                    </a:solidFill>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3 triggers only; one nudge at a time; ₹ impact; easy opt-out</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00000"/>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CDEBD3"/>
                    </a:solidFill>
                  </a:tcPr>
                </a:tc>
                <a:tc>
                  <a:txBody>
                    <a:bodyPr/>
                    <a:lstStyle/>
                    <a:p>
                      <a:pPr marL="0" indent="0" algn="ctr">
                        <a:buNone/>
                      </a:pPr>
                      <a:r>
                        <a:rPr lang="en-US" sz="950" b="1" dirty="0">
                          <a:solidFill>
                            <a:srgbClr val="1E8E3E"/>
                          </a:solidFill>
                          <a:latin typeface="Arial" pitchFamily="34" charset="0"/>
                          <a:ea typeface="Arial" pitchFamily="34" charset="-122"/>
                          <a:cs typeface="Arial" pitchFamily="34" charset="-120"/>
                        </a:rPr>
                        <a:t>−70%</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184">
                <a:tc rowSpan="2">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Sahi Daam overall</a:t>
                      </a:r>
                      <a:endParaRPr lang="en-US" sz="105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8C5A80"/>
                    </a:solidFill>
                  </a:tcPr>
                </a:tc>
                <a:tc>
                  <a:txBody>
                    <a:bodyPr/>
                    <a:lstStyle/>
                    <a:p>
                      <a:pPr marL="0" indent="0">
                        <a:buNone/>
                      </a:pPr>
                      <a:r>
                        <a:rPr lang="en-US" sz="950" b="1" dirty="0">
                          <a:solidFill>
                            <a:srgbClr val="5B0F4E"/>
                          </a:solidFill>
                          <a:latin typeface="Arial" pitchFamily="34" charset="0"/>
                          <a:ea typeface="Arial" pitchFamily="34" charset="-122"/>
                          <a:cs typeface="Arial" pitchFamily="34" charset="-120"/>
                        </a:rPr>
                        <a:t>Low adoption: sellers ignore the tool</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00000"/>
                          </a:solidFill>
                          <a:latin typeface="Arial" pitchFamily="34" charset="0"/>
                          <a:ea typeface="Arial" pitchFamily="34" charset="-122"/>
                          <a:cs typeface="Arial" pitchFamily="34" charset="-120"/>
                        </a:rPr>
                        <a:t>32</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CE3A6"/>
                    </a:solidFill>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Default-on in listing flow; one-line ₹ answer; vernacular + voice</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00000"/>
                          </a:solidFill>
                          <a:latin typeface="Arial" pitchFamily="34" charset="0"/>
                          <a:ea typeface="Arial" pitchFamily="34" charset="-122"/>
                          <a:cs typeface="Arial" pitchFamily="34" charset="-120"/>
                        </a:rPr>
                        <a:t>16</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CDEBD3"/>
                    </a:solidFill>
                  </a:tcPr>
                </a:tc>
                <a:tc>
                  <a:txBody>
                    <a:bodyPr/>
                    <a:lstStyle/>
                    <a:p>
                      <a:pPr marL="0" indent="0" algn="ctr">
                        <a:buNone/>
                      </a:pPr>
                      <a:r>
                        <a:rPr lang="en-US" sz="950" b="1" dirty="0">
                          <a:solidFill>
                            <a:srgbClr val="1E8E3E"/>
                          </a:solidFill>
                          <a:latin typeface="Arial" pitchFamily="34" charset="0"/>
                          <a:ea typeface="Arial" pitchFamily="34" charset="-122"/>
                          <a:cs typeface="Arial" pitchFamily="34" charset="-120"/>
                        </a:rPr>
                        <a:t>−50%</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vMerge="1">
                  <a:txBody>
                    <a:bodyPr/>
                    <a:lstStyle/>
                    <a:p>
                      <a:endParaRPr lang="en-US"/>
                    </a:p>
                  </a:txBody>
                  <a:tcPr marL="27432" marR="27432" marT="9144" marB="9144"/>
                </a:tc>
                <a:tc>
                  <a:txBody>
                    <a:bodyPr/>
                    <a:lstStyle/>
                    <a:p>
                      <a:pPr marL="0" indent="0">
                        <a:buNone/>
                      </a:pPr>
                      <a:r>
                        <a:rPr lang="en-US" sz="950" b="1" dirty="0">
                          <a:solidFill>
                            <a:srgbClr val="5B0F4E"/>
                          </a:solidFill>
                          <a:latin typeface="Arial" pitchFamily="34" charset="0"/>
                          <a:ea typeface="Arial" pitchFamily="34" charset="-122"/>
                          <a:cs typeface="Arial" pitchFamily="34" charset="-120"/>
                        </a:rPr>
                        <a:t>Seller data protection </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00000"/>
                          </a:solidFill>
                          <a:latin typeface="Arial" pitchFamily="34" charset="0"/>
                          <a:ea typeface="Arial" pitchFamily="34" charset="-122"/>
                          <a:cs typeface="Arial" pitchFamily="34" charset="-120"/>
                        </a:rPr>
                        <a:t>30</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CE3A6"/>
                    </a:solidFill>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Consent at first use; purpose-limited use; deletion on exit</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00000"/>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CDEBD3"/>
                    </a:solidFill>
                  </a:tcPr>
                </a:tc>
                <a:tc>
                  <a:txBody>
                    <a:bodyPr/>
                    <a:lstStyle/>
                    <a:p>
                      <a:pPr marL="0" indent="0" algn="ctr">
                        <a:buNone/>
                      </a:pPr>
                      <a:r>
                        <a:rPr lang="en-US" sz="950" b="1" dirty="0">
                          <a:solidFill>
                            <a:srgbClr val="1E8E3E"/>
                          </a:solidFill>
                          <a:latin typeface="Arial" pitchFamily="34" charset="0"/>
                          <a:ea typeface="Arial" pitchFamily="34" charset="-122"/>
                          <a:cs typeface="Arial" pitchFamily="34" charset="-120"/>
                        </a:rPr>
                        <a:t>−67%</a:t>
                      </a:r>
                      <a:endParaRPr lang="en-US" sz="1100" dirty="0">
                        <a:latin typeface="Arial" charset="0"/>
                        <a:ea typeface="Arial" charset="0"/>
                        <a:cs typeface="Arial" charset="0"/>
                      </a:endParaRPr>
                    </a:p>
                  </a:txBody>
                  <a:tcPr marL="27432" marR="27432" marT="9144" marB="9144" anchor="ctr">
                    <a:lnL w="6350" cap="flat" cmpd="sng" algn="ctr">
                      <a:solidFill>
                        <a:srgbClr val="D9C8D5"/>
                      </a:solidFill>
                      <a:prstDash val="solid"/>
                      <a:round/>
                      <a:headEnd type="none" w="med" len="med"/>
                      <a:tailEnd type="none" w="med" len="med"/>
                    </a:lnL>
                    <a:lnR w="6350" cap="flat" cmpd="sng" algn="ctr">
                      <a:solidFill>
                        <a:srgbClr val="D9C8D5"/>
                      </a:solidFill>
                      <a:prstDash val="solid"/>
                      <a:round/>
                      <a:headEnd type="none" w="med" len="med"/>
                      <a:tailEnd type="none" w="med" len="med"/>
                    </a:lnR>
                    <a:lnT w="6350" cap="flat" cmpd="sng" algn="ctr">
                      <a:solidFill>
                        <a:srgbClr val="D9C8D5"/>
                      </a:solidFill>
                      <a:prstDash val="solid"/>
                      <a:round/>
                      <a:headEnd type="none" w="med" len="med"/>
                      <a:tailEnd type="none" w="med" len="med"/>
                    </a:lnT>
                    <a:lnB w="6350" cap="flat" cmpd="sng" algn="ctr">
                      <a:solidFill>
                        <a:srgbClr val="D9C8D5"/>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43" name="Shape 23"/>
          <p:cNvSpPr/>
          <p:nvPr/>
        </p:nvSpPr>
        <p:spPr>
          <a:xfrm>
            <a:off x="11932920" y="4462272"/>
            <a:ext cx="5897880" cy="1645920"/>
          </a:xfrm>
          <a:prstGeom prst="roundRect">
            <a:avLst>
              <a:gd name="adj" fmla="val 5000"/>
            </a:avLst>
          </a:prstGeom>
          <a:solidFill>
            <a:srgbClr val="F3E8F1"/>
          </a:solidFill>
          <a:ln w="12700">
            <a:solidFill>
              <a:srgbClr val="F3E8F1"/>
            </a:solidFill>
            <a:prstDash val="solid"/>
          </a:ln>
        </p:spPr>
        <p:txBody>
          <a:bodyPr/>
          <a:lstStyle/>
          <a:p>
            <a:endParaRPr lang="en-IN"/>
          </a:p>
        </p:txBody>
      </p:sp>
      <p:sp>
        <p:nvSpPr>
          <p:cNvPr id="44" name="Text 24"/>
          <p:cNvSpPr txBox="1"/>
          <p:nvPr/>
        </p:nvSpPr>
        <p:spPr>
          <a:xfrm>
            <a:off x="12070080" y="4498848"/>
            <a:ext cx="5669280" cy="274320"/>
          </a:xfrm>
          <a:prstGeom prst="rect">
            <a:avLst/>
          </a:prstGeom>
          <a:noFill/>
          <a:ln/>
        </p:spPr>
        <p:txBody>
          <a:bodyPr wrap="square" lIns="0" tIns="0" rIns="0" bIns="0" rtlCol="0" anchor="t"/>
          <a:lstStyle/>
          <a:p>
            <a:pPr marL="0" indent="0">
              <a:buNone/>
            </a:pPr>
            <a:r>
              <a:rPr lang="en-US" sz="1600" b="1" dirty="0">
                <a:solidFill>
                  <a:srgbClr val="5B0F4E"/>
                </a:solidFill>
                <a:latin typeface="Arial" pitchFamily="34" charset="0"/>
                <a:ea typeface="Arial" pitchFamily="34" charset="-122"/>
                <a:cs typeface="Arial" pitchFamily="34" charset="-120"/>
              </a:rPr>
              <a:t>What is RPN?</a:t>
            </a:r>
            <a:endParaRPr lang="en-US" sz="1600" dirty="0"/>
          </a:p>
        </p:txBody>
      </p:sp>
      <p:sp>
        <p:nvSpPr>
          <p:cNvPr id="45" name="Text 25"/>
          <p:cNvSpPr txBox="1"/>
          <p:nvPr/>
        </p:nvSpPr>
        <p:spPr>
          <a:xfrm>
            <a:off x="12070080" y="4773168"/>
            <a:ext cx="5669280" cy="1243584"/>
          </a:xfrm>
          <a:prstGeom prst="rect">
            <a:avLst/>
          </a:prstGeom>
          <a:noFill/>
          <a:ln/>
        </p:spPr>
        <p:txBody>
          <a:bodyPr wrap="square" lIns="0" tIns="0" rIns="0" bIns="0" rtlCol="0" anchor="t"/>
          <a:lstStyle/>
          <a:p>
            <a:pPr marL="0" indent="0">
              <a:spcAft>
                <a:spcPts val="0"/>
              </a:spcAft>
              <a:buNone/>
            </a:pPr>
            <a:r>
              <a:rPr lang="en-US" sz="1200" b="1" dirty="0">
                <a:solidFill>
                  <a:srgbClr val="5B0F4E"/>
                </a:solidFill>
                <a:latin typeface="Arial" pitchFamily="34" charset="0"/>
                <a:ea typeface="Arial" pitchFamily="34" charset="-122"/>
                <a:cs typeface="Arial" pitchFamily="34" charset="-120"/>
              </a:rPr>
              <a:t>Risk Priority Number = Likelihood × Impact × Detection</a:t>
            </a:r>
            <a:endParaRPr lang="en-US" sz="1200" dirty="0"/>
          </a:p>
          <a:p>
            <a:pPr marL="0" indent="0">
              <a:spcAft>
                <a:spcPts val="0"/>
              </a:spcAft>
              <a:buNone/>
            </a:pPr>
            <a:r>
              <a:rPr lang="en-US" sz="1200" dirty="0">
                <a:solidFill>
                  <a:srgbClr val="2B2B2B"/>
                </a:solidFill>
                <a:latin typeface="Arial" pitchFamily="34" charset="0"/>
                <a:ea typeface="Arial" pitchFamily="34" charset="-122"/>
                <a:cs typeface="Arial" pitchFamily="34" charset="-120"/>
              </a:rPr>
              <a:t>Each factor is scored 1–5, so RPN runs from 1 to 125.</a:t>
            </a:r>
            <a:endParaRPr lang="en-US" sz="1200" dirty="0"/>
          </a:p>
          <a:p>
            <a:pPr marL="0" indent="0">
              <a:spcAft>
                <a:spcPts val="0"/>
              </a:spcAft>
              <a:buNone/>
            </a:pPr>
            <a:r>
              <a:rPr lang="en-US" sz="1200" b="1" dirty="0">
                <a:solidFill>
                  <a:srgbClr val="2B2B2B"/>
                </a:solidFill>
                <a:latin typeface="Arial" pitchFamily="34" charset="0"/>
                <a:ea typeface="Arial" pitchFamily="34" charset="-122"/>
                <a:cs typeface="Arial" pitchFamily="34" charset="-120"/>
              </a:rPr>
              <a:t>Likelihood: </a:t>
            </a:r>
            <a:r>
              <a:rPr lang="en-US" sz="1200" dirty="0">
                <a:solidFill>
                  <a:srgbClr val="2B2B2B"/>
                </a:solidFill>
                <a:latin typeface="Arial" pitchFamily="34" charset="0"/>
                <a:ea typeface="Arial" pitchFamily="34" charset="-122"/>
                <a:cs typeface="Arial" pitchFamily="34" charset="-120"/>
              </a:rPr>
              <a:t>how likely the pitfall is to happen</a:t>
            </a:r>
            <a:endParaRPr lang="en-US" sz="1200" dirty="0"/>
          </a:p>
          <a:p>
            <a:pPr marL="0" indent="0">
              <a:spcAft>
                <a:spcPts val="0"/>
              </a:spcAft>
              <a:buNone/>
            </a:pPr>
            <a:r>
              <a:rPr lang="en-US" sz="1200" b="1" dirty="0">
                <a:solidFill>
                  <a:srgbClr val="2B2B2B"/>
                </a:solidFill>
                <a:latin typeface="Arial" pitchFamily="34" charset="0"/>
                <a:ea typeface="Arial" pitchFamily="34" charset="-122"/>
                <a:cs typeface="Arial" pitchFamily="34" charset="-120"/>
              </a:rPr>
              <a:t>Impact: </a:t>
            </a:r>
            <a:r>
              <a:rPr lang="en-US" sz="1200" dirty="0">
                <a:solidFill>
                  <a:srgbClr val="2B2B2B"/>
                </a:solidFill>
                <a:latin typeface="Arial" pitchFamily="34" charset="0"/>
                <a:ea typeface="Arial" pitchFamily="34" charset="-122"/>
                <a:cs typeface="Arial" pitchFamily="34" charset="-120"/>
              </a:rPr>
              <a:t>how badly it hurts sellers or Meesho</a:t>
            </a:r>
            <a:endParaRPr lang="en-US" sz="1200" dirty="0"/>
          </a:p>
          <a:p>
            <a:pPr marL="0" indent="0">
              <a:spcAft>
                <a:spcPts val="0"/>
              </a:spcAft>
              <a:buNone/>
            </a:pPr>
            <a:r>
              <a:rPr lang="en-US" sz="1200" b="1" dirty="0">
                <a:solidFill>
                  <a:srgbClr val="2B2B2B"/>
                </a:solidFill>
                <a:latin typeface="Arial" pitchFamily="34" charset="0"/>
                <a:ea typeface="Arial" pitchFamily="34" charset="-122"/>
                <a:cs typeface="Arial" pitchFamily="34" charset="-120"/>
              </a:rPr>
              <a:t>Detection: </a:t>
            </a:r>
            <a:r>
              <a:rPr lang="en-US" sz="1200" dirty="0">
                <a:solidFill>
                  <a:srgbClr val="2B2B2B"/>
                </a:solidFill>
                <a:latin typeface="Arial" pitchFamily="34" charset="0"/>
                <a:ea typeface="Arial" pitchFamily="34" charset="-122"/>
                <a:cs typeface="Arial" pitchFamily="34" charset="-120"/>
              </a:rPr>
              <a:t>how hard it is to spot before damage (5 = hard)</a:t>
            </a:r>
            <a:endParaRPr lang="en-US" sz="1200" dirty="0"/>
          </a:p>
          <a:p>
            <a:pPr marL="0" indent="0">
              <a:spcAft>
                <a:spcPts val="0"/>
              </a:spcAft>
              <a:buNone/>
            </a:pPr>
            <a:r>
              <a:rPr lang="en-US" sz="1200" i="1" dirty="0">
                <a:solidFill>
                  <a:srgbClr val="C9660A"/>
                </a:solidFill>
                <a:latin typeface="Arial" pitchFamily="34" charset="0"/>
                <a:ea typeface="Arial" pitchFamily="34" charset="-122"/>
                <a:cs typeface="Arial" pitchFamily="34" charset="-120"/>
              </a:rPr>
              <a:t>Example: price herding 3 × 5 × 4 = 60 → after mitigation 2 × 4 × 2 = 16. Higher RPN = fix first.</a:t>
            </a:r>
            <a:endParaRPr lang="en-US" sz="1200" dirty="0"/>
          </a:p>
        </p:txBody>
      </p:sp>
      <p:sp>
        <p:nvSpPr>
          <p:cNvPr id="46" name="Text 26"/>
          <p:cNvSpPr txBox="1"/>
          <p:nvPr/>
        </p:nvSpPr>
        <p:spPr>
          <a:xfrm>
            <a:off x="12847320" y="6108192"/>
            <a:ext cx="2377440" cy="256032"/>
          </a:xfrm>
          <a:prstGeom prst="rect">
            <a:avLst/>
          </a:prstGeom>
          <a:noFill/>
          <a:ln/>
        </p:spPr>
        <p:txBody>
          <a:bodyPr wrap="square" lIns="0" tIns="0" rIns="0" bIns="0" rtlCol="0" anchor="t"/>
          <a:lstStyle/>
          <a:p>
            <a:pPr marL="0" indent="0" algn="ctr">
              <a:buNone/>
            </a:pPr>
            <a:r>
              <a:rPr lang="en-US" sz="1050" b="1" dirty="0">
                <a:solidFill>
                  <a:srgbClr val="5B0F4E"/>
                </a:solidFill>
                <a:latin typeface="Arial" pitchFamily="34" charset="0"/>
                <a:ea typeface="Arial" pitchFamily="34" charset="-122"/>
                <a:cs typeface="Arial" pitchFamily="34" charset="-120"/>
              </a:rPr>
              <a:t>Before</a:t>
            </a:r>
            <a:endParaRPr lang="en-US" sz="1200" dirty="0"/>
          </a:p>
        </p:txBody>
      </p:sp>
      <p:graphicFrame>
        <p:nvGraphicFramePr>
          <p:cNvPr id="30" name="Table 1"/>
          <p:cNvGraphicFramePr>
            <a:graphicFrameLocks noGrp="1"/>
          </p:cNvGraphicFramePr>
          <p:nvPr>
            <p:extLst>
              <p:ext uri="{D42A27DB-BD31-4B8C-83A1-F6EECF244321}">
                <p14:modId xmlns:p14="http://schemas.microsoft.com/office/powerpoint/2010/main" val="1579011935"/>
              </p:ext>
            </p:extLst>
          </p:nvPr>
        </p:nvGraphicFramePr>
        <p:xfrm>
          <a:off x="12847320" y="6382512"/>
          <a:ext cx="2377440" cy="1481328"/>
        </p:xfrm>
        <a:graphic>
          <a:graphicData uri="http://schemas.openxmlformats.org/drawingml/2006/table">
            <a:tbl>
              <a:tblPr/>
              <a:tblGrid>
                <a:gridCol w="320040">
                  <a:extLst>
                    <a:ext uri="{9D8B030D-6E8A-4147-A177-3AD203B41FA5}">
                      <a16:colId xmlns:a16="http://schemas.microsoft.com/office/drawing/2014/main" val="20000"/>
                    </a:ext>
                  </a:extLst>
                </a:gridCol>
                <a:gridCol w="411480">
                  <a:extLst>
                    <a:ext uri="{9D8B030D-6E8A-4147-A177-3AD203B41FA5}">
                      <a16:colId xmlns:a16="http://schemas.microsoft.com/office/drawing/2014/main" val="20001"/>
                    </a:ext>
                  </a:extLst>
                </a:gridCol>
                <a:gridCol w="411480">
                  <a:extLst>
                    <a:ext uri="{9D8B030D-6E8A-4147-A177-3AD203B41FA5}">
                      <a16:colId xmlns:a16="http://schemas.microsoft.com/office/drawing/2014/main" val="20002"/>
                    </a:ext>
                  </a:extLst>
                </a:gridCol>
                <a:gridCol w="411480">
                  <a:extLst>
                    <a:ext uri="{9D8B030D-6E8A-4147-A177-3AD203B41FA5}">
                      <a16:colId xmlns:a16="http://schemas.microsoft.com/office/drawing/2014/main" val="20003"/>
                    </a:ext>
                  </a:extLst>
                </a:gridCol>
                <a:gridCol w="411480">
                  <a:extLst>
                    <a:ext uri="{9D8B030D-6E8A-4147-A177-3AD203B41FA5}">
                      <a16:colId xmlns:a16="http://schemas.microsoft.com/office/drawing/2014/main" val="20004"/>
                    </a:ext>
                  </a:extLst>
                </a:gridCol>
                <a:gridCol w="411480">
                  <a:extLst>
                    <a:ext uri="{9D8B030D-6E8A-4147-A177-3AD203B41FA5}">
                      <a16:colId xmlns:a16="http://schemas.microsoft.com/office/drawing/2014/main" val="20005"/>
                    </a:ext>
                  </a:extLst>
                </a:gridCol>
              </a:tblGrid>
              <a:tr h="246888">
                <a:tc>
                  <a:txBody>
                    <a:bodyPr/>
                    <a:lstStyle/>
                    <a:p>
                      <a:pPr marL="0" indent="0">
                        <a:buNone/>
                      </a:pPr>
                      <a:r>
                        <a:rPr lang="en-US" sz="850" b="1" dirty="0">
                          <a:solidFill>
                            <a:srgbClr val="555555"/>
                          </a:solidFill>
                          <a:latin typeface="Arial" pitchFamily="34" charset="0"/>
                          <a:ea typeface="Arial" pitchFamily="34" charset="-122"/>
                          <a:cs typeface="Arial" pitchFamily="34" charset="-120"/>
                        </a:rPr>
                        <a:t>5</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r>
                        <a:rPr lang="en-US" sz="850" b="1" dirty="0">
                          <a:solidFill>
                            <a:srgbClr val="2B2B2B"/>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D663"/>
                    </a:solidFill>
                  </a:tcPr>
                </a:tc>
                <a:tc>
                  <a:txBody>
                    <a:bodyPr/>
                    <a:lstStyle/>
                    <a:p>
                      <a:pPr marL="0" indent="0" algn="ctr">
                        <a:buNone/>
                      </a:pPr>
                      <a:r>
                        <a:rPr lang="en-US" sz="850" b="1" dirty="0">
                          <a:solidFill>
                            <a:srgbClr val="2B2B2B"/>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8B82"/>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extLst>
                  <a:ext uri="{0D108BD9-81ED-4DB2-BD59-A6C34878D82A}">
                    <a16:rowId xmlns:a16="http://schemas.microsoft.com/office/drawing/2014/main" val="10000"/>
                  </a:ext>
                </a:extLst>
              </a:tr>
              <a:tr h="246888">
                <a:tc>
                  <a:txBody>
                    <a:bodyPr/>
                    <a:lstStyle/>
                    <a:p>
                      <a:pPr marL="0" indent="0">
                        <a:buNone/>
                      </a:pPr>
                      <a:r>
                        <a:rPr lang="en-US" sz="850" b="1" dirty="0">
                          <a:solidFill>
                            <a:srgbClr val="555555"/>
                          </a:solidFill>
                          <a:latin typeface="Arial" pitchFamily="34" charset="0"/>
                          <a:ea typeface="Arial" pitchFamily="34" charset="-122"/>
                          <a:cs typeface="Arial" pitchFamily="34" charset="-120"/>
                        </a:rPr>
                        <a:t>4</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r>
                        <a:rPr lang="en-US" sz="850" b="1" dirty="0">
                          <a:solidFill>
                            <a:srgbClr val="2B2B2B"/>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D663"/>
                    </a:solidFill>
                  </a:tcPr>
                </a:tc>
                <a:tc>
                  <a:txBody>
                    <a:bodyPr/>
                    <a:lstStyle/>
                    <a:p>
                      <a:pPr marL="0" indent="0" algn="ctr">
                        <a:buNone/>
                      </a:pPr>
                      <a:r>
                        <a:rPr lang="en-US" sz="850" b="1" dirty="0">
                          <a:solidFill>
                            <a:srgbClr val="2B2B2B"/>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8B82"/>
                    </a:solidFill>
                  </a:tcPr>
                </a:tc>
                <a:tc>
                  <a:txBody>
                    <a:bodyPr/>
                    <a:lstStyle/>
                    <a:p>
                      <a:pPr marL="0" indent="0" algn="ctr">
                        <a:buNone/>
                      </a:pPr>
                      <a:r>
                        <a:rPr lang="en-US" sz="850" b="1" dirty="0">
                          <a:solidFill>
                            <a:srgbClr val="2B2B2B"/>
                          </a:solidFill>
                          <a:latin typeface="Arial" pitchFamily="34" charset="0"/>
                          <a:ea typeface="Arial" pitchFamily="34" charset="-122"/>
                          <a:cs typeface="Arial" pitchFamily="34" charset="-120"/>
                        </a:rPr>
                        <a:t>2</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8B82"/>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extLst>
                  <a:ext uri="{0D108BD9-81ED-4DB2-BD59-A6C34878D82A}">
                    <a16:rowId xmlns:a16="http://schemas.microsoft.com/office/drawing/2014/main" val="10001"/>
                  </a:ext>
                </a:extLst>
              </a:tr>
              <a:tr h="246888">
                <a:tc>
                  <a:txBody>
                    <a:bodyPr/>
                    <a:lstStyle/>
                    <a:p>
                      <a:pPr marL="0" indent="0">
                        <a:buNone/>
                      </a:pPr>
                      <a:r>
                        <a:rPr lang="en-US" sz="850" b="1" dirty="0">
                          <a:solidFill>
                            <a:srgbClr val="555555"/>
                          </a:solidFill>
                          <a:latin typeface="Arial" pitchFamily="34" charset="0"/>
                          <a:ea typeface="Arial" pitchFamily="34" charset="-122"/>
                          <a:cs typeface="Arial" pitchFamily="34" charset="-120"/>
                        </a:rPr>
                        <a:t>3</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r>
                        <a:rPr lang="en-US" sz="850" b="1" dirty="0">
                          <a:solidFill>
                            <a:srgbClr val="2B2B2B"/>
                          </a:solidFill>
                          <a:latin typeface="Arial" pitchFamily="34" charset="0"/>
                          <a:ea typeface="Arial" pitchFamily="34" charset="-122"/>
                          <a:cs typeface="Arial" pitchFamily="34" charset="-120"/>
                        </a:rPr>
                        <a:t>2</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D663"/>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extLst>
                  <a:ext uri="{0D108BD9-81ED-4DB2-BD59-A6C34878D82A}">
                    <a16:rowId xmlns:a16="http://schemas.microsoft.com/office/drawing/2014/main" val="10002"/>
                  </a:ext>
                </a:extLst>
              </a:tr>
              <a:tr h="246888">
                <a:tc>
                  <a:txBody>
                    <a:bodyPr/>
                    <a:lstStyle/>
                    <a:p>
                      <a:pPr marL="0" indent="0">
                        <a:buNone/>
                      </a:pPr>
                      <a:r>
                        <a:rPr lang="en-US" sz="850" b="1" dirty="0">
                          <a:solidFill>
                            <a:srgbClr val="555555"/>
                          </a:solidFill>
                          <a:latin typeface="Arial" pitchFamily="34" charset="0"/>
                          <a:ea typeface="Arial" pitchFamily="34" charset="-122"/>
                          <a:cs typeface="Arial" pitchFamily="34" charset="-120"/>
                        </a:rPr>
                        <a:t>2</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extLst>
                  <a:ext uri="{0D108BD9-81ED-4DB2-BD59-A6C34878D82A}">
                    <a16:rowId xmlns:a16="http://schemas.microsoft.com/office/drawing/2014/main" val="10003"/>
                  </a:ext>
                </a:extLst>
              </a:tr>
              <a:tr h="246888">
                <a:tc>
                  <a:txBody>
                    <a:bodyPr/>
                    <a:lstStyle/>
                    <a:p>
                      <a:pPr marL="0" indent="0">
                        <a:buNone/>
                      </a:pPr>
                      <a:r>
                        <a:rPr lang="en-US" sz="850" b="1" dirty="0">
                          <a:solidFill>
                            <a:srgbClr val="555555"/>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extLst>
                  <a:ext uri="{0D108BD9-81ED-4DB2-BD59-A6C34878D82A}">
                    <a16:rowId xmlns:a16="http://schemas.microsoft.com/office/drawing/2014/main" val="10004"/>
                  </a:ext>
                </a:extLst>
              </a:tr>
              <a:tr h="246888">
                <a:tc>
                  <a:txBody>
                    <a:bodyPr/>
                    <a:lstStyle/>
                    <a:p>
                      <a:pPr marL="0" indent="0">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ctr">
                        <a:buNone/>
                      </a:pPr>
                      <a:r>
                        <a:rPr lang="en-US" sz="850" b="1" dirty="0">
                          <a:solidFill>
                            <a:srgbClr val="555555"/>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ctr">
                        <a:buNone/>
                      </a:pPr>
                      <a:r>
                        <a:rPr lang="en-US" sz="850" b="1" dirty="0">
                          <a:solidFill>
                            <a:srgbClr val="555555"/>
                          </a:solidFill>
                          <a:latin typeface="Arial" pitchFamily="34" charset="0"/>
                          <a:ea typeface="Arial" pitchFamily="34" charset="-122"/>
                          <a:cs typeface="Arial" pitchFamily="34" charset="-120"/>
                        </a:rPr>
                        <a:t>2</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ctr">
                        <a:buNone/>
                      </a:pPr>
                      <a:r>
                        <a:rPr lang="en-US" sz="850" b="1" dirty="0">
                          <a:solidFill>
                            <a:srgbClr val="555555"/>
                          </a:solidFill>
                          <a:latin typeface="Arial" pitchFamily="34" charset="0"/>
                          <a:ea typeface="Arial" pitchFamily="34" charset="-122"/>
                          <a:cs typeface="Arial" pitchFamily="34" charset="-120"/>
                        </a:rPr>
                        <a:t>3</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ctr">
                        <a:buNone/>
                      </a:pPr>
                      <a:r>
                        <a:rPr lang="en-US" sz="850" b="1" dirty="0">
                          <a:solidFill>
                            <a:srgbClr val="555555"/>
                          </a:solidFill>
                          <a:latin typeface="Arial" pitchFamily="34" charset="0"/>
                          <a:ea typeface="Arial" pitchFamily="34" charset="-122"/>
                          <a:cs typeface="Arial" pitchFamily="34" charset="-120"/>
                        </a:rPr>
                        <a:t>4</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ctr">
                        <a:buNone/>
                      </a:pPr>
                      <a:r>
                        <a:rPr lang="en-US" sz="850" b="1" dirty="0">
                          <a:solidFill>
                            <a:srgbClr val="555555"/>
                          </a:solidFill>
                          <a:latin typeface="Arial" pitchFamily="34" charset="0"/>
                          <a:ea typeface="Arial" pitchFamily="34" charset="-122"/>
                          <a:cs typeface="Arial" pitchFamily="34" charset="-120"/>
                        </a:rPr>
                        <a:t>5</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1" name="Text 27"/>
          <p:cNvSpPr txBox="1"/>
          <p:nvPr/>
        </p:nvSpPr>
        <p:spPr>
          <a:xfrm>
            <a:off x="15453359" y="6108192"/>
            <a:ext cx="2377440" cy="256032"/>
          </a:xfrm>
          <a:prstGeom prst="rect">
            <a:avLst/>
          </a:prstGeom>
          <a:noFill/>
          <a:ln/>
        </p:spPr>
        <p:txBody>
          <a:bodyPr wrap="square" lIns="0" tIns="0" rIns="0" bIns="0" rtlCol="0" anchor="t"/>
          <a:lstStyle/>
          <a:p>
            <a:pPr marL="0" indent="0" algn="ctr">
              <a:buNone/>
            </a:pPr>
            <a:r>
              <a:rPr lang="en-US" sz="1050" b="1" dirty="0">
                <a:solidFill>
                  <a:srgbClr val="5B0F4E"/>
                </a:solidFill>
                <a:latin typeface="Arial" pitchFamily="34" charset="0"/>
                <a:ea typeface="Arial" pitchFamily="34" charset="-122"/>
                <a:cs typeface="Arial" pitchFamily="34" charset="-120"/>
              </a:rPr>
              <a:t>After</a:t>
            </a:r>
            <a:endParaRPr lang="en-US" sz="1200" dirty="0"/>
          </a:p>
        </p:txBody>
      </p:sp>
      <p:graphicFrame>
        <p:nvGraphicFramePr>
          <p:cNvPr id="34" name="Table 2"/>
          <p:cNvGraphicFramePr>
            <a:graphicFrameLocks noGrp="1"/>
          </p:cNvGraphicFramePr>
          <p:nvPr>
            <p:extLst>
              <p:ext uri="{D42A27DB-BD31-4B8C-83A1-F6EECF244321}">
                <p14:modId xmlns:p14="http://schemas.microsoft.com/office/powerpoint/2010/main" val="1579011935"/>
              </p:ext>
            </p:extLst>
          </p:nvPr>
        </p:nvGraphicFramePr>
        <p:xfrm>
          <a:off x="15453359" y="6382512"/>
          <a:ext cx="2377440" cy="1481328"/>
        </p:xfrm>
        <a:graphic>
          <a:graphicData uri="http://schemas.openxmlformats.org/drawingml/2006/table">
            <a:tbl>
              <a:tblPr/>
              <a:tblGrid>
                <a:gridCol w="320040">
                  <a:extLst>
                    <a:ext uri="{9D8B030D-6E8A-4147-A177-3AD203B41FA5}">
                      <a16:colId xmlns:a16="http://schemas.microsoft.com/office/drawing/2014/main" val="20000"/>
                    </a:ext>
                  </a:extLst>
                </a:gridCol>
                <a:gridCol w="411480">
                  <a:extLst>
                    <a:ext uri="{9D8B030D-6E8A-4147-A177-3AD203B41FA5}">
                      <a16:colId xmlns:a16="http://schemas.microsoft.com/office/drawing/2014/main" val="20001"/>
                    </a:ext>
                  </a:extLst>
                </a:gridCol>
                <a:gridCol w="411480">
                  <a:extLst>
                    <a:ext uri="{9D8B030D-6E8A-4147-A177-3AD203B41FA5}">
                      <a16:colId xmlns:a16="http://schemas.microsoft.com/office/drawing/2014/main" val="20002"/>
                    </a:ext>
                  </a:extLst>
                </a:gridCol>
                <a:gridCol w="411480">
                  <a:extLst>
                    <a:ext uri="{9D8B030D-6E8A-4147-A177-3AD203B41FA5}">
                      <a16:colId xmlns:a16="http://schemas.microsoft.com/office/drawing/2014/main" val="20003"/>
                    </a:ext>
                  </a:extLst>
                </a:gridCol>
                <a:gridCol w="411480">
                  <a:extLst>
                    <a:ext uri="{9D8B030D-6E8A-4147-A177-3AD203B41FA5}">
                      <a16:colId xmlns:a16="http://schemas.microsoft.com/office/drawing/2014/main" val="20004"/>
                    </a:ext>
                  </a:extLst>
                </a:gridCol>
                <a:gridCol w="411480">
                  <a:extLst>
                    <a:ext uri="{9D8B030D-6E8A-4147-A177-3AD203B41FA5}">
                      <a16:colId xmlns:a16="http://schemas.microsoft.com/office/drawing/2014/main" val="20005"/>
                    </a:ext>
                  </a:extLst>
                </a:gridCol>
              </a:tblGrid>
              <a:tr h="246888">
                <a:tc>
                  <a:txBody>
                    <a:bodyPr/>
                    <a:lstStyle/>
                    <a:p>
                      <a:pPr marL="0" indent="0">
                        <a:buNone/>
                      </a:pPr>
                      <a:r>
                        <a:rPr lang="en-US" sz="850" b="1" dirty="0">
                          <a:solidFill>
                            <a:srgbClr val="555555"/>
                          </a:solidFill>
                          <a:latin typeface="Arial" pitchFamily="34" charset="0"/>
                          <a:ea typeface="Arial" pitchFamily="34" charset="-122"/>
                          <a:cs typeface="Arial" pitchFamily="34" charset="-120"/>
                        </a:rPr>
                        <a:t>5</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2B2B2B"/>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8DAB5"/>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extLst>
                  <a:ext uri="{0D108BD9-81ED-4DB2-BD59-A6C34878D82A}">
                    <a16:rowId xmlns:a16="http://schemas.microsoft.com/office/drawing/2014/main" val="10000"/>
                  </a:ext>
                </a:extLst>
              </a:tr>
              <a:tr h="246888">
                <a:tc>
                  <a:txBody>
                    <a:bodyPr/>
                    <a:lstStyle/>
                    <a:p>
                      <a:pPr marL="0" indent="0">
                        <a:buNone/>
                      </a:pPr>
                      <a:r>
                        <a:rPr lang="en-US" sz="850" b="1" dirty="0">
                          <a:solidFill>
                            <a:srgbClr val="555555"/>
                          </a:solidFill>
                          <a:latin typeface="Arial" pitchFamily="34" charset="0"/>
                          <a:ea typeface="Arial" pitchFamily="34" charset="-122"/>
                          <a:cs typeface="Arial" pitchFamily="34" charset="-120"/>
                        </a:rPr>
                        <a:t>4</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2B2B2B"/>
                          </a:solidFill>
                          <a:latin typeface="Arial" pitchFamily="34" charset="0"/>
                          <a:ea typeface="Arial" pitchFamily="34" charset="-122"/>
                          <a:cs typeface="Arial" pitchFamily="34" charset="-120"/>
                        </a:rPr>
                        <a:t>2</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8DAB5"/>
                    </a:solidFill>
                  </a:tcPr>
                </a:tc>
                <a:tc>
                  <a:txBody>
                    <a:bodyPr/>
                    <a:lstStyle/>
                    <a:p>
                      <a:pPr marL="0" indent="0" algn="ctr">
                        <a:buNone/>
                      </a:pPr>
                      <a:r>
                        <a:rPr lang="en-US" sz="850" b="1" dirty="0">
                          <a:solidFill>
                            <a:srgbClr val="2B2B2B"/>
                          </a:solidFill>
                          <a:latin typeface="Arial" pitchFamily="34" charset="0"/>
                          <a:ea typeface="Arial" pitchFamily="34" charset="-122"/>
                          <a:cs typeface="Arial" pitchFamily="34" charset="-120"/>
                        </a:rPr>
                        <a:t>2</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D663"/>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extLst>
                  <a:ext uri="{0D108BD9-81ED-4DB2-BD59-A6C34878D82A}">
                    <a16:rowId xmlns:a16="http://schemas.microsoft.com/office/drawing/2014/main" val="10001"/>
                  </a:ext>
                </a:extLst>
              </a:tr>
              <a:tr h="246888">
                <a:tc>
                  <a:txBody>
                    <a:bodyPr/>
                    <a:lstStyle/>
                    <a:p>
                      <a:pPr marL="0" indent="0">
                        <a:buNone/>
                      </a:pPr>
                      <a:r>
                        <a:rPr lang="en-US" sz="850" b="1" dirty="0">
                          <a:solidFill>
                            <a:srgbClr val="555555"/>
                          </a:solidFill>
                          <a:latin typeface="Arial" pitchFamily="34" charset="0"/>
                          <a:ea typeface="Arial" pitchFamily="34" charset="-122"/>
                          <a:cs typeface="Arial" pitchFamily="34" charset="-120"/>
                        </a:rPr>
                        <a:t>3</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r>
                        <a:rPr lang="en-US" sz="850" b="1" dirty="0">
                          <a:solidFill>
                            <a:srgbClr val="2B2B2B"/>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D663"/>
                    </a:solidFill>
                  </a:tcPr>
                </a:tc>
                <a:tc>
                  <a:txBody>
                    <a:bodyPr/>
                    <a:lstStyle/>
                    <a:p>
                      <a:pPr marL="0" indent="0" algn="ctr">
                        <a:buNone/>
                      </a:pPr>
                      <a:r>
                        <a:rPr lang="en-US" sz="850" b="1" dirty="0">
                          <a:solidFill>
                            <a:srgbClr val="2B2B2B"/>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D663"/>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extLst>
                  <a:ext uri="{0D108BD9-81ED-4DB2-BD59-A6C34878D82A}">
                    <a16:rowId xmlns:a16="http://schemas.microsoft.com/office/drawing/2014/main" val="10002"/>
                  </a:ext>
                </a:extLst>
              </a:tr>
              <a:tr h="246888">
                <a:tc>
                  <a:txBody>
                    <a:bodyPr/>
                    <a:lstStyle/>
                    <a:p>
                      <a:pPr marL="0" indent="0">
                        <a:buNone/>
                      </a:pPr>
                      <a:r>
                        <a:rPr lang="en-US" sz="850" b="1" dirty="0">
                          <a:solidFill>
                            <a:srgbClr val="555555"/>
                          </a:solidFill>
                          <a:latin typeface="Arial" pitchFamily="34" charset="0"/>
                          <a:ea typeface="Arial" pitchFamily="34" charset="-122"/>
                          <a:cs typeface="Arial" pitchFamily="34" charset="-120"/>
                        </a:rPr>
                        <a:t>2</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r>
                        <a:rPr lang="en-US" sz="850" b="1" dirty="0">
                          <a:solidFill>
                            <a:srgbClr val="2B2B2B"/>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8DAB5"/>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extLst>
                  <a:ext uri="{0D108BD9-81ED-4DB2-BD59-A6C34878D82A}">
                    <a16:rowId xmlns:a16="http://schemas.microsoft.com/office/drawing/2014/main" val="10003"/>
                  </a:ext>
                </a:extLst>
              </a:tr>
              <a:tr h="246888">
                <a:tc>
                  <a:txBody>
                    <a:bodyPr/>
                    <a:lstStyle/>
                    <a:p>
                      <a:pPr marL="0" indent="0">
                        <a:buNone/>
                      </a:pPr>
                      <a:r>
                        <a:rPr lang="en-US" sz="850" b="1" dirty="0">
                          <a:solidFill>
                            <a:srgbClr val="555555"/>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tc>
                  <a:txBody>
                    <a:bodyPr/>
                    <a:lstStyle/>
                    <a:p>
                      <a:pPr marL="0" indent="0" algn="ctr">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7F7"/>
                    </a:solidFill>
                  </a:tcPr>
                </a:tc>
                <a:extLst>
                  <a:ext uri="{0D108BD9-81ED-4DB2-BD59-A6C34878D82A}">
                    <a16:rowId xmlns:a16="http://schemas.microsoft.com/office/drawing/2014/main" val="10004"/>
                  </a:ext>
                </a:extLst>
              </a:tr>
              <a:tr h="246888">
                <a:tc>
                  <a:txBody>
                    <a:bodyPr/>
                    <a:lstStyle/>
                    <a:p>
                      <a:pPr marL="0" indent="0">
                        <a:buNone/>
                      </a:pP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ctr">
                        <a:buNone/>
                      </a:pPr>
                      <a:r>
                        <a:rPr lang="en-US" sz="850" b="1" dirty="0">
                          <a:solidFill>
                            <a:srgbClr val="555555"/>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ctr">
                        <a:buNone/>
                      </a:pPr>
                      <a:r>
                        <a:rPr lang="en-US" sz="850" b="1" dirty="0">
                          <a:solidFill>
                            <a:srgbClr val="555555"/>
                          </a:solidFill>
                          <a:latin typeface="Arial" pitchFamily="34" charset="0"/>
                          <a:ea typeface="Arial" pitchFamily="34" charset="-122"/>
                          <a:cs typeface="Arial" pitchFamily="34" charset="-120"/>
                        </a:rPr>
                        <a:t>2</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ctr">
                        <a:buNone/>
                      </a:pPr>
                      <a:r>
                        <a:rPr lang="en-US" sz="850" b="1" dirty="0">
                          <a:solidFill>
                            <a:srgbClr val="555555"/>
                          </a:solidFill>
                          <a:latin typeface="Arial" pitchFamily="34" charset="0"/>
                          <a:ea typeface="Arial" pitchFamily="34" charset="-122"/>
                          <a:cs typeface="Arial" pitchFamily="34" charset="-120"/>
                        </a:rPr>
                        <a:t>3</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ctr">
                        <a:buNone/>
                      </a:pPr>
                      <a:r>
                        <a:rPr lang="en-US" sz="850" b="1" dirty="0">
                          <a:solidFill>
                            <a:srgbClr val="555555"/>
                          </a:solidFill>
                          <a:latin typeface="Arial" pitchFamily="34" charset="0"/>
                          <a:ea typeface="Arial" pitchFamily="34" charset="-122"/>
                          <a:cs typeface="Arial" pitchFamily="34" charset="-120"/>
                        </a:rPr>
                        <a:t>4</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ctr">
                        <a:buNone/>
                      </a:pPr>
                      <a:r>
                        <a:rPr lang="en-US" sz="850" b="1" dirty="0">
                          <a:solidFill>
                            <a:srgbClr val="555555"/>
                          </a:solidFill>
                          <a:latin typeface="Arial" pitchFamily="34" charset="0"/>
                          <a:ea typeface="Arial" pitchFamily="34" charset="-122"/>
                          <a:cs typeface="Arial" pitchFamily="34" charset="-120"/>
                        </a:rPr>
                        <a:t>5</a:t>
                      </a:r>
                      <a:endParaRPr lang="en-US" sz="1000" dirty="0">
                        <a:latin typeface="Arial" charset="0"/>
                        <a:ea typeface="Arial" charset="0"/>
                        <a:cs typeface="Arial" charset="0"/>
                      </a:endParaRPr>
                    </a:p>
                  </a:txBody>
                  <a:tcPr marL="9144" marR="9144" marT="9144" marB="914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3" name="Text 28"/>
          <p:cNvSpPr txBox="1"/>
          <p:nvPr/>
        </p:nvSpPr>
        <p:spPr>
          <a:xfrm>
            <a:off x="12847320" y="7900416"/>
            <a:ext cx="4983480" cy="228600"/>
          </a:xfrm>
          <a:prstGeom prst="rect">
            <a:avLst/>
          </a:prstGeom>
          <a:noFill/>
          <a:ln/>
        </p:spPr>
        <p:txBody>
          <a:bodyPr wrap="square" lIns="0" tIns="0" rIns="0" bIns="0" rtlCol="0" anchor="t"/>
          <a:lstStyle/>
          <a:p>
            <a:pPr marL="0" indent="0" algn="ctr">
              <a:buNone/>
            </a:pPr>
            <a:r>
              <a:rPr lang="en-US" sz="1000" dirty="0">
                <a:solidFill>
                  <a:srgbClr val="555555"/>
                </a:solidFill>
                <a:latin typeface="Arial" pitchFamily="34" charset="0"/>
                <a:ea typeface="Arial" pitchFamily="34" charset="-122"/>
                <a:cs typeface="Arial" pitchFamily="34" charset="-120"/>
              </a:rPr>
              <a:t>Rows = impact (5 high) · columns = likelihood: pitfalls move down and left</a:t>
            </a:r>
            <a:endParaRPr lang="en-US" sz="1000" dirty="0"/>
          </a:p>
        </p:txBody>
      </p:sp>
      <p:sp>
        <p:nvSpPr>
          <p:cNvPr id="32" name="Shape 29"/>
          <p:cNvSpPr/>
          <p:nvPr/>
        </p:nvSpPr>
        <p:spPr>
          <a:xfrm>
            <a:off x="12847320" y="8183879"/>
            <a:ext cx="2377440" cy="1188720"/>
          </a:xfrm>
          <a:prstGeom prst="roundRect">
            <a:avLst>
              <a:gd name="adj" fmla="val 7500"/>
            </a:avLst>
          </a:prstGeom>
          <a:solidFill>
            <a:srgbClr val="E6F4EA"/>
          </a:solidFill>
          <a:ln w="12700">
            <a:solidFill>
              <a:srgbClr val="E6F4EA"/>
            </a:solidFill>
            <a:prstDash val="solid"/>
          </a:ln>
        </p:spPr>
        <p:txBody>
          <a:bodyPr/>
          <a:lstStyle/>
          <a:p>
            <a:endParaRPr lang="en-IN"/>
          </a:p>
        </p:txBody>
      </p:sp>
      <p:sp>
        <p:nvSpPr>
          <p:cNvPr id="35" name="Text 30"/>
          <p:cNvSpPr txBox="1"/>
          <p:nvPr/>
        </p:nvSpPr>
        <p:spPr>
          <a:xfrm>
            <a:off x="12938760" y="8211312"/>
            <a:ext cx="2240280" cy="411480"/>
          </a:xfrm>
          <a:prstGeom prst="rect">
            <a:avLst/>
          </a:prstGeom>
          <a:noFill/>
          <a:ln/>
        </p:spPr>
        <p:txBody>
          <a:bodyPr wrap="square" lIns="0" tIns="0" rIns="0" bIns="0" rtlCol="0" anchor="t"/>
          <a:lstStyle/>
          <a:p>
            <a:pPr marL="0" indent="0">
              <a:buNone/>
            </a:pPr>
            <a:r>
              <a:rPr lang="en-US" sz="1800" b="1" dirty="0">
                <a:solidFill>
                  <a:srgbClr val="1E8E3E"/>
                </a:solidFill>
                <a:latin typeface="Arial" pitchFamily="34" charset="0"/>
                <a:ea typeface="Arial" pitchFamily="34" charset="-122"/>
                <a:cs typeface="Arial" pitchFamily="34" charset="-120"/>
              </a:rPr>
              <a:t>35.5 → 11.5</a:t>
            </a:r>
            <a:endParaRPr lang="en-US" sz="2200" dirty="0"/>
          </a:p>
        </p:txBody>
      </p:sp>
      <p:sp>
        <p:nvSpPr>
          <p:cNvPr id="36" name="Text 31"/>
          <p:cNvSpPr txBox="1"/>
          <p:nvPr/>
        </p:nvSpPr>
        <p:spPr>
          <a:xfrm>
            <a:off x="12938760" y="8641080"/>
            <a:ext cx="2240280" cy="685800"/>
          </a:xfrm>
          <a:prstGeom prst="rect">
            <a:avLst/>
          </a:prstGeom>
          <a:noFill/>
          <a:ln/>
        </p:spPr>
        <p:txBody>
          <a:bodyPr wrap="square" lIns="0" tIns="0" rIns="0" bIns="0" rtlCol="0" anchor="t"/>
          <a:lstStyle/>
          <a:p>
            <a:pPr marL="0" indent="0">
              <a:buNone/>
            </a:pPr>
            <a:r>
              <a:rPr lang="en-US" sz="1200" dirty="0">
                <a:solidFill>
                  <a:srgbClr val="2B2B2B"/>
                </a:solidFill>
                <a:latin typeface="Arial" pitchFamily="34" charset="0"/>
                <a:ea typeface="Arial" pitchFamily="34" charset="-122"/>
                <a:cs typeface="Arial" pitchFamily="34" charset="-120"/>
              </a:rPr>
              <a:t>Average RPN across 8 pitfalls (−68%)</a:t>
            </a:r>
            <a:endParaRPr lang="en-US" sz="1200" dirty="0"/>
          </a:p>
        </p:txBody>
      </p:sp>
      <p:sp>
        <p:nvSpPr>
          <p:cNvPr id="37" name="Shape 32"/>
          <p:cNvSpPr/>
          <p:nvPr/>
        </p:nvSpPr>
        <p:spPr>
          <a:xfrm>
            <a:off x="15453359" y="8183879"/>
            <a:ext cx="2377440" cy="1188720"/>
          </a:xfrm>
          <a:prstGeom prst="roundRect">
            <a:avLst>
              <a:gd name="adj" fmla="val 7500"/>
            </a:avLst>
          </a:prstGeom>
          <a:solidFill>
            <a:srgbClr val="FFF1DC"/>
          </a:solidFill>
          <a:ln w="12700">
            <a:solidFill>
              <a:srgbClr val="FFF1DC"/>
            </a:solidFill>
            <a:prstDash val="solid"/>
          </a:ln>
        </p:spPr>
        <p:txBody>
          <a:bodyPr/>
          <a:lstStyle/>
          <a:p>
            <a:endParaRPr lang="en-IN"/>
          </a:p>
        </p:txBody>
      </p:sp>
      <p:sp>
        <p:nvSpPr>
          <p:cNvPr id="38" name="Text 33"/>
          <p:cNvSpPr txBox="1"/>
          <p:nvPr/>
        </p:nvSpPr>
        <p:spPr>
          <a:xfrm>
            <a:off x="15544800" y="8211312"/>
            <a:ext cx="2240280" cy="256032"/>
          </a:xfrm>
          <a:prstGeom prst="rect">
            <a:avLst/>
          </a:prstGeom>
          <a:noFill/>
          <a:ln/>
        </p:spPr>
        <p:txBody>
          <a:bodyPr wrap="square" lIns="0" tIns="0" rIns="0" bIns="0" rtlCol="0" anchor="t"/>
          <a:lstStyle/>
          <a:p>
            <a:pPr marL="0" indent="0">
              <a:buNone/>
            </a:pPr>
            <a:r>
              <a:rPr lang="en-US" sz="1400" b="1" dirty="0">
                <a:solidFill>
                  <a:srgbClr val="C9660A"/>
                </a:solidFill>
                <a:latin typeface="Arial" pitchFamily="34" charset="0"/>
                <a:ea typeface="Arial" pitchFamily="34" charset="-122"/>
                <a:cs typeface="Arial" pitchFamily="34" charset="-120"/>
              </a:rPr>
              <a:t>Roadmap</a:t>
            </a:r>
            <a:endParaRPr lang="en-US" sz="1400" dirty="0"/>
          </a:p>
        </p:txBody>
      </p:sp>
      <p:sp>
        <p:nvSpPr>
          <p:cNvPr id="39" name="Text 34"/>
          <p:cNvSpPr txBox="1"/>
          <p:nvPr/>
        </p:nvSpPr>
        <p:spPr>
          <a:xfrm>
            <a:off x="15544800" y="8476488"/>
            <a:ext cx="2240280" cy="868680"/>
          </a:xfrm>
          <a:prstGeom prst="rect">
            <a:avLst/>
          </a:prstGeom>
          <a:noFill/>
          <a:ln/>
        </p:spPr>
        <p:txBody>
          <a:bodyPr wrap="square" lIns="0" tIns="0" rIns="0" bIns="0" rtlCol="0" anchor="t"/>
          <a:lstStyle/>
          <a:p>
            <a:pPr marL="0" indent="0">
              <a:buNone/>
            </a:pPr>
            <a:r>
              <a:rPr lang="en-US" sz="1200" dirty="0">
                <a:solidFill>
                  <a:srgbClr val="2B2B2B"/>
                </a:solidFill>
                <a:latin typeface="Arial" pitchFamily="34" charset="0"/>
                <a:ea typeface="Arial" pitchFamily="34" charset="-122"/>
                <a:cs typeface="Arial" pitchFamily="34" charset="-120"/>
              </a:rPr>
              <a:t>Customer fraud checks (P11); pricing tickets verified before closing; band-shift and festive triggers</a:t>
            </a:r>
            <a:endParaRPr lang="en-US" sz="1200" dirty="0"/>
          </a:p>
        </p:txBody>
      </p:sp>
      <p:sp>
        <p:nvSpPr>
          <p:cNvPr id="40" name="TextBox 39"/>
          <p:cNvSpPr txBox="1"/>
          <p:nvPr/>
        </p:nvSpPr>
        <p:spPr>
          <a:xfrm>
            <a:off x="457200" y="6108192"/>
            <a:ext cx="7315200" cy="276999"/>
          </a:xfrm>
          <a:prstGeom prst="rect">
            <a:avLst/>
          </a:prstGeom>
          <a:noFill/>
        </p:spPr>
        <p:txBody>
          <a:bodyPr wrap="square" lIns="0" tIns="0" rIns="0" bIns="0">
            <a:spAutoFit/>
          </a:bodyPr>
          <a:lstStyle/>
          <a:p>
            <a:r>
              <a:rPr b="1" i="0" dirty="0">
                <a:solidFill>
                  <a:srgbClr val="5B0F4E"/>
                </a:solidFill>
                <a:latin typeface="Arial"/>
              </a:rPr>
              <a:t>Pitfalls &amp; </a:t>
            </a:r>
            <a:r>
              <a:rPr lang="en-US" b="1" dirty="0">
                <a:solidFill>
                  <a:srgbClr val="5B0F4E"/>
                </a:solidFill>
                <a:latin typeface="Arial"/>
              </a:rPr>
              <a:t>M</a:t>
            </a:r>
            <a:r>
              <a:rPr b="1" i="0" dirty="0">
                <a:solidFill>
                  <a:srgbClr val="5B0F4E"/>
                </a:solidFill>
                <a:latin typeface="Arial"/>
              </a:rPr>
              <a:t>itigation</a:t>
            </a:r>
          </a:p>
        </p:txBody>
      </p:sp>
      <p:pic>
        <p:nvPicPr>
          <p:cNvPr id="48" name="Picture 47">
            <a:extLst>
              <a:ext uri="{FF2B5EF4-FFF2-40B4-BE49-F238E27FC236}">
                <a16:creationId xmlns:a16="http://schemas.microsoft.com/office/drawing/2014/main" id="{86FDAEEA-DD84-C1F1-A02D-9696484AA64A}"/>
              </a:ext>
            </a:extLst>
          </p:cNvPr>
          <p:cNvPicPr>
            <a:picLocks noChangeAspect="1"/>
          </p:cNvPicPr>
          <p:nvPr/>
        </p:nvPicPr>
        <p:blipFill>
          <a:blip r:embed="rId5"/>
          <a:srcRect t="11606"/>
          <a:stretch>
            <a:fillRect/>
          </a:stretch>
        </p:blipFill>
        <p:spPr>
          <a:xfrm>
            <a:off x="6583680" y="3108960"/>
            <a:ext cx="5117405" cy="2880360"/>
          </a:xfrm>
          <a:prstGeom prst="rect">
            <a:avLst/>
          </a:prstGeom>
        </p:spPr>
      </p:pic>
      <p:sp>
        <p:nvSpPr>
          <p:cNvPr id="49" name="TextBox 48">
            <a:extLst>
              <a:ext uri="{FF2B5EF4-FFF2-40B4-BE49-F238E27FC236}">
                <a16:creationId xmlns:a16="http://schemas.microsoft.com/office/drawing/2014/main" id="{9A9B878D-D0C5-DB2A-B06F-2B7B06ADEC00}"/>
              </a:ext>
            </a:extLst>
          </p:cNvPr>
          <p:cNvSpPr txBox="1"/>
          <p:nvPr/>
        </p:nvSpPr>
        <p:spPr>
          <a:xfrm>
            <a:off x="10981140" y="5619988"/>
            <a:ext cx="902825" cy="369332"/>
          </a:xfrm>
          <a:prstGeom prst="rect">
            <a:avLst/>
          </a:prstGeom>
          <a:noFill/>
        </p:spPr>
        <p:txBody>
          <a:bodyPr wrap="square">
            <a:spAutoFit/>
          </a:bodyPr>
          <a:lstStyle/>
          <a:p>
            <a:r>
              <a:rPr lang="en-US" dirty="0">
                <a:solidFill>
                  <a:srgbClr val="2B2B2B"/>
                </a:solidFill>
                <a:latin typeface="Arial" pitchFamily="34" charset="0"/>
                <a:ea typeface="Arial" pitchFamily="34" charset="-122"/>
                <a:cs typeface="Arial" pitchFamily="34" charset="-120"/>
              </a:rPr>
              <a:t> </a:t>
            </a:r>
            <a:r>
              <a:rPr lang="en-US" dirty="0">
                <a:solidFill>
                  <a:srgbClr val="2B2B2B"/>
                </a:solidFill>
                <a:highlight>
                  <a:srgbClr val="00FF00"/>
                </a:highlight>
                <a:latin typeface="Arial" pitchFamily="34" charset="0"/>
                <a:ea typeface="Arial" pitchFamily="34" charset="-122"/>
                <a:cs typeface="Arial" pitchFamily="34" charset="-120"/>
                <a:hlinkClick r:id="rId6"/>
              </a:rPr>
              <a:t>LINK</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480560" y="502920"/>
            <a:ext cx="8778240" cy="868680"/>
          </a:xfrm>
          <a:prstGeom prst="rect">
            <a:avLst/>
          </a:prstGeom>
          <a:noFill/>
          <a:ln/>
        </p:spPr>
        <p:txBody>
          <a:bodyPr wrap="square" lIns="0" tIns="0" rIns="0" bIns="0" rtlCol="0" anchor="ctr"/>
          <a:lstStyle/>
          <a:p>
            <a:pPr marL="0" indent="0">
              <a:buNone/>
            </a:pPr>
            <a:r>
              <a:rPr lang="en-US" sz="3400" b="1" dirty="0">
                <a:solidFill>
                  <a:srgbClr val="5B0F4E"/>
                </a:solidFill>
                <a:latin typeface="Arial" pitchFamily="34" charset="0"/>
                <a:ea typeface="Arial" pitchFamily="34" charset="-122"/>
                <a:cs typeface="Arial" pitchFamily="34" charset="-120"/>
              </a:rPr>
              <a:t>Appendix: Workbooks &amp; Research</a:t>
            </a:r>
            <a:endParaRPr lang="en-US" sz="3800" dirty="0"/>
          </a:p>
        </p:txBody>
      </p:sp>
      <p:sp>
        <p:nvSpPr>
          <p:cNvPr id="3" name="Text 1"/>
          <p:cNvSpPr txBox="1"/>
          <p:nvPr/>
        </p:nvSpPr>
        <p:spPr>
          <a:xfrm>
            <a:off x="4480560" y="1371600"/>
            <a:ext cx="8778240" cy="502920"/>
          </a:xfrm>
          <a:prstGeom prst="rect">
            <a:avLst/>
          </a:prstGeom>
          <a:noFill/>
          <a:ln/>
        </p:spPr>
        <p:txBody>
          <a:bodyPr wrap="square" lIns="0" tIns="0" rIns="0" bIns="0" rtlCol="0" anchor="ctr"/>
          <a:lstStyle/>
          <a:p>
            <a:pPr marL="0" indent="0">
              <a:buNone/>
            </a:pPr>
            <a:r>
              <a:rPr lang="en-US" sz="1700" i="1" dirty="0">
                <a:solidFill>
                  <a:srgbClr val="C9660A"/>
                </a:solidFill>
                <a:latin typeface="Arial" pitchFamily="34" charset="0"/>
                <a:ea typeface="Arial" pitchFamily="34" charset="-122"/>
                <a:cs typeface="Arial" pitchFamily="34" charset="-120"/>
              </a:rPr>
              <a:t>Every number comes from 6 linked Excel workbooks and our seller / buyer Google Form research</a:t>
            </a:r>
            <a:endParaRPr lang="en-US" sz="1700" dirty="0"/>
          </a:p>
        </p:txBody>
      </p:sp>
      <p:grpSp>
        <p:nvGrpSpPr>
          <p:cNvPr id="86" name="Group 85">
            <a:extLst>
              <a:ext uri="{FF2B5EF4-FFF2-40B4-BE49-F238E27FC236}">
                <a16:creationId xmlns:a16="http://schemas.microsoft.com/office/drawing/2014/main" id="{67F2018E-CA4A-EDE1-3294-F90C1149CCC2}"/>
              </a:ext>
            </a:extLst>
          </p:cNvPr>
          <p:cNvGrpSpPr/>
          <p:nvPr/>
        </p:nvGrpSpPr>
        <p:grpSpPr>
          <a:xfrm>
            <a:off x="1066549" y="2542032"/>
            <a:ext cx="2103120" cy="1188720"/>
            <a:chOff x="457200" y="2560320"/>
            <a:chExt cx="2103120" cy="1188720"/>
          </a:xfrm>
        </p:grpSpPr>
        <p:sp>
          <p:nvSpPr>
            <p:cNvPr id="4" name="Shape 2"/>
            <p:cNvSpPr/>
            <p:nvPr/>
          </p:nvSpPr>
          <p:spPr>
            <a:xfrm>
              <a:off x="457200" y="2560320"/>
              <a:ext cx="2103120" cy="1188720"/>
            </a:xfrm>
            <a:prstGeom prst="roundRect">
              <a:avLst>
                <a:gd name="adj" fmla="val 7742"/>
              </a:avLst>
            </a:prstGeom>
            <a:solidFill>
              <a:srgbClr val="F3E8F1"/>
            </a:solidFill>
            <a:ln w="12700">
              <a:solidFill>
                <a:srgbClr val="F3E8F1"/>
              </a:solidFill>
              <a:prstDash val="solid"/>
            </a:ln>
          </p:spPr>
          <p:txBody>
            <a:bodyPr/>
            <a:lstStyle/>
            <a:p>
              <a:endParaRPr lang="en-IN" sz="2400"/>
            </a:p>
          </p:txBody>
        </p:sp>
        <p:sp>
          <p:nvSpPr>
            <p:cNvPr id="5" name="Shape 3"/>
            <p:cNvSpPr/>
            <p:nvPr/>
          </p:nvSpPr>
          <p:spPr>
            <a:xfrm>
              <a:off x="530352" y="2633472"/>
              <a:ext cx="384048" cy="384048"/>
            </a:xfrm>
            <a:prstGeom prst="ellipse">
              <a:avLst/>
            </a:prstGeom>
            <a:solidFill>
              <a:srgbClr val="1D6F42"/>
            </a:solidFill>
            <a:ln w="12700">
              <a:solidFill>
                <a:srgbClr val="1D6F42"/>
              </a:solidFill>
              <a:prstDash val="solid"/>
            </a:ln>
          </p:spPr>
          <p:txBody>
            <a:bodyPr/>
            <a:lstStyle/>
            <a:p>
              <a:endParaRPr lang="en-IN" sz="2400"/>
            </a:p>
          </p:txBody>
        </p:sp>
        <p:pic>
          <p:nvPicPr>
            <p:cNvPr id="6" name="Image 0" descr="preencoded.png"/>
            <p:cNvPicPr>
              <a:picLocks noChangeAspect="1"/>
            </p:cNvPicPr>
            <p:nvPr/>
          </p:nvPicPr>
          <p:blipFill>
            <a:blip r:embed="rId4"/>
            <a:stretch>
              <a:fillRect/>
            </a:stretch>
          </p:blipFill>
          <p:spPr>
            <a:xfrm>
              <a:off x="621792" y="2724912"/>
              <a:ext cx="201168" cy="201168"/>
            </a:xfrm>
            <a:prstGeom prst="rect">
              <a:avLst/>
            </a:prstGeom>
          </p:spPr>
        </p:pic>
        <p:sp>
          <p:nvSpPr>
            <p:cNvPr id="7" name="Text 4"/>
            <p:cNvSpPr txBox="1"/>
            <p:nvPr/>
          </p:nvSpPr>
          <p:spPr>
            <a:xfrm>
              <a:off x="969264" y="2596896"/>
              <a:ext cx="1554480" cy="438912"/>
            </a:xfrm>
            <a:prstGeom prst="rect">
              <a:avLst/>
            </a:prstGeom>
            <a:noFill/>
            <a:ln/>
          </p:spPr>
          <p:txBody>
            <a:bodyPr wrap="square" lIns="762" tIns="762" rIns="762" bIns="762" rtlCol="0" anchor="ctr"/>
            <a:lstStyle/>
            <a:p>
              <a:pPr marL="0" indent="0">
                <a:buNone/>
              </a:pPr>
              <a:r>
                <a:rPr lang="en-US" sz="1600" b="1" dirty="0">
                  <a:solidFill>
                    <a:srgbClr val="5B0F4E"/>
                  </a:solidFill>
                  <a:latin typeface="Arial" pitchFamily="34" charset="0"/>
                  <a:ea typeface="Arial" pitchFamily="34" charset="-122"/>
                  <a:cs typeface="Arial" pitchFamily="34" charset="-120"/>
                </a:rPr>
                <a:t>Assumptions</a:t>
              </a:r>
              <a:endParaRPr lang="en-US" sz="1600" dirty="0"/>
            </a:p>
          </p:txBody>
        </p:sp>
        <p:sp>
          <p:nvSpPr>
            <p:cNvPr id="8" name="Text 5"/>
            <p:cNvSpPr txBox="1"/>
            <p:nvPr/>
          </p:nvSpPr>
          <p:spPr>
            <a:xfrm>
              <a:off x="530352" y="3072384"/>
              <a:ext cx="1975104" cy="658368"/>
            </a:xfrm>
            <a:prstGeom prst="rect">
              <a:avLst/>
            </a:prstGeom>
            <a:noFill/>
            <a:ln/>
          </p:spPr>
          <p:txBody>
            <a:bodyPr wrap="square" lIns="762" tIns="762" rIns="762" bIns="762" rtlCol="0" anchor="t"/>
            <a:lstStyle/>
            <a:p>
              <a:pPr marL="0" indent="0">
                <a:buNone/>
              </a:pPr>
              <a:r>
                <a:rPr lang="en-US" sz="1100" dirty="0">
                  <a:solidFill>
                    <a:srgbClr val="2B2B2B"/>
                  </a:solidFill>
                  <a:latin typeface="Arial" pitchFamily="34" charset="0"/>
                  <a:ea typeface="Arial" pitchFamily="34" charset="-122"/>
                  <a:cs typeface="Arial" pitchFamily="34" charset="-120"/>
                </a:rPr>
                <a:t>Every input with low / base / high, source, confidence; category priors</a:t>
              </a:r>
              <a:endParaRPr lang="en-US" sz="1100" dirty="0"/>
            </a:p>
          </p:txBody>
        </p:sp>
      </p:grpSp>
      <p:grpSp>
        <p:nvGrpSpPr>
          <p:cNvPr id="87" name="Group 86">
            <a:extLst>
              <a:ext uri="{FF2B5EF4-FFF2-40B4-BE49-F238E27FC236}">
                <a16:creationId xmlns:a16="http://schemas.microsoft.com/office/drawing/2014/main" id="{371BC0DD-66F7-884A-C4E6-9D894FAA35EA}"/>
              </a:ext>
            </a:extLst>
          </p:cNvPr>
          <p:cNvGrpSpPr/>
          <p:nvPr/>
        </p:nvGrpSpPr>
        <p:grpSpPr>
          <a:xfrm>
            <a:off x="3603742" y="2551176"/>
            <a:ext cx="2103120" cy="1188720"/>
            <a:chOff x="4818888" y="2560320"/>
            <a:chExt cx="2103120" cy="1188720"/>
          </a:xfrm>
        </p:grpSpPr>
        <p:sp>
          <p:nvSpPr>
            <p:cNvPr id="14" name="Shape 10"/>
            <p:cNvSpPr/>
            <p:nvPr/>
          </p:nvSpPr>
          <p:spPr>
            <a:xfrm>
              <a:off x="4818888" y="2560320"/>
              <a:ext cx="2103120" cy="1188720"/>
            </a:xfrm>
            <a:prstGeom prst="roundRect">
              <a:avLst>
                <a:gd name="adj" fmla="val 7742"/>
              </a:avLst>
            </a:prstGeom>
            <a:solidFill>
              <a:srgbClr val="F3E8F1"/>
            </a:solidFill>
            <a:ln w="12700">
              <a:solidFill>
                <a:srgbClr val="F3E8F1"/>
              </a:solidFill>
              <a:prstDash val="solid"/>
            </a:ln>
          </p:spPr>
          <p:txBody>
            <a:bodyPr/>
            <a:lstStyle/>
            <a:p>
              <a:endParaRPr lang="en-IN" sz="2400"/>
            </a:p>
          </p:txBody>
        </p:sp>
        <p:sp>
          <p:nvSpPr>
            <p:cNvPr id="15" name="Shape 11"/>
            <p:cNvSpPr/>
            <p:nvPr/>
          </p:nvSpPr>
          <p:spPr>
            <a:xfrm>
              <a:off x="4892040" y="2633472"/>
              <a:ext cx="384048" cy="384048"/>
            </a:xfrm>
            <a:prstGeom prst="ellipse">
              <a:avLst/>
            </a:prstGeom>
            <a:solidFill>
              <a:srgbClr val="1D6F42"/>
            </a:solidFill>
            <a:ln w="12700">
              <a:solidFill>
                <a:srgbClr val="1D6F42"/>
              </a:solidFill>
              <a:prstDash val="solid"/>
            </a:ln>
          </p:spPr>
          <p:txBody>
            <a:bodyPr/>
            <a:lstStyle/>
            <a:p>
              <a:endParaRPr lang="en-IN" sz="2400"/>
            </a:p>
          </p:txBody>
        </p:sp>
        <p:pic>
          <p:nvPicPr>
            <p:cNvPr id="16" name="Image 2" descr="preencoded.png"/>
            <p:cNvPicPr>
              <a:picLocks noChangeAspect="1"/>
            </p:cNvPicPr>
            <p:nvPr/>
          </p:nvPicPr>
          <p:blipFill>
            <a:blip r:embed="rId4"/>
            <a:stretch>
              <a:fillRect/>
            </a:stretch>
          </p:blipFill>
          <p:spPr>
            <a:xfrm>
              <a:off x="4983479" y="2724912"/>
              <a:ext cx="201168" cy="201168"/>
            </a:xfrm>
            <a:prstGeom prst="rect">
              <a:avLst/>
            </a:prstGeom>
          </p:spPr>
        </p:pic>
        <p:sp>
          <p:nvSpPr>
            <p:cNvPr id="17" name="Text 12"/>
            <p:cNvSpPr txBox="1"/>
            <p:nvPr/>
          </p:nvSpPr>
          <p:spPr>
            <a:xfrm>
              <a:off x="5330952" y="2596896"/>
              <a:ext cx="1554480" cy="438912"/>
            </a:xfrm>
            <a:prstGeom prst="rect">
              <a:avLst/>
            </a:prstGeom>
            <a:noFill/>
            <a:ln/>
          </p:spPr>
          <p:txBody>
            <a:bodyPr wrap="square" lIns="762" tIns="762" rIns="762" bIns="762" rtlCol="0" anchor="ctr"/>
            <a:lstStyle/>
            <a:p>
              <a:pPr marL="0" indent="0">
                <a:buNone/>
              </a:pPr>
              <a:r>
                <a:rPr lang="en-US" sz="1600" b="1" dirty="0">
                  <a:solidFill>
                    <a:srgbClr val="5B0F4E"/>
                  </a:solidFill>
                  <a:latin typeface="Arial" pitchFamily="34" charset="0"/>
                  <a:ea typeface="Arial" pitchFamily="34" charset="-122"/>
                  <a:cs typeface="Arial" pitchFamily="34" charset="-120"/>
                </a:rPr>
                <a:t>Floor Model</a:t>
              </a:r>
              <a:endParaRPr lang="en-US" sz="1600" dirty="0"/>
            </a:p>
          </p:txBody>
        </p:sp>
        <p:sp>
          <p:nvSpPr>
            <p:cNvPr id="18" name="Text 13"/>
            <p:cNvSpPr txBox="1"/>
            <p:nvPr/>
          </p:nvSpPr>
          <p:spPr>
            <a:xfrm>
              <a:off x="4892040" y="3072384"/>
              <a:ext cx="1975104" cy="658368"/>
            </a:xfrm>
            <a:prstGeom prst="rect">
              <a:avLst/>
            </a:prstGeom>
            <a:noFill/>
            <a:ln/>
          </p:spPr>
          <p:txBody>
            <a:bodyPr wrap="square" lIns="762" tIns="762" rIns="762" bIns="762" rtlCol="0" anchor="t"/>
            <a:lstStyle/>
            <a:p>
              <a:pPr marL="0" indent="0">
                <a:buNone/>
              </a:pPr>
              <a:r>
                <a:rPr lang="en-US" sz="1100" dirty="0">
                  <a:solidFill>
                    <a:srgbClr val="2B2B2B"/>
                  </a:solidFill>
                  <a:latin typeface="Arial" pitchFamily="34" charset="0"/>
                  <a:ea typeface="Arial" pitchFamily="34" charset="-122"/>
                  <a:cs typeface="Arial" pitchFamily="34" charset="-120"/>
                </a:rPr>
                <a:t>Rate card, 5 SKUs, price → bank, weight check, keep / fix / drop</a:t>
              </a:r>
              <a:endParaRPr lang="en-US" sz="1100" dirty="0"/>
            </a:p>
          </p:txBody>
        </p:sp>
      </p:grpSp>
      <p:grpSp>
        <p:nvGrpSpPr>
          <p:cNvPr id="88" name="Group 87">
            <a:extLst>
              <a:ext uri="{FF2B5EF4-FFF2-40B4-BE49-F238E27FC236}">
                <a16:creationId xmlns:a16="http://schemas.microsoft.com/office/drawing/2014/main" id="{0289F2FB-7444-8C0D-896C-FA2D99475D0A}"/>
              </a:ext>
            </a:extLst>
          </p:cNvPr>
          <p:cNvGrpSpPr/>
          <p:nvPr/>
        </p:nvGrpSpPr>
        <p:grpSpPr>
          <a:xfrm>
            <a:off x="6140935" y="2551176"/>
            <a:ext cx="2103120" cy="1188720"/>
            <a:chOff x="6999731" y="2560320"/>
            <a:chExt cx="2103120" cy="1188720"/>
          </a:xfrm>
        </p:grpSpPr>
        <p:sp>
          <p:nvSpPr>
            <p:cNvPr id="19" name="Shape 14"/>
            <p:cNvSpPr/>
            <p:nvPr/>
          </p:nvSpPr>
          <p:spPr>
            <a:xfrm>
              <a:off x="6999731" y="2560320"/>
              <a:ext cx="2103120" cy="1188720"/>
            </a:xfrm>
            <a:prstGeom prst="roundRect">
              <a:avLst>
                <a:gd name="adj" fmla="val 7742"/>
              </a:avLst>
            </a:prstGeom>
            <a:solidFill>
              <a:srgbClr val="FFF1DC"/>
            </a:solidFill>
            <a:ln w="12700">
              <a:solidFill>
                <a:srgbClr val="FFF1DC"/>
              </a:solidFill>
              <a:prstDash val="solid"/>
            </a:ln>
          </p:spPr>
          <p:txBody>
            <a:bodyPr/>
            <a:lstStyle/>
            <a:p>
              <a:endParaRPr lang="en-IN" sz="2400"/>
            </a:p>
          </p:txBody>
        </p:sp>
        <p:sp>
          <p:nvSpPr>
            <p:cNvPr id="20" name="Shape 15"/>
            <p:cNvSpPr/>
            <p:nvPr/>
          </p:nvSpPr>
          <p:spPr>
            <a:xfrm>
              <a:off x="7072883" y="2633472"/>
              <a:ext cx="384048" cy="384048"/>
            </a:xfrm>
            <a:prstGeom prst="ellipse">
              <a:avLst/>
            </a:prstGeom>
            <a:solidFill>
              <a:srgbClr val="1D6F42"/>
            </a:solidFill>
            <a:ln w="12700">
              <a:solidFill>
                <a:srgbClr val="1D6F42"/>
              </a:solidFill>
              <a:prstDash val="solid"/>
            </a:ln>
          </p:spPr>
          <p:txBody>
            <a:bodyPr/>
            <a:lstStyle/>
            <a:p>
              <a:endParaRPr lang="en-IN" sz="2400"/>
            </a:p>
          </p:txBody>
        </p:sp>
        <p:pic>
          <p:nvPicPr>
            <p:cNvPr id="21" name="Image 3" descr="preencoded.png"/>
            <p:cNvPicPr>
              <a:picLocks noChangeAspect="1"/>
            </p:cNvPicPr>
            <p:nvPr/>
          </p:nvPicPr>
          <p:blipFill>
            <a:blip r:embed="rId4"/>
            <a:stretch>
              <a:fillRect/>
            </a:stretch>
          </p:blipFill>
          <p:spPr>
            <a:xfrm>
              <a:off x="7164323" y="2724912"/>
              <a:ext cx="201168" cy="201168"/>
            </a:xfrm>
            <a:prstGeom prst="rect">
              <a:avLst/>
            </a:prstGeom>
          </p:spPr>
        </p:pic>
        <p:sp>
          <p:nvSpPr>
            <p:cNvPr id="22" name="Text 16"/>
            <p:cNvSpPr txBox="1"/>
            <p:nvPr/>
          </p:nvSpPr>
          <p:spPr>
            <a:xfrm>
              <a:off x="7511796" y="2596896"/>
              <a:ext cx="1554480" cy="438912"/>
            </a:xfrm>
            <a:prstGeom prst="rect">
              <a:avLst/>
            </a:prstGeom>
            <a:noFill/>
            <a:ln/>
          </p:spPr>
          <p:txBody>
            <a:bodyPr wrap="square" lIns="762" tIns="762" rIns="762" bIns="762" rtlCol="0" anchor="ctr"/>
            <a:lstStyle/>
            <a:p>
              <a:pPr marL="0" indent="0">
                <a:buNone/>
              </a:pPr>
              <a:r>
                <a:rPr lang="en-US" sz="1600" b="1" dirty="0">
                  <a:solidFill>
                    <a:srgbClr val="5B0F4E"/>
                  </a:solidFill>
                  <a:latin typeface="Arial" pitchFamily="34" charset="0"/>
                  <a:ea typeface="Arial" pitchFamily="34" charset="-122"/>
                  <a:cs typeface="Arial" pitchFamily="34" charset="-120"/>
                </a:rPr>
                <a:t>Market Band</a:t>
              </a:r>
              <a:endParaRPr lang="en-US" sz="1600" dirty="0"/>
            </a:p>
          </p:txBody>
        </p:sp>
        <p:sp>
          <p:nvSpPr>
            <p:cNvPr id="23" name="Text 17"/>
            <p:cNvSpPr txBox="1"/>
            <p:nvPr/>
          </p:nvSpPr>
          <p:spPr>
            <a:xfrm>
              <a:off x="7072883" y="3072384"/>
              <a:ext cx="1975104" cy="658368"/>
            </a:xfrm>
            <a:prstGeom prst="rect">
              <a:avLst/>
            </a:prstGeom>
            <a:noFill/>
            <a:ln/>
          </p:spPr>
          <p:txBody>
            <a:bodyPr wrap="square" lIns="762" tIns="762" rIns="762" bIns="762" rtlCol="0" anchor="t"/>
            <a:lstStyle/>
            <a:p>
              <a:pPr marL="0" indent="0">
                <a:buNone/>
              </a:pPr>
              <a:r>
                <a:rPr lang="en-US" sz="1100" dirty="0">
                  <a:solidFill>
                    <a:srgbClr val="2B2B2B"/>
                  </a:solidFill>
                  <a:latin typeface="Arial" pitchFamily="34" charset="0"/>
                  <a:ea typeface="Arial" pitchFamily="34" charset="-122"/>
                  <a:cs typeface="Arial" pitchFamily="34" charset="-120"/>
                </a:rPr>
                <a:t>Listings, band &amp; zones, suggested price, strategy, prior blending, launch test</a:t>
              </a:r>
              <a:endParaRPr lang="en-US" sz="1100" dirty="0"/>
            </a:p>
          </p:txBody>
        </p:sp>
      </p:grpSp>
      <p:grpSp>
        <p:nvGrpSpPr>
          <p:cNvPr id="89" name="Group 88">
            <a:extLst>
              <a:ext uri="{FF2B5EF4-FFF2-40B4-BE49-F238E27FC236}">
                <a16:creationId xmlns:a16="http://schemas.microsoft.com/office/drawing/2014/main" id="{CB47E8AC-C52F-6C2A-CE49-0CE959138C69}"/>
              </a:ext>
            </a:extLst>
          </p:cNvPr>
          <p:cNvGrpSpPr/>
          <p:nvPr/>
        </p:nvGrpSpPr>
        <p:grpSpPr>
          <a:xfrm>
            <a:off x="8678128" y="2551176"/>
            <a:ext cx="2103120" cy="1188720"/>
            <a:chOff x="9180576" y="2560320"/>
            <a:chExt cx="2103120" cy="1188720"/>
          </a:xfrm>
        </p:grpSpPr>
        <p:sp>
          <p:nvSpPr>
            <p:cNvPr id="24" name="Shape 18"/>
            <p:cNvSpPr/>
            <p:nvPr/>
          </p:nvSpPr>
          <p:spPr>
            <a:xfrm>
              <a:off x="9180576" y="2560320"/>
              <a:ext cx="2103120" cy="1188720"/>
            </a:xfrm>
            <a:prstGeom prst="roundRect">
              <a:avLst>
                <a:gd name="adj" fmla="val 7742"/>
              </a:avLst>
            </a:prstGeom>
            <a:solidFill>
              <a:srgbClr val="F3E8F1"/>
            </a:solidFill>
            <a:ln w="12700">
              <a:solidFill>
                <a:srgbClr val="F3E8F1"/>
              </a:solidFill>
              <a:prstDash val="solid"/>
            </a:ln>
          </p:spPr>
          <p:txBody>
            <a:bodyPr/>
            <a:lstStyle/>
            <a:p>
              <a:endParaRPr lang="en-IN" sz="2400"/>
            </a:p>
          </p:txBody>
        </p:sp>
        <p:sp>
          <p:nvSpPr>
            <p:cNvPr id="25" name="Shape 19"/>
            <p:cNvSpPr/>
            <p:nvPr/>
          </p:nvSpPr>
          <p:spPr>
            <a:xfrm>
              <a:off x="9253728" y="2633472"/>
              <a:ext cx="384048" cy="384048"/>
            </a:xfrm>
            <a:prstGeom prst="ellipse">
              <a:avLst/>
            </a:prstGeom>
            <a:solidFill>
              <a:srgbClr val="1D6F42"/>
            </a:solidFill>
            <a:ln w="12700">
              <a:solidFill>
                <a:srgbClr val="1D6F42"/>
              </a:solidFill>
              <a:prstDash val="solid"/>
            </a:ln>
          </p:spPr>
          <p:txBody>
            <a:bodyPr/>
            <a:lstStyle/>
            <a:p>
              <a:endParaRPr lang="en-IN" sz="2400"/>
            </a:p>
          </p:txBody>
        </p:sp>
        <p:pic>
          <p:nvPicPr>
            <p:cNvPr id="26" name="Image 4" descr="preencoded.png"/>
            <p:cNvPicPr>
              <a:picLocks noChangeAspect="1"/>
            </p:cNvPicPr>
            <p:nvPr/>
          </p:nvPicPr>
          <p:blipFill>
            <a:blip r:embed="rId4"/>
            <a:stretch>
              <a:fillRect/>
            </a:stretch>
          </p:blipFill>
          <p:spPr>
            <a:xfrm>
              <a:off x="9345167" y="2724912"/>
              <a:ext cx="201168" cy="201168"/>
            </a:xfrm>
            <a:prstGeom prst="rect">
              <a:avLst/>
            </a:prstGeom>
          </p:spPr>
        </p:pic>
        <p:sp>
          <p:nvSpPr>
            <p:cNvPr id="27" name="Text 20"/>
            <p:cNvSpPr txBox="1"/>
            <p:nvPr/>
          </p:nvSpPr>
          <p:spPr>
            <a:xfrm>
              <a:off x="9692640" y="2596896"/>
              <a:ext cx="1554480" cy="438912"/>
            </a:xfrm>
            <a:prstGeom prst="rect">
              <a:avLst/>
            </a:prstGeom>
            <a:noFill/>
            <a:ln/>
          </p:spPr>
          <p:txBody>
            <a:bodyPr wrap="square" lIns="762" tIns="762" rIns="762" bIns="762" rtlCol="0" anchor="ctr"/>
            <a:lstStyle/>
            <a:p>
              <a:pPr marL="0" indent="0">
                <a:buNone/>
              </a:pPr>
              <a:r>
                <a:rPr lang="en-US" sz="1600" b="1" dirty="0">
                  <a:solidFill>
                    <a:srgbClr val="5B0F4E"/>
                  </a:solidFill>
                  <a:latin typeface="Arial" pitchFamily="34" charset="0"/>
                  <a:ea typeface="Arial" pitchFamily="34" charset="-122"/>
                  <a:cs typeface="Arial" pitchFamily="34" charset="-120"/>
                </a:rPr>
                <a:t>Sensitivity</a:t>
              </a:r>
              <a:endParaRPr lang="en-US" sz="1600" dirty="0"/>
            </a:p>
          </p:txBody>
        </p:sp>
        <p:sp>
          <p:nvSpPr>
            <p:cNvPr id="28" name="Text 21"/>
            <p:cNvSpPr txBox="1"/>
            <p:nvPr/>
          </p:nvSpPr>
          <p:spPr>
            <a:xfrm>
              <a:off x="9253728" y="3072384"/>
              <a:ext cx="1975104" cy="658368"/>
            </a:xfrm>
            <a:prstGeom prst="rect">
              <a:avLst/>
            </a:prstGeom>
            <a:noFill/>
            <a:ln/>
          </p:spPr>
          <p:txBody>
            <a:bodyPr wrap="square" lIns="762" tIns="762" rIns="762" bIns="762" rtlCol="0" anchor="t"/>
            <a:lstStyle/>
            <a:p>
              <a:pPr marL="0" indent="0">
                <a:buNone/>
              </a:pPr>
              <a:r>
                <a:rPr lang="en-US" sz="1100" dirty="0">
                  <a:solidFill>
                    <a:srgbClr val="2B2B2B"/>
                  </a:solidFill>
                  <a:latin typeface="Arial" pitchFamily="34" charset="0"/>
                  <a:ea typeface="Arial" pitchFamily="34" charset="-122"/>
                  <a:cs typeface="Arial" pitchFamily="34" charset="-120"/>
                </a:rPr>
                <a:t>Tornado, profit heat map, seller levers, returns vs RTO</a:t>
              </a:r>
              <a:endParaRPr lang="en-US" sz="1100" dirty="0"/>
            </a:p>
          </p:txBody>
        </p:sp>
      </p:grpSp>
      <p:grpSp>
        <p:nvGrpSpPr>
          <p:cNvPr id="90" name="Group 89">
            <a:extLst>
              <a:ext uri="{FF2B5EF4-FFF2-40B4-BE49-F238E27FC236}">
                <a16:creationId xmlns:a16="http://schemas.microsoft.com/office/drawing/2014/main" id="{E2E6BC3D-C226-A6D8-1C0A-75EB6A31AF9E}"/>
              </a:ext>
            </a:extLst>
          </p:cNvPr>
          <p:cNvGrpSpPr/>
          <p:nvPr/>
        </p:nvGrpSpPr>
        <p:grpSpPr>
          <a:xfrm>
            <a:off x="11215321" y="2549872"/>
            <a:ext cx="2103120" cy="1188720"/>
            <a:chOff x="11361419" y="2560320"/>
            <a:chExt cx="2103120" cy="1188720"/>
          </a:xfrm>
        </p:grpSpPr>
        <p:sp>
          <p:nvSpPr>
            <p:cNvPr id="29" name="Shape 22"/>
            <p:cNvSpPr/>
            <p:nvPr/>
          </p:nvSpPr>
          <p:spPr>
            <a:xfrm>
              <a:off x="11361419" y="2560320"/>
              <a:ext cx="2103120" cy="1188720"/>
            </a:xfrm>
            <a:prstGeom prst="roundRect">
              <a:avLst>
                <a:gd name="adj" fmla="val 7742"/>
              </a:avLst>
            </a:prstGeom>
            <a:solidFill>
              <a:srgbClr val="FFF1DC"/>
            </a:solidFill>
            <a:ln w="12700">
              <a:solidFill>
                <a:srgbClr val="FFF1DC"/>
              </a:solidFill>
              <a:prstDash val="solid"/>
            </a:ln>
          </p:spPr>
          <p:txBody>
            <a:bodyPr/>
            <a:lstStyle/>
            <a:p>
              <a:endParaRPr lang="en-IN" sz="2400"/>
            </a:p>
          </p:txBody>
        </p:sp>
        <p:sp>
          <p:nvSpPr>
            <p:cNvPr id="30" name="Shape 23"/>
            <p:cNvSpPr/>
            <p:nvPr/>
          </p:nvSpPr>
          <p:spPr>
            <a:xfrm>
              <a:off x="11434572" y="2633472"/>
              <a:ext cx="384048" cy="384048"/>
            </a:xfrm>
            <a:prstGeom prst="ellipse">
              <a:avLst/>
            </a:prstGeom>
            <a:solidFill>
              <a:srgbClr val="1D6F42"/>
            </a:solidFill>
            <a:ln w="12700">
              <a:solidFill>
                <a:srgbClr val="1D6F42"/>
              </a:solidFill>
              <a:prstDash val="solid"/>
            </a:ln>
          </p:spPr>
          <p:txBody>
            <a:bodyPr/>
            <a:lstStyle/>
            <a:p>
              <a:endParaRPr lang="en-IN" sz="2400"/>
            </a:p>
          </p:txBody>
        </p:sp>
        <p:pic>
          <p:nvPicPr>
            <p:cNvPr id="31" name="Image 5" descr="preencoded.png"/>
            <p:cNvPicPr>
              <a:picLocks noChangeAspect="1"/>
            </p:cNvPicPr>
            <p:nvPr/>
          </p:nvPicPr>
          <p:blipFill>
            <a:blip r:embed="rId4"/>
            <a:stretch>
              <a:fillRect/>
            </a:stretch>
          </p:blipFill>
          <p:spPr>
            <a:xfrm>
              <a:off x="11526011" y="2724912"/>
              <a:ext cx="201168" cy="201168"/>
            </a:xfrm>
            <a:prstGeom prst="rect">
              <a:avLst/>
            </a:prstGeom>
          </p:spPr>
        </p:pic>
        <p:sp>
          <p:nvSpPr>
            <p:cNvPr id="32" name="Text 24"/>
            <p:cNvSpPr txBox="1"/>
            <p:nvPr/>
          </p:nvSpPr>
          <p:spPr>
            <a:xfrm>
              <a:off x="11873484" y="2596896"/>
              <a:ext cx="1554480" cy="438912"/>
            </a:xfrm>
            <a:prstGeom prst="rect">
              <a:avLst/>
            </a:prstGeom>
            <a:noFill/>
            <a:ln/>
          </p:spPr>
          <p:txBody>
            <a:bodyPr wrap="square" lIns="762" tIns="762" rIns="762" bIns="762" rtlCol="0" anchor="ctr"/>
            <a:lstStyle/>
            <a:p>
              <a:pPr marL="0" indent="0">
                <a:buNone/>
              </a:pPr>
              <a:r>
                <a:rPr lang="en-US" sz="1600" b="1" dirty="0">
                  <a:solidFill>
                    <a:srgbClr val="5B0F4E"/>
                  </a:solidFill>
                  <a:latin typeface="Arial" pitchFamily="34" charset="0"/>
                  <a:ea typeface="Arial" pitchFamily="34" charset="-122"/>
                  <a:cs typeface="Arial" pitchFamily="34" charset="-120"/>
                </a:rPr>
                <a:t>Lifecycle Simulation</a:t>
              </a:r>
              <a:endParaRPr lang="en-US" sz="1600" dirty="0"/>
            </a:p>
          </p:txBody>
        </p:sp>
        <p:sp>
          <p:nvSpPr>
            <p:cNvPr id="33" name="Text 25"/>
            <p:cNvSpPr txBox="1"/>
            <p:nvPr/>
          </p:nvSpPr>
          <p:spPr>
            <a:xfrm>
              <a:off x="11434572" y="3072384"/>
              <a:ext cx="1975104" cy="658368"/>
            </a:xfrm>
            <a:prstGeom prst="rect">
              <a:avLst/>
            </a:prstGeom>
            <a:noFill/>
            <a:ln/>
          </p:spPr>
          <p:txBody>
            <a:bodyPr wrap="square" lIns="762" tIns="762" rIns="762" bIns="762" rtlCol="0" anchor="t"/>
            <a:lstStyle/>
            <a:p>
              <a:pPr marL="0" indent="0">
                <a:buNone/>
              </a:pPr>
              <a:r>
                <a:rPr lang="en-US" sz="1100" dirty="0">
                  <a:solidFill>
                    <a:srgbClr val="2B2B2B"/>
                  </a:solidFill>
                  <a:latin typeface="Arial" pitchFamily="34" charset="0"/>
                  <a:ea typeface="Arial" pitchFamily="34" charset="-122"/>
                  <a:cs typeface="Arial" pitchFamily="34" charset="-120"/>
                </a:rPr>
                <a:t>26 weeks with vs without, 3 triggers</a:t>
              </a:r>
              <a:endParaRPr lang="en-US" sz="1100" dirty="0"/>
            </a:p>
          </p:txBody>
        </p:sp>
      </p:grpSp>
      <p:grpSp>
        <p:nvGrpSpPr>
          <p:cNvPr id="91" name="Group 90">
            <a:extLst>
              <a:ext uri="{FF2B5EF4-FFF2-40B4-BE49-F238E27FC236}">
                <a16:creationId xmlns:a16="http://schemas.microsoft.com/office/drawing/2014/main" id="{3CFE86F9-C499-17B3-2F65-BA4EAD281988}"/>
              </a:ext>
            </a:extLst>
          </p:cNvPr>
          <p:cNvGrpSpPr/>
          <p:nvPr/>
        </p:nvGrpSpPr>
        <p:grpSpPr>
          <a:xfrm>
            <a:off x="13752515" y="2549872"/>
            <a:ext cx="2103120" cy="1188720"/>
            <a:chOff x="13542263" y="2560320"/>
            <a:chExt cx="2103120" cy="1188720"/>
          </a:xfrm>
        </p:grpSpPr>
        <p:sp>
          <p:nvSpPr>
            <p:cNvPr id="34" name="Shape 26"/>
            <p:cNvSpPr/>
            <p:nvPr/>
          </p:nvSpPr>
          <p:spPr>
            <a:xfrm>
              <a:off x="13542263" y="2560320"/>
              <a:ext cx="2103120" cy="1188720"/>
            </a:xfrm>
            <a:prstGeom prst="roundRect">
              <a:avLst>
                <a:gd name="adj" fmla="val 7742"/>
              </a:avLst>
            </a:prstGeom>
            <a:solidFill>
              <a:srgbClr val="F3E8F1"/>
            </a:solidFill>
            <a:ln w="12700">
              <a:solidFill>
                <a:srgbClr val="F3E8F1"/>
              </a:solidFill>
              <a:prstDash val="solid"/>
            </a:ln>
          </p:spPr>
          <p:txBody>
            <a:bodyPr/>
            <a:lstStyle/>
            <a:p>
              <a:endParaRPr lang="en-IN" sz="2400"/>
            </a:p>
          </p:txBody>
        </p:sp>
        <p:sp>
          <p:nvSpPr>
            <p:cNvPr id="35" name="Shape 27"/>
            <p:cNvSpPr/>
            <p:nvPr/>
          </p:nvSpPr>
          <p:spPr>
            <a:xfrm>
              <a:off x="13615415" y="2633472"/>
              <a:ext cx="384048" cy="384048"/>
            </a:xfrm>
            <a:prstGeom prst="ellipse">
              <a:avLst/>
            </a:prstGeom>
            <a:solidFill>
              <a:srgbClr val="1D6F42"/>
            </a:solidFill>
            <a:ln w="12700">
              <a:solidFill>
                <a:srgbClr val="1D6F42"/>
              </a:solidFill>
              <a:prstDash val="solid"/>
            </a:ln>
          </p:spPr>
          <p:txBody>
            <a:bodyPr/>
            <a:lstStyle/>
            <a:p>
              <a:endParaRPr lang="en-IN" sz="2400"/>
            </a:p>
          </p:txBody>
        </p:sp>
        <p:pic>
          <p:nvPicPr>
            <p:cNvPr id="36" name="Image 6" descr="preencoded.png"/>
            <p:cNvPicPr>
              <a:picLocks noChangeAspect="1"/>
            </p:cNvPicPr>
            <p:nvPr/>
          </p:nvPicPr>
          <p:blipFill>
            <a:blip r:embed="rId4"/>
            <a:stretch>
              <a:fillRect/>
            </a:stretch>
          </p:blipFill>
          <p:spPr>
            <a:xfrm>
              <a:off x="13706855" y="2724912"/>
              <a:ext cx="201168" cy="201168"/>
            </a:xfrm>
            <a:prstGeom prst="rect">
              <a:avLst/>
            </a:prstGeom>
          </p:spPr>
        </p:pic>
        <p:sp>
          <p:nvSpPr>
            <p:cNvPr id="37" name="Text 28"/>
            <p:cNvSpPr txBox="1"/>
            <p:nvPr/>
          </p:nvSpPr>
          <p:spPr>
            <a:xfrm>
              <a:off x="14054328" y="2596896"/>
              <a:ext cx="1554480" cy="438912"/>
            </a:xfrm>
            <a:prstGeom prst="rect">
              <a:avLst/>
            </a:prstGeom>
            <a:noFill/>
            <a:ln/>
          </p:spPr>
          <p:txBody>
            <a:bodyPr wrap="square" lIns="762" tIns="762" rIns="762" bIns="762" rtlCol="0" anchor="ctr"/>
            <a:lstStyle/>
            <a:p>
              <a:pPr marL="0" indent="0">
                <a:buNone/>
              </a:pPr>
              <a:r>
                <a:rPr lang="en-US" sz="1600" b="1" dirty="0">
                  <a:solidFill>
                    <a:srgbClr val="5B0F4E"/>
                  </a:solidFill>
                  <a:latin typeface="Arial" pitchFamily="34" charset="0"/>
                  <a:ea typeface="Arial" pitchFamily="34" charset="-122"/>
                  <a:cs typeface="Arial" pitchFamily="34" charset="-120"/>
                </a:rPr>
                <a:t>Business Case &amp; Pilot</a:t>
              </a:r>
              <a:endParaRPr lang="en-US" sz="1600" dirty="0"/>
            </a:p>
          </p:txBody>
        </p:sp>
        <p:sp>
          <p:nvSpPr>
            <p:cNvPr id="38" name="Text 29"/>
            <p:cNvSpPr txBox="1"/>
            <p:nvPr/>
          </p:nvSpPr>
          <p:spPr>
            <a:xfrm>
              <a:off x="13615415" y="3072384"/>
              <a:ext cx="1975104" cy="658368"/>
            </a:xfrm>
            <a:prstGeom prst="rect">
              <a:avLst/>
            </a:prstGeom>
            <a:noFill/>
            <a:ln/>
          </p:spPr>
          <p:txBody>
            <a:bodyPr wrap="square" lIns="762" tIns="762" rIns="762" bIns="762" rtlCol="0" anchor="t"/>
            <a:lstStyle/>
            <a:p>
              <a:pPr marL="0" indent="0">
                <a:buNone/>
              </a:pPr>
              <a:r>
                <a:rPr lang="en-US" sz="1100" dirty="0">
                  <a:solidFill>
                    <a:srgbClr val="2B2B2B"/>
                  </a:solidFill>
                  <a:latin typeface="Arial" pitchFamily="34" charset="0"/>
                  <a:ea typeface="Arial" pitchFamily="34" charset="-122"/>
                  <a:cs typeface="Arial" pitchFamily="34" charset="-120"/>
                </a:rPr>
                <a:t>Funnel, ₹47 per order, 5-yr scenarios, pilot size, metrics tree</a:t>
              </a:r>
              <a:endParaRPr lang="en-US" sz="1100" dirty="0"/>
            </a:p>
          </p:txBody>
        </p:sp>
      </p:grpSp>
      <p:sp>
        <p:nvSpPr>
          <p:cNvPr id="44" name="Text 34"/>
          <p:cNvSpPr txBox="1"/>
          <p:nvPr/>
        </p:nvSpPr>
        <p:spPr>
          <a:xfrm>
            <a:off x="542886" y="7453049"/>
            <a:ext cx="5852160" cy="320040"/>
          </a:xfrm>
          <a:prstGeom prst="rect">
            <a:avLst/>
          </a:prstGeom>
          <a:noFill/>
          <a:ln/>
        </p:spPr>
        <p:txBody>
          <a:bodyPr wrap="square" lIns="762" tIns="762" rIns="762" bIns="762" rtlCol="0" anchor="t"/>
          <a:lstStyle/>
          <a:p>
            <a:pPr marL="0" indent="0">
              <a:buNone/>
            </a:pPr>
            <a:r>
              <a:rPr lang="en-US" sz="1600" b="1" dirty="0">
                <a:solidFill>
                  <a:srgbClr val="5B0F4E"/>
                </a:solidFill>
                <a:latin typeface="Arial" pitchFamily="34" charset="0"/>
                <a:ea typeface="Arial" pitchFamily="34" charset="-122"/>
                <a:cs typeface="Arial" pitchFamily="34" charset="-120"/>
              </a:rPr>
              <a:t>Mathematical results used</a:t>
            </a:r>
            <a:endParaRPr lang="en-US" sz="2000" dirty="0"/>
          </a:p>
        </p:txBody>
      </p:sp>
      <p:sp>
        <p:nvSpPr>
          <p:cNvPr id="45" name="Text 35"/>
          <p:cNvSpPr txBox="1"/>
          <p:nvPr/>
        </p:nvSpPr>
        <p:spPr>
          <a:xfrm>
            <a:off x="493776" y="7754355"/>
            <a:ext cx="5852160" cy="2240280"/>
          </a:xfrm>
          <a:prstGeom prst="rect">
            <a:avLst/>
          </a:prstGeom>
          <a:noFill/>
          <a:ln/>
        </p:spPr>
        <p:txBody>
          <a:bodyPr wrap="square" lIns="762" tIns="762" rIns="762" bIns="762" rtlCol="0" anchor="t"/>
          <a:lstStyle/>
          <a:p>
            <a:pPr marL="342900" indent="-342900">
              <a:spcAft>
                <a:spcPts val="500"/>
              </a:spcAft>
              <a:buSzPct val="100000"/>
              <a:buChar char="•"/>
            </a:pPr>
            <a:r>
              <a:rPr lang="en-US" sz="1200" dirty="0">
                <a:solidFill>
                  <a:srgbClr val="2B2B2B"/>
                </a:solidFill>
                <a:latin typeface="Arial" pitchFamily="34" charset="0"/>
                <a:ea typeface="Arial" pitchFamily="34" charset="-122"/>
                <a:cs typeface="Arial" pitchFamily="34" charset="-120"/>
              </a:rPr>
              <a:t>Floor: P₀ = C + S + (f·F + A)/(1 − f); profit per order = (1 − f)(P − P₀)</a:t>
            </a:r>
            <a:endParaRPr lang="en-US" sz="1400" dirty="0"/>
          </a:p>
          <a:p>
            <a:pPr marL="342900" indent="-342900">
              <a:spcAft>
                <a:spcPts val="500"/>
              </a:spcAft>
              <a:buSzPct val="100000"/>
              <a:buChar char="•"/>
            </a:pPr>
            <a:r>
              <a:rPr lang="en-US" sz="1200" dirty="0">
                <a:solidFill>
                  <a:srgbClr val="2B2B2B"/>
                </a:solidFill>
                <a:latin typeface="Arial" pitchFamily="34" charset="0"/>
                <a:ea typeface="Arial" pitchFamily="34" charset="-122"/>
                <a:cs typeface="Arial" pitchFamily="34" charset="-120"/>
              </a:rPr>
              <a:t>Break-even failure share: f* = (P − C − S − A)/(P − C − S + F)</a:t>
            </a:r>
            <a:endParaRPr lang="en-US" sz="1400" dirty="0"/>
          </a:p>
          <a:p>
            <a:pPr marL="342900" indent="-342900">
              <a:spcAft>
                <a:spcPts val="500"/>
              </a:spcAft>
              <a:buSzPct val="100000"/>
              <a:buChar char="•"/>
            </a:pPr>
            <a:r>
              <a:rPr lang="en-US" sz="1200" dirty="0">
                <a:solidFill>
                  <a:srgbClr val="2B2B2B"/>
                </a:solidFill>
                <a:latin typeface="Arial" pitchFamily="34" charset="0"/>
                <a:ea typeface="Arial" pitchFamily="34" charset="-122"/>
                <a:cs typeface="Arial" pitchFamily="34" charset="-120"/>
              </a:rPr>
              <a:t>Suggested price: min(max(ε/(ε − 1)·P₀, P₀), Q3)</a:t>
            </a:r>
            <a:endParaRPr lang="en-US" sz="1400" dirty="0"/>
          </a:p>
          <a:p>
            <a:pPr marL="342900" indent="-342900">
              <a:spcAft>
                <a:spcPts val="500"/>
              </a:spcAft>
              <a:buSzPct val="100000"/>
              <a:buChar char="•"/>
            </a:pPr>
            <a:r>
              <a:rPr lang="en-US" sz="1200" dirty="0">
                <a:solidFill>
                  <a:srgbClr val="2B2B2B"/>
                </a:solidFill>
                <a:latin typeface="Arial" pitchFamily="34" charset="0"/>
                <a:ea typeface="Arial" pitchFamily="34" charset="-122"/>
                <a:cs typeface="Arial" pitchFamily="34" charset="-120"/>
              </a:rPr>
              <a:t>Prior blending: weight on own data = n/(n + k), k = 30</a:t>
            </a:r>
            <a:endParaRPr lang="en-US" sz="1400" dirty="0"/>
          </a:p>
          <a:p>
            <a:pPr marL="342900" indent="-342900">
              <a:spcAft>
                <a:spcPts val="500"/>
              </a:spcAft>
              <a:buSzPct val="100000"/>
              <a:buChar char="•"/>
            </a:pPr>
            <a:r>
              <a:rPr lang="en-US" sz="1200" dirty="0">
                <a:solidFill>
                  <a:srgbClr val="2B2B2B"/>
                </a:solidFill>
                <a:latin typeface="Arial" pitchFamily="34" charset="0"/>
                <a:ea typeface="Arial" pitchFamily="34" charset="-122"/>
                <a:cs typeface="Arial" pitchFamily="34" charset="-120"/>
              </a:rPr>
              <a:t>Launch screen: P(X ≤ 10 | λ = 20) = 1.1%; ±5% price tests need 7,300+ views per group</a:t>
            </a:r>
            <a:endParaRPr lang="en-US" sz="1400" dirty="0"/>
          </a:p>
          <a:p>
            <a:pPr marL="342900" indent="-342900">
              <a:spcAft>
                <a:spcPts val="500"/>
              </a:spcAft>
              <a:buSzPct val="100000"/>
              <a:buChar char="•"/>
            </a:pPr>
            <a:r>
              <a:rPr lang="en-US" sz="1200" dirty="0">
                <a:solidFill>
                  <a:srgbClr val="2B2B2B"/>
                </a:solidFill>
                <a:latin typeface="Arial" pitchFamily="34" charset="0"/>
                <a:ea typeface="Arial" pitchFamily="34" charset="-122"/>
                <a:cs typeface="Arial" pitchFamily="34" charset="-120"/>
              </a:rPr>
              <a:t>Clearance floor: S + (f·F + A)/(1 − f) + salvage</a:t>
            </a:r>
            <a:endParaRPr lang="en-US" sz="1400" dirty="0"/>
          </a:p>
        </p:txBody>
      </p:sp>
      <p:sp>
        <p:nvSpPr>
          <p:cNvPr id="46" name="Text 36"/>
          <p:cNvSpPr txBox="1"/>
          <p:nvPr/>
        </p:nvSpPr>
        <p:spPr>
          <a:xfrm>
            <a:off x="6605751" y="7469642"/>
            <a:ext cx="5852160" cy="320040"/>
          </a:xfrm>
          <a:prstGeom prst="rect">
            <a:avLst/>
          </a:prstGeom>
          <a:noFill/>
          <a:ln/>
        </p:spPr>
        <p:txBody>
          <a:bodyPr wrap="square" lIns="762" tIns="762" rIns="762" bIns="762" rtlCol="0" anchor="t"/>
          <a:lstStyle/>
          <a:p>
            <a:pPr marL="0" indent="0">
              <a:buNone/>
            </a:pPr>
            <a:r>
              <a:rPr lang="en-US" sz="1600" b="1" dirty="0">
                <a:solidFill>
                  <a:srgbClr val="5B0F4E"/>
                </a:solidFill>
                <a:latin typeface="Arial" pitchFamily="34" charset="0"/>
                <a:ea typeface="Arial" pitchFamily="34" charset="-122"/>
                <a:cs typeface="Arial" pitchFamily="34" charset="-120"/>
              </a:rPr>
              <a:t>Key sources &amp; Materials referred to:</a:t>
            </a:r>
            <a:endParaRPr lang="en-US" sz="2000" dirty="0"/>
          </a:p>
        </p:txBody>
      </p:sp>
      <p:sp>
        <p:nvSpPr>
          <p:cNvPr id="47" name="Text 37"/>
          <p:cNvSpPr txBox="1"/>
          <p:nvPr/>
        </p:nvSpPr>
        <p:spPr>
          <a:xfrm>
            <a:off x="6652466" y="7761184"/>
            <a:ext cx="5852160" cy="2240280"/>
          </a:xfrm>
          <a:prstGeom prst="rect">
            <a:avLst/>
          </a:prstGeom>
          <a:noFill/>
          <a:ln/>
        </p:spPr>
        <p:txBody>
          <a:bodyPr wrap="square" lIns="762" tIns="762" rIns="762" bIns="762" rtlCol="0" anchor="t"/>
          <a:lstStyle/>
          <a:p>
            <a:pPr marL="342900" indent="-342900">
              <a:spcAft>
                <a:spcPts val="500"/>
              </a:spcAft>
              <a:buSzPct val="100000"/>
              <a:buChar char="•"/>
            </a:pPr>
            <a:r>
              <a:rPr lang="en-US" sz="1200" dirty="0">
                <a:solidFill>
                  <a:srgbClr val="2B2B2B"/>
                </a:solidFill>
                <a:latin typeface="Arial" pitchFamily="34" charset="0"/>
                <a:ea typeface="Arial" pitchFamily="34" charset="-122"/>
                <a:cs typeface="Arial" pitchFamily="34" charset="-120"/>
              </a:rPr>
              <a:t>Meesho FY26 results (961k ATS, 2.67 B orders, ₹12,626 Cr revenue); RHP (72% COD); IPO reviews (days to first order)</a:t>
            </a:r>
            <a:endParaRPr lang="en-US" sz="1600" dirty="0"/>
          </a:p>
          <a:p>
            <a:pPr marL="342900" indent="-342900">
              <a:spcAft>
                <a:spcPts val="500"/>
              </a:spcAft>
              <a:buSzPct val="100000"/>
              <a:buChar char="•"/>
            </a:pPr>
            <a:r>
              <a:rPr lang="en-US" sz="1200" dirty="0">
                <a:solidFill>
                  <a:srgbClr val="2B2B2B"/>
                </a:solidFill>
                <a:latin typeface="Arial" pitchFamily="34" charset="0"/>
                <a:ea typeface="Arial" pitchFamily="34" charset="-122"/>
                <a:cs typeface="Arial" pitchFamily="34" charset="-120"/>
              </a:rPr>
              <a:t>GoKwik, Unicommerce, ClickPost (RTO, returns, COD vs prepaid)</a:t>
            </a:r>
            <a:endParaRPr lang="en-US" sz="1600" dirty="0"/>
          </a:p>
          <a:p>
            <a:pPr marL="342900" indent="-342900">
              <a:spcAft>
                <a:spcPts val="500"/>
              </a:spcAft>
              <a:buSzPct val="100000"/>
              <a:buChar char="•"/>
            </a:pPr>
            <a:r>
              <a:rPr lang="en-US" sz="1200" dirty="0">
                <a:solidFill>
                  <a:srgbClr val="2B2B2B"/>
                </a:solidFill>
                <a:latin typeface="Arial" pitchFamily="34" charset="0"/>
                <a:ea typeface="Arial" pitchFamily="34" charset="-122"/>
                <a:cs typeface="Arial" pitchFamily="34" charset="-120"/>
              </a:rPr>
              <a:t>2026 Meesho seller-fee guides (to be confirmed); CBIC / Income-tax (TCS 0.5%, TDS 0.1%)</a:t>
            </a:r>
            <a:endParaRPr lang="en-US" sz="1600" dirty="0"/>
          </a:p>
          <a:p>
            <a:pPr marL="342900" indent="-342900">
              <a:spcAft>
                <a:spcPts val="500"/>
              </a:spcAft>
              <a:buSzPct val="100000"/>
              <a:buChar char="•"/>
            </a:pPr>
            <a:r>
              <a:rPr lang="en-US" sz="1200" dirty="0">
                <a:solidFill>
                  <a:srgbClr val="2B2B2B"/>
                </a:solidFill>
                <a:latin typeface="Arial" pitchFamily="34" charset="0"/>
                <a:ea typeface="Arial" pitchFamily="34" charset="-122"/>
                <a:cs typeface="Arial" pitchFamily="34" charset="-120"/>
              </a:rPr>
              <a:t>Ellison &amp; Ellison (2009); Blattberg &amp; George (1991); CCI AI &amp; competition study (2025); DPDP Rules (2025)</a:t>
            </a:r>
            <a:endParaRPr lang="en-US" sz="1600" dirty="0"/>
          </a:p>
          <a:p>
            <a:pPr>
              <a:spcAft>
                <a:spcPts val="500"/>
              </a:spcAft>
              <a:buSzPct val="100000"/>
            </a:pPr>
            <a:endParaRPr lang="en-US" sz="1600" dirty="0"/>
          </a:p>
        </p:txBody>
      </p:sp>
      <p:sp>
        <p:nvSpPr>
          <p:cNvPr id="48" name="Text 38"/>
          <p:cNvSpPr txBox="1"/>
          <p:nvPr/>
        </p:nvSpPr>
        <p:spPr>
          <a:xfrm>
            <a:off x="13075920" y="7395487"/>
            <a:ext cx="5212080" cy="320040"/>
          </a:xfrm>
          <a:prstGeom prst="rect">
            <a:avLst/>
          </a:prstGeom>
          <a:noFill/>
          <a:ln/>
        </p:spPr>
        <p:txBody>
          <a:bodyPr wrap="square" lIns="762" tIns="762" rIns="762" bIns="762" rtlCol="0" anchor="t"/>
          <a:lstStyle/>
          <a:p>
            <a:pPr marL="0" indent="0">
              <a:buNone/>
            </a:pPr>
            <a:r>
              <a:rPr lang="en-US" sz="1400" b="1" dirty="0">
                <a:solidFill>
                  <a:srgbClr val="5B0F4E"/>
                </a:solidFill>
                <a:latin typeface="Arial" pitchFamily="34" charset="0"/>
                <a:cs typeface="Arial" pitchFamily="34" charset="-120"/>
              </a:rPr>
              <a:t>Source Links</a:t>
            </a:r>
            <a:endParaRPr lang="en-US" dirty="0"/>
          </a:p>
        </p:txBody>
      </p:sp>
      <p:sp>
        <p:nvSpPr>
          <p:cNvPr id="61" name="TextBox 60"/>
          <p:cNvSpPr txBox="1"/>
          <p:nvPr/>
        </p:nvSpPr>
        <p:spPr>
          <a:xfrm>
            <a:off x="242521" y="4002120"/>
            <a:ext cx="10972800" cy="307777"/>
          </a:xfrm>
          <a:prstGeom prst="rect">
            <a:avLst/>
          </a:prstGeom>
          <a:noFill/>
        </p:spPr>
        <p:txBody>
          <a:bodyPr wrap="square" lIns="0" tIns="0" rIns="0" bIns="0">
            <a:spAutoFit/>
          </a:bodyPr>
          <a:lstStyle/>
          <a:p>
            <a:r>
              <a:rPr sz="2000" b="1" i="0" dirty="0">
                <a:solidFill>
                  <a:srgbClr val="5B0F4E"/>
                </a:solidFill>
                <a:latin typeface="Arial"/>
              </a:rPr>
              <a:t>Primary research: Google Form results</a:t>
            </a:r>
          </a:p>
        </p:txBody>
      </p:sp>
      <p:grpSp>
        <p:nvGrpSpPr>
          <p:cNvPr id="9" name="Group 8">
            <a:extLst>
              <a:ext uri="{FF2B5EF4-FFF2-40B4-BE49-F238E27FC236}">
                <a16:creationId xmlns:a16="http://schemas.microsoft.com/office/drawing/2014/main" id="{53C2BFC5-DC5F-CF77-A8F2-A7B26CB33653}"/>
              </a:ext>
            </a:extLst>
          </p:cNvPr>
          <p:cNvGrpSpPr/>
          <p:nvPr/>
        </p:nvGrpSpPr>
        <p:grpSpPr>
          <a:xfrm>
            <a:off x="72342" y="4441204"/>
            <a:ext cx="18143316" cy="2839241"/>
            <a:chOff x="457200" y="4187952"/>
            <a:chExt cx="17355311" cy="2514600"/>
          </a:xfrm>
        </p:grpSpPr>
        <p:sp>
          <p:nvSpPr>
            <p:cNvPr id="62" name="Shape 2"/>
            <p:cNvSpPr/>
            <p:nvPr/>
          </p:nvSpPr>
          <p:spPr>
            <a:xfrm>
              <a:off x="457200" y="4187952"/>
              <a:ext cx="2816352" cy="2514600"/>
            </a:xfrm>
            <a:prstGeom prst="roundRect">
              <a:avLst>
                <a:gd name="adj" fmla="val 4138"/>
              </a:avLst>
            </a:prstGeom>
            <a:solidFill>
              <a:srgbClr val="FFFFFF"/>
            </a:solidFill>
            <a:ln w="12700">
              <a:solidFill>
                <a:srgbClr val="C9C9D1"/>
              </a:solidFill>
              <a:prstDash val="dash"/>
            </a:ln>
          </p:spPr>
          <p:txBody>
            <a:bodyPr/>
            <a:lstStyle/>
            <a:p>
              <a:endParaRPr lang="en-IN" sz="2400"/>
            </a:p>
          </p:txBody>
        </p:sp>
        <p:sp>
          <p:nvSpPr>
            <p:cNvPr id="63" name="Text 3"/>
            <p:cNvSpPr txBox="1"/>
            <p:nvPr/>
          </p:nvSpPr>
          <p:spPr>
            <a:xfrm>
              <a:off x="530352" y="4224528"/>
              <a:ext cx="2697480" cy="384048"/>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How sellers set their first price</a:t>
              </a:r>
              <a:endParaRPr lang="en-US" sz="1400" dirty="0"/>
            </a:p>
          </p:txBody>
        </p:sp>
        <p:sp>
          <p:nvSpPr>
            <p:cNvPr id="64" name="Text 4"/>
            <p:cNvSpPr txBox="1"/>
            <p:nvPr/>
          </p:nvSpPr>
          <p:spPr>
            <a:xfrm>
              <a:off x="530352" y="4590288"/>
              <a:ext cx="2697480" cy="201168"/>
            </a:xfrm>
            <a:prstGeom prst="rect">
              <a:avLst/>
            </a:prstGeom>
            <a:noFill/>
            <a:ln/>
          </p:spPr>
          <p:txBody>
            <a:bodyPr wrap="square" lIns="0" tIns="0" rIns="0" bIns="0" rtlCol="0" anchor="t"/>
            <a:lstStyle/>
            <a:p>
              <a:pPr marL="0" indent="0">
                <a:buNone/>
              </a:pPr>
              <a:r>
                <a:rPr lang="en-US" sz="1000" i="1" dirty="0">
                  <a:solidFill>
                    <a:srgbClr val="555555"/>
                  </a:solidFill>
                  <a:latin typeface="Arial" pitchFamily="34" charset="0"/>
                  <a:ea typeface="Arial" pitchFamily="34" charset="-122"/>
                  <a:cs typeface="Arial" pitchFamily="34" charset="-120"/>
                </a:rPr>
                <a:t>Seller form · supports P3, P2</a:t>
              </a:r>
              <a:endParaRPr lang="en-US" sz="1100" dirty="0"/>
            </a:p>
          </p:txBody>
        </p:sp>
        <p:pic>
          <p:nvPicPr>
            <p:cNvPr id="65" name="Picture 31">
              <a:extLst>
                <a:ext uri="{FF2B5EF4-FFF2-40B4-BE49-F238E27FC236}">
                  <a16:creationId xmlns:a16="http://schemas.microsoft.com/office/drawing/2014/main" id="{59EF061D-523C-BF43-678A-0C1954788714}"/>
                </a:ext>
              </a:extLst>
            </p:cNvPr>
            <p:cNvPicPr>
              <a:picLocks noChangeAspect="1"/>
            </p:cNvPicPr>
            <p:nvPr/>
          </p:nvPicPr>
          <p:blipFill>
            <a:blip r:embed="rId5"/>
            <a:stretch>
              <a:fillRect/>
            </a:stretch>
          </p:blipFill>
          <p:spPr>
            <a:xfrm>
              <a:off x="530352" y="5056504"/>
              <a:ext cx="2670048" cy="1353566"/>
            </a:xfrm>
            <a:prstGeom prst="rect">
              <a:avLst/>
            </a:prstGeom>
          </p:spPr>
        </p:pic>
        <p:sp>
          <p:nvSpPr>
            <p:cNvPr id="66" name="Shape 6"/>
            <p:cNvSpPr/>
            <p:nvPr/>
          </p:nvSpPr>
          <p:spPr>
            <a:xfrm>
              <a:off x="3364992" y="4187952"/>
              <a:ext cx="2816352" cy="2514600"/>
            </a:xfrm>
            <a:prstGeom prst="roundRect">
              <a:avLst>
                <a:gd name="adj" fmla="val 4138"/>
              </a:avLst>
            </a:prstGeom>
            <a:solidFill>
              <a:srgbClr val="FFFFFF"/>
            </a:solidFill>
            <a:ln w="12700">
              <a:solidFill>
                <a:srgbClr val="C9C9D1"/>
              </a:solidFill>
              <a:prstDash val="dash"/>
            </a:ln>
          </p:spPr>
          <p:txBody>
            <a:bodyPr/>
            <a:lstStyle/>
            <a:p>
              <a:endParaRPr lang="en-IN" sz="2400"/>
            </a:p>
          </p:txBody>
        </p:sp>
        <p:sp>
          <p:nvSpPr>
            <p:cNvPr id="67" name="Text 7"/>
            <p:cNvSpPr txBox="1"/>
            <p:nvPr/>
          </p:nvSpPr>
          <p:spPr>
            <a:xfrm>
              <a:off x="3438144" y="4224528"/>
              <a:ext cx="2697480" cy="384048"/>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What sellers include in 'cost'</a:t>
              </a:r>
              <a:endParaRPr lang="en-US" sz="1400" dirty="0"/>
            </a:p>
          </p:txBody>
        </p:sp>
        <p:sp>
          <p:nvSpPr>
            <p:cNvPr id="68" name="Text 8"/>
            <p:cNvSpPr txBox="1"/>
            <p:nvPr/>
          </p:nvSpPr>
          <p:spPr>
            <a:xfrm>
              <a:off x="3438144" y="4590288"/>
              <a:ext cx="2697480" cy="201168"/>
            </a:xfrm>
            <a:prstGeom prst="rect">
              <a:avLst/>
            </a:prstGeom>
            <a:noFill/>
            <a:ln/>
          </p:spPr>
          <p:txBody>
            <a:bodyPr wrap="square" lIns="0" tIns="0" rIns="0" bIns="0" rtlCol="0" anchor="t"/>
            <a:lstStyle/>
            <a:p>
              <a:pPr marL="0" indent="0">
                <a:buNone/>
              </a:pPr>
              <a:r>
                <a:rPr lang="en-US" sz="1000" i="1" dirty="0">
                  <a:solidFill>
                    <a:srgbClr val="555555"/>
                  </a:solidFill>
                  <a:latin typeface="Arial" pitchFamily="34" charset="0"/>
                  <a:ea typeface="Arial" pitchFamily="34" charset="-122"/>
                  <a:cs typeface="Arial" pitchFamily="34" charset="-120"/>
                </a:rPr>
                <a:t>Seller form · supports P1, P4</a:t>
              </a:r>
              <a:endParaRPr lang="en-US" sz="1100" dirty="0"/>
            </a:p>
          </p:txBody>
        </p:sp>
        <p:pic>
          <p:nvPicPr>
            <p:cNvPr id="69" name="Picture 33">
              <a:extLst>
                <a:ext uri="{FF2B5EF4-FFF2-40B4-BE49-F238E27FC236}">
                  <a16:creationId xmlns:a16="http://schemas.microsoft.com/office/drawing/2014/main" id="{C9AB0968-8C08-59EC-8E2A-A7D95F356AF8}"/>
                </a:ext>
              </a:extLst>
            </p:cNvPr>
            <p:cNvPicPr>
              <a:picLocks noChangeAspect="1"/>
            </p:cNvPicPr>
            <p:nvPr/>
          </p:nvPicPr>
          <p:blipFill>
            <a:blip r:embed="rId6"/>
            <a:stretch>
              <a:fillRect/>
            </a:stretch>
          </p:blipFill>
          <p:spPr>
            <a:xfrm>
              <a:off x="3438144" y="5151556"/>
              <a:ext cx="2670047" cy="1163462"/>
            </a:xfrm>
            <a:prstGeom prst="rect">
              <a:avLst/>
            </a:prstGeom>
          </p:spPr>
        </p:pic>
        <p:sp>
          <p:nvSpPr>
            <p:cNvPr id="70" name="Shape 10"/>
            <p:cNvSpPr/>
            <p:nvPr/>
          </p:nvSpPr>
          <p:spPr>
            <a:xfrm>
              <a:off x="6272784" y="4187952"/>
              <a:ext cx="2816352" cy="2514600"/>
            </a:xfrm>
            <a:prstGeom prst="roundRect">
              <a:avLst>
                <a:gd name="adj" fmla="val 4138"/>
              </a:avLst>
            </a:prstGeom>
            <a:solidFill>
              <a:srgbClr val="FFFFFF"/>
            </a:solidFill>
            <a:ln w="12700">
              <a:solidFill>
                <a:srgbClr val="C9C9D1"/>
              </a:solidFill>
              <a:prstDash val="dash"/>
            </a:ln>
          </p:spPr>
          <p:txBody>
            <a:bodyPr/>
            <a:lstStyle/>
            <a:p>
              <a:endParaRPr lang="en-IN" sz="2400"/>
            </a:p>
          </p:txBody>
        </p:sp>
        <p:sp>
          <p:nvSpPr>
            <p:cNvPr id="71" name="Text 11"/>
            <p:cNvSpPr txBox="1"/>
            <p:nvPr/>
          </p:nvSpPr>
          <p:spPr>
            <a:xfrm>
              <a:off x="6345936" y="4224527"/>
              <a:ext cx="2907792" cy="403424"/>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Ever sold at a loss without knowing?</a:t>
              </a:r>
              <a:endParaRPr lang="en-US" sz="1400" dirty="0"/>
            </a:p>
          </p:txBody>
        </p:sp>
        <p:sp>
          <p:nvSpPr>
            <p:cNvPr id="72" name="Text 12"/>
            <p:cNvSpPr txBox="1"/>
            <p:nvPr/>
          </p:nvSpPr>
          <p:spPr>
            <a:xfrm>
              <a:off x="6345936" y="4663439"/>
              <a:ext cx="2697480" cy="201168"/>
            </a:xfrm>
            <a:prstGeom prst="rect">
              <a:avLst/>
            </a:prstGeom>
            <a:noFill/>
            <a:ln/>
          </p:spPr>
          <p:txBody>
            <a:bodyPr wrap="square" lIns="0" tIns="0" rIns="0" bIns="0" rtlCol="0" anchor="t"/>
            <a:lstStyle/>
            <a:p>
              <a:pPr marL="0" indent="0">
                <a:buNone/>
              </a:pPr>
              <a:r>
                <a:rPr lang="en-US" sz="1000" i="1" dirty="0">
                  <a:solidFill>
                    <a:srgbClr val="555555"/>
                  </a:solidFill>
                  <a:latin typeface="Arial" pitchFamily="34" charset="0"/>
                  <a:ea typeface="Arial" pitchFamily="34" charset="-122"/>
                  <a:cs typeface="Arial" pitchFamily="34" charset="-120"/>
                </a:rPr>
                <a:t>Seller form · supports P1, P4</a:t>
              </a:r>
              <a:endParaRPr lang="en-US" sz="1100" dirty="0"/>
            </a:p>
          </p:txBody>
        </p:sp>
        <p:pic>
          <p:nvPicPr>
            <p:cNvPr id="73" name="Picture 35">
              <a:extLst>
                <a:ext uri="{FF2B5EF4-FFF2-40B4-BE49-F238E27FC236}">
                  <a16:creationId xmlns:a16="http://schemas.microsoft.com/office/drawing/2014/main" id="{F15266FB-1E7E-08F7-3C70-94688FF848FD}"/>
                </a:ext>
              </a:extLst>
            </p:cNvPr>
            <p:cNvPicPr>
              <a:picLocks noChangeAspect="1"/>
            </p:cNvPicPr>
            <p:nvPr/>
          </p:nvPicPr>
          <p:blipFill>
            <a:blip r:embed="rId7"/>
            <a:stretch>
              <a:fillRect/>
            </a:stretch>
          </p:blipFill>
          <p:spPr>
            <a:xfrm>
              <a:off x="6345936" y="5072564"/>
              <a:ext cx="2670048" cy="1321447"/>
            </a:xfrm>
            <a:prstGeom prst="rect">
              <a:avLst/>
            </a:prstGeom>
          </p:spPr>
        </p:pic>
        <p:sp>
          <p:nvSpPr>
            <p:cNvPr id="74" name="Shape 14"/>
            <p:cNvSpPr/>
            <p:nvPr/>
          </p:nvSpPr>
          <p:spPr>
            <a:xfrm>
              <a:off x="9180576" y="4187952"/>
              <a:ext cx="2816352" cy="2514600"/>
            </a:xfrm>
            <a:prstGeom prst="roundRect">
              <a:avLst>
                <a:gd name="adj" fmla="val 4138"/>
              </a:avLst>
            </a:prstGeom>
            <a:solidFill>
              <a:srgbClr val="FFFFFF"/>
            </a:solidFill>
            <a:ln w="12700">
              <a:solidFill>
                <a:srgbClr val="C9C9D1"/>
              </a:solidFill>
              <a:prstDash val="dash"/>
            </a:ln>
          </p:spPr>
          <p:txBody>
            <a:bodyPr/>
            <a:lstStyle/>
            <a:p>
              <a:endParaRPr lang="en-IN" sz="2400"/>
            </a:p>
          </p:txBody>
        </p:sp>
        <p:sp>
          <p:nvSpPr>
            <p:cNvPr id="75" name="Text 15"/>
            <p:cNvSpPr txBox="1"/>
            <p:nvPr/>
          </p:nvSpPr>
          <p:spPr>
            <a:xfrm>
              <a:off x="9253728" y="4224528"/>
              <a:ext cx="2697480" cy="384048"/>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Do ratings earn ₹20 more?</a:t>
              </a:r>
              <a:endParaRPr lang="en-US" sz="1400" dirty="0"/>
            </a:p>
          </p:txBody>
        </p:sp>
        <p:sp>
          <p:nvSpPr>
            <p:cNvPr id="76" name="Text 16"/>
            <p:cNvSpPr txBox="1"/>
            <p:nvPr/>
          </p:nvSpPr>
          <p:spPr>
            <a:xfrm>
              <a:off x="9253728" y="4590288"/>
              <a:ext cx="2697480" cy="201168"/>
            </a:xfrm>
            <a:prstGeom prst="rect">
              <a:avLst/>
            </a:prstGeom>
            <a:noFill/>
            <a:ln/>
          </p:spPr>
          <p:txBody>
            <a:bodyPr wrap="square" lIns="0" tIns="0" rIns="0" bIns="0" rtlCol="0" anchor="t"/>
            <a:lstStyle/>
            <a:p>
              <a:pPr marL="0" indent="0">
                <a:buNone/>
              </a:pPr>
              <a:r>
                <a:rPr lang="en-US" sz="1000" i="1" dirty="0">
                  <a:solidFill>
                    <a:srgbClr val="555555"/>
                  </a:solidFill>
                  <a:latin typeface="Arial" pitchFamily="34" charset="0"/>
                  <a:ea typeface="Arial" pitchFamily="34" charset="-122"/>
                  <a:cs typeface="Arial" pitchFamily="34" charset="-120"/>
                </a:rPr>
                <a:t>Buyer form · supports Smart Band</a:t>
              </a:r>
              <a:endParaRPr lang="en-US" sz="1100" dirty="0"/>
            </a:p>
          </p:txBody>
        </p:sp>
        <p:pic>
          <p:nvPicPr>
            <p:cNvPr id="77" name="Picture 37">
              <a:extLst>
                <a:ext uri="{FF2B5EF4-FFF2-40B4-BE49-F238E27FC236}">
                  <a16:creationId xmlns:a16="http://schemas.microsoft.com/office/drawing/2014/main" id="{56FE0FA4-3347-608B-D8E9-2D7EE57718A2}"/>
                </a:ext>
              </a:extLst>
            </p:cNvPr>
            <p:cNvPicPr>
              <a:picLocks noChangeAspect="1"/>
            </p:cNvPicPr>
            <p:nvPr/>
          </p:nvPicPr>
          <p:blipFill>
            <a:blip r:embed="rId8"/>
            <a:stretch>
              <a:fillRect/>
            </a:stretch>
          </p:blipFill>
          <p:spPr>
            <a:xfrm>
              <a:off x="9301733" y="4818888"/>
              <a:ext cx="2574036" cy="1828799"/>
            </a:xfrm>
            <a:prstGeom prst="rect">
              <a:avLst/>
            </a:prstGeom>
          </p:spPr>
        </p:pic>
        <p:sp>
          <p:nvSpPr>
            <p:cNvPr id="78" name="Shape 18"/>
            <p:cNvSpPr/>
            <p:nvPr/>
          </p:nvSpPr>
          <p:spPr>
            <a:xfrm>
              <a:off x="12088368" y="4187952"/>
              <a:ext cx="2816352" cy="2514600"/>
            </a:xfrm>
            <a:prstGeom prst="roundRect">
              <a:avLst>
                <a:gd name="adj" fmla="val 4138"/>
              </a:avLst>
            </a:prstGeom>
            <a:solidFill>
              <a:srgbClr val="FFFFFF"/>
            </a:solidFill>
            <a:ln w="12700">
              <a:solidFill>
                <a:srgbClr val="C9C9D1"/>
              </a:solidFill>
              <a:prstDash val="dash"/>
            </a:ln>
          </p:spPr>
          <p:txBody>
            <a:bodyPr/>
            <a:lstStyle/>
            <a:p>
              <a:endParaRPr lang="en-IN" sz="2400"/>
            </a:p>
          </p:txBody>
        </p:sp>
        <p:sp>
          <p:nvSpPr>
            <p:cNvPr id="79" name="Text 19"/>
            <p:cNvSpPr txBox="1"/>
            <p:nvPr/>
          </p:nvSpPr>
          <p:spPr>
            <a:xfrm>
              <a:off x="12161520" y="4224528"/>
              <a:ext cx="2697480" cy="384048"/>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Price ceiling </a:t>
              </a:r>
              <a:endParaRPr lang="en-US" sz="1400" dirty="0"/>
            </a:p>
          </p:txBody>
        </p:sp>
        <p:sp>
          <p:nvSpPr>
            <p:cNvPr id="80" name="Text 20"/>
            <p:cNvSpPr txBox="1"/>
            <p:nvPr/>
          </p:nvSpPr>
          <p:spPr>
            <a:xfrm>
              <a:off x="12161520" y="4590288"/>
              <a:ext cx="2697480" cy="201168"/>
            </a:xfrm>
            <a:prstGeom prst="rect">
              <a:avLst/>
            </a:prstGeom>
            <a:noFill/>
            <a:ln/>
          </p:spPr>
          <p:txBody>
            <a:bodyPr wrap="square" lIns="0" tIns="0" rIns="0" bIns="0" rtlCol="0" anchor="t"/>
            <a:lstStyle/>
            <a:p>
              <a:pPr marL="0" indent="0">
                <a:buNone/>
              </a:pPr>
              <a:r>
                <a:rPr lang="en-US" sz="1000" i="1" dirty="0">
                  <a:solidFill>
                    <a:srgbClr val="555555"/>
                  </a:solidFill>
                  <a:latin typeface="Arial" pitchFamily="34" charset="0"/>
                  <a:ea typeface="Arial" pitchFamily="34" charset="-122"/>
                  <a:cs typeface="Arial" pitchFamily="34" charset="-120"/>
                </a:rPr>
                <a:t>Buyer form · market band</a:t>
              </a:r>
              <a:endParaRPr lang="en-US" sz="1100" dirty="0"/>
            </a:p>
          </p:txBody>
        </p:sp>
        <p:pic>
          <p:nvPicPr>
            <p:cNvPr id="81" name="Picture 39">
              <a:extLst>
                <a:ext uri="{FF2B5EF4-FFF2-40B4-BE49-F238E27FC236}">
                  <a16:creationId xmlns:a16="http://schemas.microsoft.com/office/drawing/2014/main" id="{9838CDAC-B117-D6BE-569A-472C4DFB1E33}"/>
                </a:ext>
              </a:extLst>
            </p:cNvPr>
            <p:cNvPicPr>
              <a:picLocks noChangeAspect="1"/>
            </p:cNvPicPr>
            <p:nvPr/>
          </p:nvPicPr>
          <p:blipFill>
            <a:blip r:embed="rId9"/>
            <a:stretch>
              <a:fillRect/>
            </a:stretch>
          </p:blipFill>
          <p:spPr>
            <a:xfrm>
              <a:off x="12161520" y="4893344"/>
              <a:ext cx="2670048" cy="1679887"/>
            </a:xfrm>
            <a:prstGeom prst="rect">
              <a:avLst/>
            </a:prstGeom>
          </p:spPr>
        </p:pic>
        <p:sp>
          <p:nvSpPr>
            <p:cNvPr id="82" name="Shape 22"/>
            <p:cNvSpPr/>
            <p:nvPr/>
          </p:nvSpPr>
          <p:spPr>
            <a:xfrm>
              <a:off x="14996159" y="4187952"/>
              <a:ext cx="2816352" cy="2514600"/>
            </a:xfrm>
            <a:prstGeom prst="roundRect">
              <a:avLst>
                <a:gd name="adj" fmla="val 4138"/>
              </a:avLst>
            </a:prstGeom>
            <a:solidFill>
              <a:srgbClr val="FFFFFF"/>
            </a:solidFill>
            <a:ln w="12700">
              <a:solidFill>
                <a:srgbClr val="C9C9D1"/>
              </a:solidFill>
              <a:prstDash val="dash"/>
            </a:ln>
          </p:spPr>
          <p:txBody>
            <a:bodyPr/>
            <a:lstStyle/>
            <a:p>
              <a:endParaRPr lang="en-IN" sz="2400"/>
            </a:p>
          </p:txBody>
        </p:sp>
        <p:sp>
          <p:nvSpPr>
            <p:cNvPr id="83" name="Text 23"/>
            <p:cNvSpPr txBox="1"/>
            <p:nvPr/>
          </p:nvSpPr>
          <p:spPr>
            <a:xfrm>
              <a:off x="15069311" y="4224528"/>
              <a:ext cx="2697480" cy="384048"/>
            </a:xfrm>
            <a:prstGeom prst="rect">
              <a:avLst/>
            </a:prstGeom>
            <a:noFill/>
            <a:ln/>
          </p:spPr>
          <p:txBody>
            <a:bodyPr wrap="square" lIns="0" tIns="0" rIns="0" bIns="0" rtlCol="0" anchor="t"/>
            <a:lstStyle/>
            <a:p>
              <a:pPr marL="0" indent="0">
                <a:buNone/>
              </a:pPr>
              <a:r>
                <a:rPr lang="en-US" sz="1400" b="1" dirty="0">
                  <a:solidFill>
                    <a:srgbClr val="5B0F4E"/>
                  </a:solidFill>
                  <a:latin typeface="Arial" pitchFamily="34" charset="0"/>
                  <a:ea typeface="Arial" pitchFamily="34" charset="-122"/>
                  <a:cs typeface="Arial" pitchFamily="34" charset="-120"/>
                </a:rPr>
                <a:t>Why buyers return</a:t>
              </a:r>
              <a:endParaRPr lang="en-US" sz="1400" dirty="0"/>
            </a:p>
          </p:txBody>
        </p:sp>
        <p:sp>
          <p:nvSpPr>
            <p:cNvPr id="84" name="Text 24"/>
            <p:cNvSpPr txBox="1"/>
            <p:nvPr/>
          </p:nvSpPr>
          <p:spPr>
            <a:xfrm>
              <a:off x="15069311" y="4590288"/>
              <a:ext cx="2697480" cy="201168"/>
            </a:xfrm>
            <a:prstGeom prst="rect">
              <a:avLst/>
            </a:prstGeom>
            <a:noFill/>
            <a:ln/>
          </p:spPr>
          <p:txBody>
            <a:bodyPr wrap="square" lIns="0" tIns="0" rIns="0" bIns="0" rtlCol="0" anchor="t"/>
            <a:lstStyle/>
            <a:p>
              <a:pPr marL="0" indent="0">
                <a:buNone/>
              </a:pPr>
              <a:r>
                <a:rPr lang="en-US" sz="1000" i="1" dirty="0">
                  <a:solidFill>
                    <a:srgbClr val="555555"/>
                  </a:solidFill>
                  <a:latin typeface="Arial" pitchFamily="34" charset="0"/>
                  <a:ea typeface="Arial" pitchFamily="34" charset="-122"/>
                  <a:cs typeface="Arial" pitchFamily="34" charset="-120"/>
                </a:rPr>
                <a:t>Buyer form · return lever (P4)</a:t>
              </a:r>
              <a:endParaRPr lang="en-US" sz="1100" dirty="0"/>
            </a:p>
          </p:txBody>
        </p:sp>
        <p:pic>
          <p:nvPicPr>
            <p:cNvPr id="85" name="Picture 41">
              <a:extLst>
                <a:ext uri="{FF2B5EF4-FFF2-40B4-BE49-F238E27FC236}">
                  <a16:creationId xmlns:a16="http://schemas.microsoft.com/office/drawing/2014/main" id="{ED4F126B-0F7F-1B4D-B2C8-8DC008E342EC}"/>
                </a:ext>
              </a:extLst>
            </p:cNvPr>
            <p:cNvPicPr>
              <a:picLocks noChangeAspect="1"/>
            </p:cNvPicPr>
            <p:nvPr/>
          </p:nvPicPr>
          <p:blipFill>
            <a:blip r:embed="rId10"/>
            <a:stretch>
              <a:fillRect/>
            </a:stretch>
          </p:blipFill>
          <p:spPr>
            <a:xfrm>
              <a:off x="15317407" y="4818888"/>
              <a:ext cx="2173856" cy="1828799"/>
            </a:xfrm>
            <a:prstGeom prst="rect">
              <a:avLst/>
            </a:prstGeom>
          </p:spPr>
        </p:pic>
      </p:grpSp>
      <p:sp>
        <p:nvSpPr>
          <p:cNvPr id="40" name="Text 37">
            <a:extLst>
              <a:ext uri="{FF2B5EF4-FFF2-40B4-BE49-F238E27FC236}">
                <a16:creationId xmlns:a16="http://schemas.microsoft.com/office/drawing/2014/main" id="{401AD90C-8C4A-2733-B4DF-6D6157EEBD71}"/>
              </a:ext>
            </a:extLst>
          </p:cNvPr>
          <p:cNvSpPr txBox="1"/>
          <p:nvPr/>
        </p:nvSpPr>
        <p:spPr>
          <a:xfrm>
            <a:off x="12841479" y="7658099"/>
            <a:ext cx="5212080" cy="2240280"/>
          </a:xfrm>
          <a:prstGeom prst="rect">
            <a:avLst/>
          </a:prstGeom>
          <a:noFill/>
          <a:ln/>
        </p:spPr>
        <p:txBody>
          <a:bodyPr wrap="square" lIns="762" tIns="762" rIns="762" bIns="762" rtlCol="0" anchor="t"/>
          <a:lstStyle/>
          <a:p>
            <a:pPr marL="342900" indent="-342900">
              <a:spcAft>
                <a:spcPts val="500"/>
              </a:spcAft>
              <a:buSzPct val="100000"/>
              <a:buChar char="•"/>
            </a:pPr>
            <a:r>
              <a:rPr lang="en-US" sz="1200" dirty="0">
                <a:solidFill>
                  <a:srgbClr val="2B2B2B"/>
                </a:solidFill>
                <a:latin typeface="Arial" pitchFamily="34" charset="0"/>
                <a:ea typeface="Arial" pitchFamily="34" charset="-122"/>
                <a:cs typeface="Arial" pitchFamily="34" charset="-120"/>
                <a:hlinkClick r:id="rId11"/>
              </a:rPr>
              <a:t>https://drive.google.com/drive/folders/1q_5AnLlgQp4jQGbLFSIlKnrqhbQa5euM?usp=sharing</a:t>
            </a:r>
            <a:r>
              <a:rPr lang="en-US" sz="1200" dirty="0">
                <a:solidFill>
                  <a:srgbClr val="2B2B2B"/>
                </a:solidFill>
                <a:latin typeface="Arial" pitchFamily="34" charset="0"/>
                <a:ea typeface="Arial" pitchFamily="34" charset="-122"/>
                <a:cs typeface="Arial" pitchFamily="34" charset="-120"/>
              </a:rPr>
              <a:t>  - Research Docs</a:t>
            </a:r>
          </a:p>
          <a:p>
            <a:pPr marL="342900" indent="-342900">
              <a:spcAft>
                <a:spcPts val="500"/>
              </a:spcAft>
              <a:buSzPct val="100000"/>
              <a:buChar char="•"/>
            </a:pPr>
            <a:r>
              <a:rPr lang="en-US" sz="1200" dirty="0">
                <a:solidFill>
                  <a:srgbClr val="2B2B2B"/>
                </a:solidFill>
                <a:latin typeface="Arial" pitchFamily="34" charset="0"/>
                <a:ea typeface="Arial" pitchFamily="34" charset="-122"/>
                <a:cs typeface="Arial" pitchFamily="34" charset="-120"/>
                <a:hlinkClick r:id="rId12"/>
              </a:rPr>
              <a:t>https://drive.google.com/file/d/17u93X0631TjChCc1Fbg0HvpnWAB2qHkl/view?usp=sharing</a:t>
            </a:r>
            <a:r>
              <a:rPr lang="en-US" sz="1200" dirty="0">
                <a:solidFill>
                  <a:srgbClr val="2B2B2B"/>
                </a:solidFill>
                <a:latin typeface="Arial" pitchFamily="34" charset="0"/>
                <a:ea typeface="Arial" pitchFamily="34" charset="-122"/>
                <a:cs typeface="Arial" pitchFamily="34" charset="-120"/>
              </a:rPr>
              <a:t> –Prototype walkthrough</a:t>
            </a:r>
          </a:p>
          <a:p>
            <a:pPr marL="342900" indent="-342900">
              <a:spcAft>
                <a:spcPts val="500"/>
              </a:spcAft>
              <a:buSzPct val="100000"/>
              <a:buChar char="•"/>
            </a:pPr>
            <a:r>
              <a:rPr lang="en-US" sz="1200" dirty="0">
                <a:solidFill>
                  <a:srgbClr val="2B2B2B"/>
                </a:solidFill>
                <a:latin typeface="Arial" pitchFamily="34" charset="0"/>
                <a:ea typeface="Arial" pitchFamily="34" charset="-122"/>
                <a:cs typeface="Arial" pitchFamily="34" charset="-120"/>
                <a:hlinkClick r:id="rId13"/>
              </a:rPr>
              <a:t>https://docs.google.com/spreadsheets/d/1vCXuHZ9pfYwaa5ab8PzH_oB2gRsz2IX0TM7K1WcqU6g/edit?usp=sharing</a:t>
            </a:r>
            <a:r>
              <a:rPr lang="en-US" sz="1200" dirty="0">
                <a:solidFill>
                  <a:srgbClr val="2B2B2B"/>
                </a:solidFill>
                <a:latin typeface="Arial" pitchFamily="34" charset="0"/>
                <a:ea typeface="Arial" pitchFamily="34" charset="-122"/>
                <a:cs typeface="Arial" pitchFamily="34" charset="-120"/>
              </a:rPr>
              <a:t> – Seller Response form</a:t>
            </a:r>
          </a:p>
          <a:p>
            <a:pPr marL="342900" indent="-342900">
              <a:spcAft>
                <a:spcPts val="500"/>
              </a:spcAft>
              <a:buSzPct val="100000"/>
              <a:buChar char="•"/>
            </a:pPr>
            <a:r>
              <a:rPr lang="en-US" sz="1200" dirty="0">
                <a:solidFill>
                  <a:srgbClr val="2B2B2B"/>
                </a:solidFill>
                <a:latin typeface="Arial" pitchFamily="34" charset="0"/>
                <a:ea typeface="Arial" pitchFamily="34" charset="-122"/>
                <a:cs typeface="Arial" pitchFamily="34" charset="-120"/>
                <a:hlinkClick r:id="rId14"/>
              </a:rPr>
              <a:t>https://docs.google.com/spreadsheets/d/1vzxZNOOE486r3gDiPDJrFr5em2Dd_QcVnyPAfdO1sVk/edit?usp=sharing</a:t>
            </a:r>
            <a:r>
              <a:rPr lang="en-US" sz="1200" dirty="0">
                <a:solidFill>
                  <a:srgbClr val="2B2B2B"/>
                </a:solidFill>
                <a:latin typeface="Arial" pitchFamily="34" charset="0"/>
                <a:ea typeface="Arial" pitchFamily="34" charset="-122"/>
                <a:cs typeface="Arial" pitchFamily="34" charset="-120"/>
              </a:rPr>
              <a:t> – Buyer Response form</a:t>
            </a:r>
          </a:p>
          <a:p>
            <a:pPr marL="342900" indent="-342900">
              <a:spcAft>
                <a:spcPts val="500"/>
              </a:spcAft>
              <a:buSzPct val="100000"/>
              <a:buChar char="•"/>
            </a:pPr>
            <a:endParaRPr lang="en-US" sz="1200" dirty="0">
              <a:solidFill>
                <a:srgbClr val="2B2B2B"/>
              </a:solidFill>
              <a:latin typeface="Arial" pitchFamily="34" charset="0"/>
              <a:ea typeface="Arial" pitchFamily="34" charset="-122"/>
              <a:cs typeface="Arial" pitchFamily="34" charset="-120"/>
            </a:endParaRPr>
          </a:p>
        </p:txBody>
      </p:sp>
      <p:sp>
        <p:nvSpPr>
          <p:cNvPr id="11" name="TextBox 10">
            <a:extLst>
              <a:ext uri="{FF2B5EF4-FFF2-40B4-BE49-F238E27FC236}">
                <a16:creationId xmlns:a16="http://schemas.microsoft.com/office/drawing/2014/main" id="{5ECCA8A1-D482-275A-B405-0F48E18E939C}"/>
              </a:ext>
            </a:extLst>
          </p:cNvPr>
          <p:cNvSpPr txBox="1"/>
          <p:nvPr/>
        </p:nvSpPr>
        <p:spPr>
          <a:xfrm>
            <a:off x="2462932" y="3364101"/>
            <a:ext cx="651873" cy="307777"/>
          </a:xfrm>
          <a:prstGeom prst="rect">
            <a:avLst/>
          </a:prstGeom>
          <a:noFill/>
        </p:spPr>
        <p:txBody>
          <a:bodyPr wrap="square">
            <a:spAutoFit/>
          </a:bodyPr>
          <a:lstStyle/>
          <a:p>
            <a:r>
              <a:rPr lang="en-US" sz="1400" dirty="0">
                <a:solidFill>
                  <a:srgbClr val="2B2B2B"/>
                </a:solidFill>
                <a:latin typeface="Arial" pitchFamily="34" charset="0"/>
                <a:ea typeface="Arial" pitchFamily="34" charset="-122"/>
                <a:cs typeface="Arial" pitchFamily="34" charset="-120"/>
              </a:rPr>
              <a:t> </a:t>
            </a:r>
            <a:r>
              <a:rPr lang="en-US" sz="1400" dirty="0">
                <a:solidFill>
                  <a:srgbClr val="2B2B2B"/>
                </a:solidFill>
                <a:highlight>
                  <a:srgbClr val="00FF00"/>
                </a:highlight>
                <a:latin typeface="Arial" pitchFamily="34" charset="0"/>
                <a:ea typeface="Arial" pitchFamily="34" charset="-122"/>
                <a:cs typeface="Arial" pitchFamily="34" charset="-120"/>
                <a:hlinkClick r:id="rId15"/>
              </a:rPr>
              <a:t>LINK</a:t>
            </a:r>
            <a:endParaRPr lang="en-IN" sz="1400" dirty="0"/>
          </a:p>
        </p:txBody>
      </p:sp>
      <p:sp>
        <p:nvSpPr>
          <p:cNvPr id="41" name="TextBox 40">
            <a:extLst>
              <a:ext uri="{FF2B5EF4-FFF2-40B4-BE49-F238E27FC236}">
                <a16:creationId xmlns:a16="http://schemas.microsoft.com/office/drawing/2014/main" id="{BAED4F57-E3F8-0C3C-5211-5F0FAA6E5CEC}"/>
              </a:ext>
            </a:extLst>
          </p:cNvPr>
          <p:cNvSpPr txBox="1"/>
          <p:nvPr/>
        </p:nvSpPr>
        <p:spPr>
          <a:xfrm>
            <a:off x="5055697" y="3424838"/>
            <a:ext cx="651164" cy="307777"/>
          </a:xfrm>
          <a:prstGeom prst="rect">
            <a:avLst/>
          </a:prstGeom>
          <a:noFill/>
        </p:spPr>
        <p:txBody>
          <a:bodyPr wrap="square">
            <a:spAutoFit/>
          </a:bodyPr>
          <a:lstStyle/>
          <a:p>
            <a:r>
              <a:rPr lang="en-US" sz="1400" dirty="0">
                <a:solidFill>
                  <a:srgbClr val="2B2B2B"/>
                </a:solidFill>
                <a:latin typeface="Arial" pitchFamily="34" charset="0"/>
                <a:ea typeface="Arial" pitchFamily="34" charset="-122"/>
                <a:cs typeface="Arial" pitchFamily="34" charset="-120"/>
              </a:rPr>
              <a:t> </a:t>
            </a:r>
            <a:r>
              <a:rPr lang="en-US" sz="1400" dirty="0">
                <a:solidFill>
                  <a:srgbClr val="2B2B2B"/>
                </a:solidFill>
                <a:highlight>
                  <a:srgbClr val="00FF00"/>
                </a:highlight>
                <a:latin typeface="Arial" pitchFamily="34" charset="0"/>
                <a:ea typeface="Arial" pitchFamily="34" charset="-122"/>
                <a:cs typeface="Arial" pitchFamily="34" charset="-120"/>
                <a:hlinkClick r:id="rId16"/>
              </a:rPr>
              <a:t>LINK</a:t>
            </a:r>
            <a:endParaRPr lang="en-IN" sz="1400" dirty="0"/>
          </a:p>
        </p:txBody>
      </p:sp>
      <p:sp>
        <p:nvSpPr>
          <p:cNvPr id="43" name="TextBox 42">
            <a:extLst>
              <a:ext uri="{FF2B5EF4-FFF2-40B4-BE49-F238E27FC236}">
                <a16:creationId xmlns:a16="http://schemas.microsoft.com/office/drawing/2014/main" id="{B6075F52-9E29-50BD-755C-F65ADACE9894}"/>
              </a:ext>
            </a:extLst>
          </p:cNvPr>
          <p:cNvSpPr txBox="1"/>
          <p:nvPr/>
        </p:nvSpPr>
        <p:spPr>
          <a:xfrm>
            <a:off x="7620323" y="3391120"/>
            <a:ext cx="651164" cy="307777"/>
          </a:xfrm>
          <a:prstGeom prst="rect">
            <a:avLst/>
          </a:prstGeom>
          <a:noFill/>
        </p:spPr>
        <p:txBody>
          <a:bodyPr wrap="square">
            <a:spAutoFit/>
          </a:bodyPr>
          <a:lstStyle/>
          <a:p>
            <a:r>
              <a:rPr lang="en-US" sz="1400" dirty="0">
                <a:solidFill>
                  <a:srgbClr val="2B2B2B"/>
                </a:solidFill>
                <a:latin typeface="Arial" pitchFamily="34" charset="0"/>
                <a:ea typeface="Arial" pitchFamily="34" charset="-122"/>
                <a:cs typeface="Arial" pitchFamily="34" charset="-120"/>
              </a:rPr>
              <a:t> </a:t>
            </a:r>
            <a:r>
              <a:rPr lang="en-US" sz="1400" dirty="0">
                <a:solidFill>
                  <a:srgbClr val="2B2B2B"/>
                </a:solidFill>
                <a:highlight>
                  <a:srgbClr val="00FF00"/>
                </a:highlight>
                <a:latin typeface="Arial" pitchFamily="34" charset="0"/>
                <a:ea typeface="Arial" pitchFamily="34" charset="-122"/>
                <a:cs typeface="Arial" pitchFamily="34" charset="-120"/>
                <a:hlinkClick r:id="rId17"/>
              </a:rPr>
              <a:t>LINK</a:t>
            </a:r>
            <a:endParaRPr lang="en-IN" sz="1400" dirty="0"/>
          </a:p>
        </p:txBody>
      </p:sp>
      <p:sp>
        <p:nvSpPr>
          <p:cNvPr id="50" name="TextBox 49">
            <a:extLst>
              <a:ext uri="{FF2B5EF4-FFF2-40B4-BE49-F238E27FC236}">
                <a16:creationId xmlns:a16="http://schemas.microsoft.com/office/drawing/2014/main" id="{56335E85-BAF8-4731-4F02-0B366287AABC}"/>
              </a:ext>
            </a:extLst>
          </p:cNvPr>
          <p:cNvSpPr txBox="1"/>
          <p:nvPr/>
        </p:nvSpPr>
        <p:spPr>
          <a:xfrm>
            <a:off x="10093508" y="3356374"/>
            <a:ext cx="651164" cy="307777"/>
          </a:xfrm>
          <a:prstGeom prst="rect">
            <a:avLst/>
          </a:prstGeom>
          <a:noFill/>
        </p:spPr>
        <p:txBody>
          <a:bodyPr wrap="square">
            <a:spAutoFit/>
          </a:bodyPr>
          <a:lstStyle/>
          <a:p>
            <a:r>
              <a:rPr lang="en-US" sz="1400" dirty="0">
                <a:solidFill>
                  <a:srgbClr val="2B2B2B"/>
                </a:solidFill>
                <a:latin typeface="Arial" pitchFamily="34" charset="0"/>
                <a:ea typeface="Arial" pitchFamily="34" charset="-122"/>
                <a:cs typeface="Arial" pitchFamily="34" charset="-120"/>
              </a:rPr>
              <a:t> </a:t>
            </a:r>
            <a:r>
              <a:rPr lang="en-US" sz="1400" dirty="0">
                <a:solidFill>
                  <a:srgbClr val="2B2B2B"/>
                </a:solidFill>
                <a:highlight>
                  <a:srgbClr val="00FF00"/>
                </a:highlight>
                <a:latin typeface="Arial" pitchFamily="34" charset="0"/>
                <a:ea typeface="Arial" pitchFamily="34" charset="-122"/>
                <a:cs typeface="Arial" pitchFamily="34" charset="-120"/>
                <a:hlinkClick r:id="rId18"/>
              </a:rPr>
              <a:t>LINK</a:t>
            </a:r>
            <a:endParaRPr lang="en-IN" sz="1400" dirty="0"/>
          </a:p>
        </p:txBody>
      </p:sp>
      <p:sp>
        <p:nvSpPr>
          <p:cNvPr id="52" name="TextBox 51">
            <a:extLst>
              <a:ext uri="{FF2B5EF4-FFF2-40B4-BE49-F238E27FC236}">
                <a16:creationId xmlns:a16="http://schemas.microsoft.com/office/drawing/2014/main" id="{80BF537B-4781-06F8-45E1-EB1E78870522}"/>
              </a:ext>
            </a:extLst>
          </p:cNvPr>
          <p:cNvSpPr txBox="1"/>
          <p:nvPr/>
        </p:nvSpPr>
        <p:spPr>
          <a:xfrm>
            <a:off x="12630702" y="3356373"/>
            <a:ext cx="651164" cy="307777"/>
          </a:xfrm>
          <a:prstGeom prst="rect">
            <a:avLst/>
          </a:prstGeom>
          <a:noFill/>
        </p:spPr>
        <p:txBody>
          <a:bodyPr wrap="square">
            <a:spAutoFit/>
          </a:bodyPr>
          <a:lstStyle/>
          <a:p>
            <a:r>
              <a:rPr lang="en-US" sz="1400" dirty="0">
                <a:solidFill>
                  <a:srgbClr val="2B2B2B"/>
                </a:solidFill>
                <a:latin typeface="Arial" pitchFamily="34" charset="0"/>
                <a:ea typeface="Arial" pitchFamily="34" charset="-122"/>
                <a:cs typeface="Arial" pitchFamily="34" charset="-120"/>
              </a:rPr>
              <a:t> </a:t>
            </a:r>
            <a:r>
              <a:rPr lang="en-US" sz="1400" dirty="0">
                <a:solidFill>
                  <a:srgbClr val="2B2B2B"/>
                </a:solidFill>
                <a:highlight>
                  <a:srgbClr val="00FF00"/>
                </a:highlight>
                <a:latin typeface="Arial" pitchFamily="34" charset="0"/>
                <a:ea typeface="Arial" pitchFamily="34" charset="-122"/>
                <a:cs typeface="Arial" pitchFamily="34" charset="-120"/>
                <a:hlinkClick r:id="rId19"/>
              </a:rPr>
              <a:t>LINK</a:t>
            </a:r>
            <a:endParaRPr lang="en-IN" sz="1400" dirty="0"/>
          </a:p>
        </p:txBody>
      </p:sp>
      <p:sp>
        <p:nvSpPr>
          <p:cNvPr id="54" name="TextBox 53">
            <a:extLst>
              <a:ext uri="{FF2B5EF4-FFF2-40B4-BE49-F238E27FC236}">
                <a16:creationId xmlns:a16="http://schemas.microsoft.com/office/drawing/2014/main" id="{2FE6DE60-DCE8-AD33-C49B-2E576A1FA943}"/>
              </a:ext>
            </a:extLst>
          </p:cNvPr>
          <p:cNvSpPr txBox="1"/>
          <p:nvPr/>
        </p:nvSpPr>
        <p:spPr>
          <a:xfrm>
            <a:off x="15222759" y="3356372"/>
            <a:ext cx="651164" cy="307777"/>
          </a:xfrm>
          <a:prstGeom prst="rect">
            <a:avLst/>
          </a:prstGeom>
          <a:noFill/>
        </p:spPr>
        <p:txBody>
          <a:bodyPr wrap="square">
            <a:spAutoFit/>
          </a:bodyPr>
          <a:lstStyle/>
          <a:p>
            <a:r>
              <a:rPr lang="en-US" sz="1400" dirty="0">
                <a:solidFill>
                  <a:srgbClr val="2B2B2B"/>
                </a:solidFill>
                <a:latin typeface="Arial" pitchFamily="34" charset="0"/>
                <a:ea typeface="Arial" pitchFamily="34" charset="-122"/>
                <a:cs typeface="Arial" pitchFamily="34" charset="-120"/>
              </a:rPr>
              <a:t> </a:t>
            </a:r>
            <a:r>
              <a:rPr lang="en-US" sz="1400" dirty="0">
                <a:solidFill>
                  <a:srgbClr val="2B2B2B"/>
                </a:solidFill>
                <a:highlight>
                  <a:srgbClr val="00FF00"/>
                </a:highlight>
                <a:latin typeface="Arial" pitchFamily="34" charset="0"/>
                <a:ea typeface="Arial" pitchFamily="34" charset="-122"/>
                <a:cs typeface="Arial" pitchFamily="34" charset="-120"/>
                <a:hlinkClick r:id="rId20"/>
              </a:rPr>
              <a:t>LINK</a:t>
            </a:r>
            <a:endParaRPr lang="en-IN"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432</TotalTime>
  <Words>5127</Words>
  <Application>Microsoft Office PowerPoint</Application>
  <PresentationFormat>Custom</PresentationFormat>
  <Paragraphs>935</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Sahi Daam · Meesho DICE Challenge S3 · Pricing Case</dc:title>
  <dc:subject>PptxGenJS Presentation</dc:subject>
  <dc:creator>deekshadey004@gmail.com</dc:creator>
  <cp:lastModifiedBy>Deeksha Dey</cp:lastModifiedBy>
  <cp:revision>16</cp:revision>
  <dcterms:created xsi:type="dcterms:W3CDTF">2026-10-02T12:02:46Z</dcterms:created>
  <dcterms:modified xsi:type="dcterms:W3CDTF">2026-10-04T20:55:43Z</dcterms:modified>
</cp:coreProperties>
</file>